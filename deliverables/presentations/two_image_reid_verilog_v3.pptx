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2db0f7d3ff45f3" /><Relationship Type="http://schemas.openxmlformats.org/officeDocument/2006/relationships/extended-properties" Target="/docProps/app.xml" Id="Rbe910710846c4355" /><Relationship Type="http://schemas.openxmlformats.org/officeDocument/2006/relationships/officeDocument" Target="/ppt/presentation.xml" Id="R69d98d1891794bbd" /></Relationships>
</file>

<file path=ppt/presentation.xml><?xml version="1.0" encoding="utf-8"?>
<p:presentation xmlns:p="http://schemas.openxmlformats.org/presentationml/2006/main">
  <p:sldMasterIdLst>
    <p:sldMasterId xmlns:r="http://schemas.openxmlformats.org/officeDocument/2006/relationships" id="2147483648" r:id="Rdbde2fb8005d4139"/>
  </p:sldMasterIdLst>
  <p:notesMasterIdLst>
    <p:notesMasterId xmlns:r="http://schemas.openxmlformats.org/officeDocument/2006/relationships" r:id="R5353f78cf9c349a3"/>
  </p:notesMasterIdLst>
  <p:sldIdLst>
    <p:sldId xmlns:r="http://schemas.openxmlformats.org/officeDocument/2006/relationships" id="256" r:id="R2169c0ddc8974ec2"/>
    <p:sldId xmlns:r="http://schemas.openxmlformats.org/officeDocument/2006/relationships" id="257" r:id="R71944c48f5c042fb"/>
    <p:sldId xmlns:r="http://schemas.openxmlformats.org/officeDocument/2006/relationships" id="258" r:id="R36ec65c2e93745ab"/>
    <p:sldId xmlns:r="http://schemas.openxmlformats.org/officeDocument/2006/relationships" id="259" r:id="R695ff64efa3c4f0c"/>
    <p:sldId xmlns:r="http://schemas.openxmlformats.org/officeDocument/2006/relationships" id="260" r:id="R8c532fb1e7694137"/>
    <p:sldId xmlns:r="http://schemas.openxmlformats.org/officeDocument/2006/relationships" id="261" r:id="R1da4c870073d48cd"/>
    <p:sldId xmlns:r="http://schemas.openxmlformats.org/officeDocument/2006/relationships" id="262" r:id="R90712e83299d4708"/>
    <p:sldId xmlns:r="http://schemas.openxmlformats.org/officeDocument/2006/relationships" id="263" r:id="R31d30e17e2924c1f"/>
    <p:sldId xmlns:r="http://schemas.openxmlformats.org/officeDocument/2006/relationships" id="264" r:id="R85fcd6cd523f4608"/>
    <p:sldId xmlns:r="http://schemas.openxmlformats.org/officeDocument/2006/relationships" id="265" r:id="Ra2d777f247424596"/>
    <p:sldId xmlns:r="http://schemas.openxmlformats.org/officeDocument/2006/relationships" id="266" r:id="Rb98b1e84dcc34ce8"/>
    <p:sldId xmlns:r="http://schemas.openxmlformats.org/officeDocument/2006/relationships" id="267" r:id="Rbc56676f714c4a13"/>
    <p:sldId xmlns:r="http://schemas.openxmlformats.org/officeDocument/2006/relationships" id="268" r:id="R8ce675ba10bb4369"/>
    <p:sldId xmlns:r="http://schemas.openxmlformats.org/officeDocument/2006/relationships" id="269" r:id="R46e73a57151e4103"/>
    <p:sldId xmlns:r="http://schemas.openxmlformats.org/officeDocument/2006/relationships" id="270" r:id="R51b31ff10d5548c1"/>
    <p:sldId xmlns:r="http://schemas.openxmlformats.org/officeDocument/2006/relationships" id="271" r:id="Rea87536f4a434662"/>
    <p:sldId xmlns:r="http://schemas.openxmlformats.org/officeDocument/2006/relationships" id="272" r:id="Ra3c5810dd0ca4611"/>
    <p:sldId xmlns:r="http://schemas.openxmlformats.org/officeDocument/2006/relationships" id="273" r:id="R04590a9c804f43f7"/>
    <p:sldId xmlns:r="http://schemas.openxmlformats.org/officeDocument/2006/relationships" id="274" r:id="R858598a2b55f4c50"/>
    <p:sldId xmlns:r="http://schemas.openxmlformats.org/officeDocument/2006/relationships" id="275" r:id="Rcc74cf185c6c47d7"/>
    <p:sldId xmlns:r="http://schemas.openxmlformats.org/officeDocument/2006/relationships" id="276" r:id="R716d5bfe7a14441f"/>
    <p:sldId xmlns:r="http://schemas.openxmlformats.org/officeDocument/2006/relationships" id="277" r:id="R18224315436946ee"/>
    <p:sldId xmlns:r="http://schemas.openxmlformats.org/officeDocument/2006/relationships" id="278" r:id="R677e97faee844c6c"/>
    <p:sldId xmlns:r="http://schemas.openxmlformats.org/officeDocument/2006/relationships" id="279" r:id="R87a0bb52f6114ac7"/>
    <p:sldId xmlns:r="http://schemas.openxmlformats.org/officeDocument/2006/relationships" id="280" r:id="R2ec07bd21fce4663"/>
    <p:sldId xmlns:r="http://schemas.openxmlformats.org/officeDocument/2006/relationships" id="281" r:id="Rdb2311a8ee834718"/>
    <p:sldId xmlns:r="http://schemas.openxmlformats.org/officeDocument/2006/relationships" id="282" r:id="Rd76dc597703c4999"/>
    <p:sldId xmlns:r="http://schemas.openxmlformats.org/officeDocument/2006/relationships" id="283" r:id="Ra7b8fc84dc844908"/>
    <p:sldId xmlns:r="http://schemas.openxmlformats.org/officeDocument/2006/relationships" id="284" r:id="R887c8e802aff4ee8"/>
    <p:sldId xmlns:r="http://schemas.openxmlformats.org/officeDocument/2006/relationships" id="285" r:id="R8cce03957d3b46b2"/>
    <p:sldId xmlns:r="http://schemas.openxmlformats.org/officeDocument/2006/relationships" id="286" r:id="R80436a32d06649d8"/>
    <p:sldId xmlns:r="http://schemas.openxmlformats.org/officeDocument/2006/relationships" id="287" r:id="Rd63ca7261a0a4ce6"/>
    <p:sldId xmlns:r="http://schemas.openxmlformats.org/officeDocument/2006/relationships" id="288" r:id="R408fbd7cacde4f8c"/>
    <p:sldId xmlns:r="http://schemas.openxmlformats.org/officeDocument/2006/relationships" id="289" r:id="R79ba5180dbc64111"/>
    <p:sldId xmlns:r="http://schemas.openxmlformats.org/officeDocument/2006/relationships" id="290" r:id="Rcecbfc11d11342b4"/>
    <p:sldId xmlns:r="http://schemas.openxmlformats.org/officeDocument/2006/relationships" id="291" r:id="Ra2042222495f471c"/>
    <p:sldId xmlns:r="http://schemas.openxmlformats.org/officeDocument/2006/relationships" id="292" r:id="R4b1f49a531c941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4f750166ab4c0a" /><Relationship Type="http://schemas.openxmlformats.org/officeDocument/2006/relationships/slideMaster" Target="/ppt/slideMasters/slideMaster1.xml" Id="Rdbde2fb8005d4139" /><Relationship Type="http://schemas.openxmlformats.org/officeDocument/2006/relationships/notesMaster" Target="/ppt/notesMasters/notesMaster1.xml" Id="R5353f78cf9c349a3" /><Relationship Type="http://schemas.openxmlformats.org/officeDocument/2006/relationships/presProps" Target="/ppt/presProps.xml" Id="Refd80f8471484651" /><Relationship Type="http://schemas.openxmlformats.org/officeDocument/2006/relationships/tableStyles" Target="/ppt/tableStyles.xml" Id="R9dee9821079a482d" /><Relationship Type="http://schemas.openxmlformats.org/officeDocument/2006/relationships/slide" Target="/ppt/slides/slide1.xml" Id="R2169c0ddc8974ec2" /><Relationship Type="http://schemas.openxmlformats.org/officeDocument/2006/relationships/slide" Target="/ppt/slides/slide2.xml" Id="R71944c48f5c042fb" /><Relationship Type="http://schemas.openxmlformats.org/officeDocument/2006/relationships/slide" Target="/ppt/slides/slide3.xml" Id="R36ec65c2e93745ab" /><Relationship Type="http://schemas.openxmlformats.org/officeDocument/2006/relationships/slide" Target="/ppt/slides/slide4.xml" Id="R695ff64efa3c4f0c" /><Relationship Type="http://schemas.openxmlformats.org/officeDocument/2006/relationships/slide" Target="/ppt/slides/slide5.xml" Id="R8c532fb1e7694137" /><Relationship Type="http://schemas.openxmlformats.org/officeDocument/2006/relationships/slide" Target="/ppt/slides/slide6.xml" Id="R1da4c870073d48cd" /><Relationship Type="http://schemas.openxmlformats.org/officeDocument/2006/relationships/slide" Target="/ppt/slides/slide7.xml" Id="R90712e83299d4708" /><Relationship Type="http://schemas.openxmlformats.org/officeDocument/2006/relationships/slide" Target="/ppt/slides/slide8.xml" Id="R31d30e17e2924c1f" /><Relationship Type="http://schemas.openxmlformats.org/officeDocument/2006/relationships/slide" Target="/ppt/slides/slide9.xml" Id="R85fcd6cd523f4608" /><Relationship Type="http://schemas.openxmlformats.org/officeDocument/2006/relationships/slide" Target="/ppt/slides/slide10.xml" Id="Ra2d777f247424596" /><Relationship Type="http://schemas.openxmlformats.org/officeDocument/2006/relationships/slide" Target="/ppt/slides/slide11.xml" Id="Rb98b1e84dcc34ce8" /><Relationship Type="http://schemas.openxmlformats.org/officeDocument/2006/relationships/slide" Target="/ppt/slides/slide12.xml" Id="Rbc56676f714c4a13" /><Relationship Type="http://schemas.openxmlformats.org/officeDocument/2006/relationships/slide" Target="/ppt/slides/slide13.xml" Id="R8ce675ba10bb4369" /><Relationship Type="http://schemas.openxmlformats.org/officeDocument/2006/relationships/slide" Target="/ppt/slides/slide14.xml" Id="R46e73a57151e4103" /><Relationship Type="http://schemas.openxmlformats.org/officeDocument/2006/relationships/slide" Target="/ppt/slides/slide15.xml" Id="R51b31ff10d5548c1" /><Relationship Type="http://schemas.openxmlformats.org/officeDocument/2006/relationships/slide" Target="/ppt/slides/slide16.xml" Id="Rea87536f4a434662" /><Relationship Type="http://schemas.openxmlformats.org/officeDocument/2006/relationships/slide" Target="/ppt/slides/slide17.xml" Id="Ra3c5810dd0ca4611" /><Relationship Type="http://schemas.openxmlformats.org/officeDocument/2006/relationships/slide" Target="/ppt/slides/slide18.xml" Id="R04590a9c804f43f7" /><Relationship Type="http://schemas.openxmlformats.org/officeDocument/2006/relationships/slide" Target="/ppt/slides/slide19.xml" Id="R858598a2b55f4c50" /><Relationship Type="http://schemas.openxmlformats.org/officeDocument/2006/relationships/slide" Target="/ppt/slides/slide20.xml" Id="Rcc74cf185c6c47d7" /><Relationship Type="http://schemas.openxmlformats.org/officeDocument/2006/relationships/slide" Target="/ppt/slides/slide21.xml" Id="R716d5bfe7a14441f" /><Relationship Type="http://schemas.openxmlformats.org/officeDocument/2006/relationships/slide" Target="/ppt/slides/slide22.xml" Id="R18224315436946ee" /><Relationship Type="http://schemas.openxmlformats.org/officeDocument/2006/relationships/slide" Target="/ppt/slides/slide23.xml" Id="R677e97faee844c6c" /><Relationship Type="http://schemas.openxmlformats.org/officeDocument/2006/relationships/slide" Target="/ppt/slides/slide24.xml" Id="R87a0bb52f6114ac7" /><Relationship Type="http://schemas.openxmlformats.org/officeDocument/2006/relationships/slide" Target="/ppt/slides/slide25.xml" Id="R2ec07bd21fce4663" /><Relationship Type="http://schemas.openxmlformats.org/officeDocument/2006/relationships/slide" Target="/ppt/slides/slide26.xml" Id="Rdb2311a8ee834718" /><Relationship Type="http://schemas.openxmlformats.org/officeDocument/2006/relationships/slide" Target="/ppt/slides/slide27.xml" Id="Rd76dc597703c4999" /><Relationship Type="http://schemas.openxmlformats.org/officeDocument/2006/relationships/slide" Target="/ppt/slides/slide28.xml" Id="Ra7b8fc84dc844908" /><Relationship Type="http://schemas.openxmlformats.org/officeDocument/2006/relationships/slide" Target="/ppt/slides/slide29.xml" Id="R887c8e802aff4ee8" /><Relationship Type="http://schemas.openxmlformats.org/officeDocument/2006/relationships/slide" Target="/ppt/slides/slide30.xml" Id="R8cce03957d3b46b2" /><Relationship Type="http://schemas.openxmlformats.org/officeDocument/2006/relationships/slide" Target="/ppt/slides/slide31.xml" Id="R80436a32d06649d8" /><Relationship Type="http://schemas.openxmlformats.org/officeDocument/2006/relationships/slide" Target="/ppt/slides/slide32.xml" Id="Rd63ca7261a0a4ce6" /><Relationship Type="http://schemas.openxmlformats.org/officeDocument/2006/relationships/slide" Target="/ppt/slides/slide33.xml" Id="R408fbd7cacde4f8c" /><Relationship Type="http://schemas.openxmlformats.org/officeDocument/2006/relationships/slide" Target="/ppt/slides/slide34.xml" Id="R79ba5180dbc64111" /><Relationship Type="http://schemas.openxmlformats.org/officeDocument/2006/relationships/slide" Target="/ppt/slides/slide35.xml" Id="Rcecbfc11d11342b4" /><Relationship Type="http://schemas.openxmlformats.org/officeDocument/2006/relationships/slide" Target="/ppt/slides/slide36.xml" Id="Ra2042222495f471c" /><Relationship Type="http://schemas.openxmlformats.org/officeDocument/2006/relationships/slide" Target="/ppt/slides/slide37.xml" Id="R4b1f49a531c941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eb745f97ca4c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9a61b7bd9b4e83" /><Relationship Type="http://schemas.openxmlformats.org/officeDocument/2006/relationships/notesMaster" Target="/ppt/notesMasters/notesMaster1.xml" Id="R3dd979acb4fa43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bf1fcd2c8c4c59" /><Relationship Type="http://schemas.openxmlformats.org/officeDocument/2006/relationships/notesMaster" Target="/ppt/notesMasters/notesMaster1.xml" Id="R0ad49eef9f2241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fea56d45324ad4" /><Relationship Type="http://schemas.openxmlformats.org/officeDocument/2006/relationships/notesMaster" Target="/ppt/notesMasters/notesMaster1.xml" Id="Rd7343edb18af4b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8a135342274990" /><Relationship Type="http://schemas.openxmlformats.org/officeDocument/2006/relationships/notesMaster" Target="/ppt/notesMasters/notesMaster1.xml" Id="Racdce8836cc84d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4ad52b995f473d" /><Relationship Type="http://schemas.openxmlformats.org/officeDocument/2006/relationships/notesMaster" Target="/ppt/notesMasters/notesMaster1.xml" Id="R52540c7d5a0444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482801ac3c43f2" /><Relationship Type="http://schemas.openxmlformats.org/officeDocument/2006/relationships/notesMaster" Target="/ppt/notesMasters/notesMaster1.xml" Id="Rfe029b3e537f43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2374d861cf439f" /><Relationship Type="http://schemas.openxmlformats.org/officeDocument/2006/relationships/notesMaster" Target="/ppt/notesMasters/notesMaster1.xml" Id="R2470eeb55dfd43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56b34419614fca" /><Relationship Type="http://schemas.openxmlformats.org/officeDocument/2006/relationships/notesMaster" Target="/ppt/notesMasters/notesMaster1.xml" Id="R154adb560d6a406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f455ba932f4b7c" /><Relationship Type="http://schemas.openxmlformats.org/officeDocument/2006/relationships/notesMaster" Target="/ppt/notesMasters/notesMaster1.xml" Id="R95584104d1e24a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d5c986cf91482a" /><Relationship Type="http://schemas.openxmlformats.org/officeDocument/2006/relationships/notesMaster" Target="/ppt/notesMasters/notesMaster1.xml" Id="R4ef4cad5222244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200f5a8de04257" /><Relationship Type="http://schemas.openxmlformats.org/officeDocument/2006/relationships/notesMaster" Target="/ppt/notesMasters/notesMaster1.xml" Id="Re8428cf02a4146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b443cabd304311" /><Relationship Type="http://schemas.openxmlformats.org/officeDocument/2006/relationships/notesMaster" Target="/ppt/notesMasters/notesMaster1.xml" Id="Ra77d79e1b4184d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76e40d0d1994282" /><Relationship Type="http://schemas.openxmlformats.org/officeDocument/2006/relationships/notesMaster" Target="/ppt/notesMasters/notesMaster1.xml" Id="R931f16a1c7fc480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8e9c4e68ebe48b6" /><Relationship Type="http://schemas.openxmlformats.org/officeDocument/2006/relationships/notesMaster" Target="/ppt/notesMasters/notesMaster1.xml" Id="R0c3fba0f8cd345e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b75005b43b44dd" /><Relationship Type="http://schemas.openxmlformats.org/officeDocument/2006/relationships/notesMaster" Target="/ppt/notesMasters/notesMaster1.xml" Id="Rdf0067c0c82e40e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3a42f82bb784e8d" /><Relationship Type="http://schemas.openxmlformats.org/officeDocument/2006/relationships/notesMaster" Target="/ppt/notesMasters/notesMaster1.xml" Id="Rd3af0521a2dd46a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719ae0f5cfc4d68" /><Relationship Type="http://schemas.openxmlformats.org/officeDocument/2006/relationships/notesMaster" Target="/ppt/notesMasters/notesMaster1.xml" Id="Rcee167b4d0fc445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93459d5113146fc" /><Relationship Type="http://schemas.openxmlformats.org/officeDocument/2006/relationships/notesMaster" Target="/ppt/notesMasters/notesMaster1.xml" Id="R020c4b8cb430440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954f883ae9e47bc" /><Relationship Type="http://schemas.openxmlformats.org/officeDocument/2006/relationships/notesMaster" Target="/ppt/notesMasters/notesMaster1.xml" Id="R1782c6b5982c4ba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5abbec1ba7a4546" /><Relationship Type="http://schemas.openxmlformats.org/officeDocument/2006/relationships/notesMaster" Target="/ppt/notesMasters/notesMaster1.xml" Id="R41c9843e1f1f4f2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ee975524a99419b" /><Relationship Type="http://schemas.openxmlformats.org/officeDocument/2006/relationships/notesMaster" Target="/ppt/notesMasters/notesMaster1.xml" Id="R8bd9eb59843a46e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c9340c06a3144c6" /><Relationship Type="http://schemas.openxmlformats.org/officeDocument/2006/relationships/notesMaster" Target="/ppt/notesMasters/notesMaster1.xml" Id="R063399284528463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a5ba251819a41a0" /><Relationship Type="http://schemas.openxmlformats.org/officeDocument/2006/relationships/notesMaster" Target="/ppt/notesMasters/notesMaster1.xml" Id="R5cf8777d6be4443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4d618859ae54499" /><Relationship Type="http://schemas.openxmlformats.org/officeDocument/2006/relationships/notesMaster" Target="/ppt/notesMasters/notesMaster1.xml" Id="Rc57e7ec470e7442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4502ec3f3314723" /><Relationship Type="http://schemas.openxmlformats.org/officeDocument/2006/relationships/notesMaster" Target="/ppt/notesMasters/notesMaster1.xml" Id="R61c1d8ab034343e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3f4d8d80329433f" /><Relationship Type="http://schemas.openxmlformats.org/officeDocument/2006/relationships/notesMaster" Target="/ppt/notesMasters/notesMaster1.xml" Id="R4a766b76714b45b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a8895cf1b6045c6" /><Relationship Type="http://schemas.openxmlformats.org/officeDocument/2006/relationships/notesMaster" Target="/ppt/notesMasters/notesMaster1.xml" Id="Ra7c8720d048f461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c74d4569be347e1" /><Relationship Type="http://schemas.openxmlformats.org/officeDocument/2006/relationships/notesMaster" Target="/ppt/notesMasters/notesMaster1.xml" Id="Rf9e3e41d5b7d4f5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771b1fe93fd46b0" /><Relationship Type="http://schemas.openxmlformats.org/officeDocument/2006/relationships/notesMaster" Target="/ppt/notesMasters/notesMaster1.xml" Id="Rc1147d77dbc24ec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87cf5fbaa314b9e" /><Relationship Type="http://schemas.openxmlformats.org/officeDocument/2006/relationships/notesMaster" Target="/ppt/notesMasters/notesMaster1.xml" Id="Rbf1f59be5b6d48f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b072f04c4914968" /><Relationship Type="http://schemas.openxmlformats.org/officeDocument/2006/relationships/notesMaster" Target="/ppt/notesMasters/notesMaster1.xml" Id="Rb899e9c9b167492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d5daf484a7049b5" /><Relationship Type="http://schemas.openxmlformats.org/officeDocument/2006/relationships/notesMaster" Target="/ppt/notesMasters/notesMaster1.xml" Id="R9823c0602dba490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de9615917294ef7" /><Relationship Type="http://schemas.openxmlformats.org/officeDocument/2006/relationships/notesMaster" Target="/ppt/notesMasters/notesMaster1.xml" Id="R4711f614492542d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e6689b11e694173" /><Relationship Type="http://schemas.openxmlformats.org/officeDocument/2006/relationships/notesMaster" Target="/ppt/notesMasters/notesMaster1.xml" Id="R86b77fc0f86546d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bd35241b30d4abc" /><Relationship Type="http://schemas.openxmlformats.org/officeDocument/2006/relationships/notesMaster" Target="/ppt/notesMasters/notesMaster1.xml" Id="R4c26c3c9e64a4e2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fff331d681644f9" /><Relationship Type="http://schemas.openxmlformats.org/officeDocument/2006/relationships/notesMaster" Target="/ppt/notesMasters/notesMaster1.xml" Id="Rc800877e0f444b3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0add990f7f44b0f" /><Relationship Type="http://schemas.openxmlformats.org/officeDocument/2006/relationships/notesMaster" Target="/ppt/notesMasters/notesMaster1.xml" Id="R078f7fb6e6f345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show a small but defensible Verilog prototype. It does not claim deep-learning accuracy. It demonstrates the paper-inspired hardware path: extract compact features, compare them, and output a same-person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mapping: Paper 1 emphasizes non-overlapping multi-camera tracking, visual channels, color correction, and topology. Paper 2 gives the clearest visual-channel person re-identification formula using color, location, and area. Paper 3 contributes FPGA-friendly edge, texture, and matched-pair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professor should see that the project moved beyond plain brightness. The design now uses RGB color relations and neighboring pixel differences, which maps directly to edge and segmentation concepts from the readings.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pixel is processed in combinational logic for the prototype. In a future FPGA version, the same operations can become a sequential pipeline to reduce resource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descriptor follows the paper structure: color features, location feature, area feature, and a simplified edge feature. The terms stay integer-based so the implementation remains suitable for Verilog.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the professor's likely question: how does it decide an object boundary? The answer is simple and hardware-friendly: compare neighboring pixels. A large RGB difference indicates a boundary or a different region.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recommended top module in Vivado is two_image_person_identifier_rgb. The old grayscale files remain as a baseline, but the presentation focuses on the RGB visual-channel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to use if the professor asks what is missing. It is honest: the current system is a prototype, but the technical direction is now aligned with the reading.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1-18</a:t>
            </a:r>
          </a:p>
          <a:p xmlns:a="http://schemas.openxmlformats.org/drawingml/2006/main">
            <a:r>
              <a:t/>
            </a:r>
          </a:p>
          <a:p xmlns:a="http://schemas.openxmlformats.org/drawingml/2006/main">
            <a:r>
              <a:t>Explanation:</a:t>
            </a:r>
          </a:p>
          <a:p xmlns:a="http://schemas.openxmlformats.org/drawingml/2006/main">
            <a:r>
              <a:t>- Define the RGB feature extractor and its image size, pixel width, foreground threshold, color-edge threshold, and minimum object area.</a:t>
            </a:r>
          </a:p>
          <a:p xmlns:a="http://schemas.openxmlformats.org/drawingml/2006/main">
            <a:r>
              <a:t>- Declare one flattened RGB image input and the extracted feature outputs: upper/lower color, rod brightness, area, center, edge count, and present flag.</a:t>
            </a:r>
          </a:p>
          <a:p xmlns:a="http://schemas.openxmlformats.org/drawingml/2006/main">
            <a:r>
              <a:t/>
            </a:r>
          </a:p>
          <a:p xmlns:a="http://schemas.openxmlformats.org/drawingml/2006/main">
            <a:r>
              <a:t>Code lines:</a:t>
            </a:r>
          </a:p>
          <a:p xmlns:a="http://schemas.openxmlformats.org/drawingml/2006/main">
            <a:r>
              <a:t>001: module visual_channel_feature_extractor_rgb #(</a:t>
            </a:r>
          </a:p>
          <a:p xmlns:a="http://schemas.openxmlformats.org/drawingml/2006/main">
            <a:r>
              <a:t>002:     parameter IMG_W = 8,</a:t>
            </a:r>
          </a:p>
          <a:p xmlns:a="http://schemas.openxmlformats.org/drawingml/2006/main">
            <a:r>
              <a:t>003:     parameter IMG_H = 8,</a:t>
            </a:r>
          </a:p>
          <a:p xmlns:a="http://schemas.openxmlformats.org/drawingml/2006/main">
            <a:r>
              <a:t>004:     parameter PIXEL_WIDTH = 8,</a:t>
            </a:r>
          </a:p>
          <a:p xmlns:a="http://schemas.openxmlformats.org/drawingml/2006/main">
            <a:r>
              <a:t>005:     parameter SUM_WIDTH = 16,</a:t>
            </a:r>
          </a:p>
          <a:p xmlns:a="http://schemas.openxmlformats.org/drawingml/2006/main">
            <a:r>
              <a:t>006:     parameter FG_THRESHOLD = 8'd25,</a:t>
            </a:r>
          </a:p>
          <a:p xmlns:a="http://schemas.openxmlformats.org/drawingml/2006/main">
            <a:r>
              <a:t>007:     parameter COLOR_EDGE_THRESHOLD = 10'd96,</a:t>
            </a:r>
          </a:p>
          <a:p xmlns:a="http://schemas.openxmlformats.org/drawingml/2006/main">
            <a:r>
              <a:t>008:     parameter MIN_AREA = 7'd4</a:t>
            </a:r>
          </a:p>
          <a:p xmlns:a="http://schemas.openxmlformats.org/drawingml/2006/main">
            <a:r>
              <a:t>009: ) (</a:t>
            </a:r>
          </a:p>
          <a:p xmlns:a="http://schemas.openxmlformats.org/drawingml/2006/main">
            <a:r>
              <a:t>010:     input  wire [(IMG_W*IMG_H*3*PIXEL_WIDTH)-1:0] image_rgb,</a:t>
            </a:r>
          </a:p>
          <a:p xmlns:a="http://schemas.openxmlformats.org/drawingml/2006/main">
            <a:r>
              <a:t>011:     output reg  [PIXEL_WIDTH-1:0] upper_max_feature,</a:t>
            </a:r>
          </a:p>
          <a:p xmlns:a="http://schemas.openxmlformats.org/drawingml/2006/main">
            <a:r>
              <a:t>012:     output reg  [PIXEL_WIDTH-1:0] upper_mid_feature,</a:t>
            </a:r>
          </a:p>
          <a:p xmlns:a="http://schemas.openxmlformats.org/drawingml/2006/main">
            <a:r>
              <a:t>013:     output reg  [PIXEL_WIDTH-1:0] lower_max_feature,</a:t>
            </a:r>
          </a:p>
          <a:p xmlns:a="http://schemas.openxmlformats.org/drawingml/2006/main">
            <a:r>
              <a:t>014:     output reg  [PIXEL_WIDTH-1:0] lower_mid_feature,</a:t>
            </a:r>
          </a:p>
          <a:p xmlns:a="http://schemas.openxmlformats.org/drawingml/2006/main">
            <a:r>
              <a:t>015:     output reg  [PIXEL_WIDTH-1:0] rod_feature,</a:t>
            </a:r>
          </a:p>
          <a:p xmlns:a="http://schemas.openxmlformats.org/drawingml/2006/main">
            <a:r>
              <a:t>016:     output reg  [6:0]             area_feature,</a:t>
            </a:r>
          </a:p>
          <a:p xmlns:a="http://schemas.openxmlformats.org/drawingml/2006/main">
            <a:r>
              <a:t>017:     output reg  [3:0]             center_x_feature,</a:t>
            </a:r>
          </a:p>
          <a:p xmlns:a="http://schemas.openxmlformats.org/drawingml/2006/main">
            <a:r>
              <a:t>018:     output reg  [3:0]             center_y_feature,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19-36</a:t>
            </a:r>
          </a:p>
          <a:p xmlns:a="http://schemas.openxmlformats.org/drawingml/2006/main">
            <a:r>
              <a:t/>
            </a:r>
          </a:p>
          <a:p xmlns:a="http://schemas.openxmlformats.org/drawingml/2006/main">
            <a:r>
              <a:t>Explanation:</a:t>
            </a:r>
          </a:p>
          <a:p xmlns:a="http://schemas.openxmlformats.org/drawingml/2006/main">
            <a:r>
              <a:t>- Declare one flattened RGB image input and the extracted feature outputs: upper/lower color, rod brightness, area, center, edge count, and present flag.</a:t>
            </a:r>
          </a:p>
          <a:p xmlns:a="http://schemas.openxmlformats.org/drawingml/2006/main">
            <a:r>
              <a:t>- Declare loop indices and temporary pixel values. These registers hold RGB channels, visual-channel values, color differences, and foreground/cone decisions.</a:t>
            </a:r>
          </a:p>
          <a:p xmlns:a="http://schemas.openxmlformats.org/drawingml/2006/main">
            <a:r>
              <a:t/>
            </a:r>
          </a:p>
          <a:p xmlns:a="http://schemas.openxmlformats.org/drawingml/2006/main">
            <a:r>
              <a:t>Code lines:</a:t>
            </a:r>
          </a:p>
          <a:p xmlns:a="http://schemas.openxmlformats.org/drawingml/2006/main">
            <a:r>
              <a:t>019:     output reg  [6:0]             edge_feature,</a:t>
            </a:r>
          </a:p>
          <a:p xmlns:a="http://schemas.openxmlformats.org/drawingml/2006/main">
            <a:r>
              <a:t>020:     output reg                    person_present</a:t>
            </a:r>
          </a:p>
          <a:p xmlns:a="http://schemas.openxmlformats.org/drawingml/2006/main">
            <a:r>
              <a:t>021: );</a:t>
            </a:r>
          </a:p>
          <a:p xmlns:a="http://schemas.openxmlformats.org/drawingml/2006/main">
            <a:r>
              <a:t>022: </a:t>
            </a:r>
          </a:p>
          <a:p xmlns:a="http://schemas.openxmlformats.org/drawingml/2006/main">
            <a:r>
              <a:t>023:     integer row;</a:t>
            </a:r>
          </a:p>
          <a:p xmlns:a="http://schemas.openxmlformats.org/drawingml/2006/main">
            <a:r>
              <a:t>024:     integer col;</a:t>
            </a:r>
          </a:p>
          <a:p xmlns:a="http://schemas.openxmlformats.org/drawingml/2006/main">
            <a:r>
              <a:t>025:     integer idx;</a:t>
            </a:r>
          </a:p>
          <a:p xmlns:a="http://schemas.openxmlformats.org/drawingml/2006/main">
            <a:r>
              <a:t>026: </a:t>
            </a:r>
          </a:p>
          <a:p xmlns:a="http://schemas.openxmlformats.org/drawingml/2006/main">
            <a:r>
              <a:t>027:     reg [PIXEL_WIDTH-1:0] r;</a:t>
            </a:r>
          </a:p>
          <a:p xmlns:a="http://schemas.openxmlformats.org/drawingml/2006/main">
            <a:r>
              <a:t>028:     reg [PIXEL_WIDTH-1:0] g;</a:t>
            </a:r>
          </a:p>
          <a:p xmlns:a="http://schemas.openxmlformats.org/drawingml/2006/main">
            <a:r>
              <a:t>029:     reg [PIXEL_WIDTH-1:0] b;</a:t>
            </a:r>
          </a:p>
          <a:p xmlns:a="http://schemas.openxmlformats.org/drawingml/2006/main">
            <a:r>
              <a:t>030:     reg [PIXEL_WIDTH-1:0] r_right;</a:t>
            </a:r>
          </a:p>
          <a:p xmlns:a="http://schemas.openxmlformats.org/drawingml/2006/main">
            <a:r>
              <a:t>031:     reg [PIXEL_WIDTH-1:0] g_right;</a:t>
            </a:r>
          </a:p>
          <a:p xmlns:a="http://schemas.openxmlformats.org/drawingml/2006/main">
            <a:r>
              <a:t>032:     reg [PIXEL_WIDTH-1:0] b_right;</a:t>
            </a:r>
          </a:p>
          <a:p xmlns:a="http://schemas.openxmlformats.org/drawingml/2006/main">
            <a:r>
              <a:t>033:     reg [PIXEL_WIDTH-1:0] r_down;</a:t>
            </a:r>
          </a:p>
          <a:p xmlns:a="http://schemas.openxmlformats.org/drawingml/2006/main">
            <a:r>
              <a:t>034:     reg [PIXEL_WIDTH-1:0] g_down;</a:t>
            </a:r>
          </a:p>
          <a:p xmlns:a="http://schemas.openxmlformats.org/drawingml/2006/main">
            <a:r>
              <a:t>035:     reg [PIXEL_WIDTH-1:0] b_down;</a:t>
            </a:r>
          </a:p>
          <a:p xmlns:a="http://schemas.openxmlformats.org/drawingml/2006/main">
            <a:r>
              <a:t>036:     reg [PIXEL_WIDTH-1:0] max_ch;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37-54</a:t>
            </a:r>
          </a:p>
          <a:p xmlns:a="http://schemas.openxmlformats.org/drawingml/2006/main">
            <a:r>
              <a:t/>
            </a:r>
          </a:p>
          <a:p xmlns:a="http://schemas.openxmlformats.org/drawingml/2006/main">
            <a:r>
              <a:t>Explanation:</a:t>
            </a:r>
          </a:p>
          <a:p xmlns:a="http://schemas.openxmlformats.org/drawingml/2006/main">
            <a:r>
              <a:t>- Declare loop indices and temporary pixel values. These registers hold RGB channels, visual-channel values, color differences, and foreground/cone decisions.</a:t>
            </a:r>
          </a:p>
          <a:p xmlns:a="http://schemas.openxmlformats.org/drawingml/2006/main">
            <a:r>
              <a:t>- Declare accumulators and counters. The circuit scans the image, sums feature values, then divides by the counters to obtain compact descriptors.</a:t>
            </a:r>
          </a:p>
          <a:p xmlns:a="http://schemas.openxmlformats.org/drawingml/2006/main">
            <a:r>
              <a:t/>
            </a:r>
          </a:p>
          <a:p xmlns:a="http://schemas.openxmlformats.org/drawingml/2006/main">
            <a:r>
              <a:t>Code lines:</a:t>
            </a:r>
          </a:p>
          <a:p xmlns:a="http://schemas.openxmlformats.org/drawingml/2006/main">
            <a:r>
              <a:t>037:     reg [PIXEL_WIDTH-1:0] mid_ch;</a:t>
            </a:r>
          </a:p>
          <a:p xmlns:a="http://schemas.openxmlformats.org/drawingml/2006/main">
            <a:r>
              <a:t>038:     reg [PIXEL_WIDTH-1:0] min_ch;</a:t>
            </a:r>
          </a:p>
          <a:p xmlns:a="http://schemas.openxmlformats.org/drawingml/2006/main">
            <a:r>
              <a:t>039:     reg [PIXEL_WIDTH-1:0] gray;</a:t>
            </a:r>
          </a:p>
          <a:p xmlns:a="http://schemas.openxmlformats.org/drawingml/2006/main">
            <a:r>
              <a:t>040:     reg [PIXEL_WIDTH-1:0] sat_diff;</a:t>
            </a:r>
          </a:p>
          <a:p xmlns:a="http://schemas.openxmlformats.org/drawingml/2006/main">
            <a:r>
              <a:t>041:     reg [9:0]             right_color_diff;</a:t>
            </a:r>
          </a:p>
          <a:p xmlns:a="http://schemas.openxmlformats.org/drawingml/2006/main">
            <a:r>
              <a:t>042:     reg [9:0]             down_color_diff;</a:t>
            </a:r>
          </a:p>
          <a:p xmlns:a="http://schemas.openxmlformats.org/drawingml/2006/main">
            <a:r>
              <a:t>043:     reg                   is_foreground;</a:t>
            </a:r>
          </a:p>
          <a:p xmlns:a="http://schemas.openxmlformats.org/drawingml/2006/main">
            <a:r>
              <a:t>044:     reg                   is_cone;</a:t>
            </a:r>
          </a:p>
          <a:p xmlns:a="http://schemas.openxmlformats.org/drawingml/2006/main">
            <a:r>
              <a:t>045: </a:t>
            </a:r>
          </a:p>
          <a:p xmlns:a="http://schemas.openxmlformats.org/drawingml/2006/main">
            <a:r>
              <a:t>046:     reg [SUM_WIDTH-1:0] upper_max_sum;</a:t>
            </a:r>
          </a:p>
          <a:p xmlns:a="http://schemas.openxmlformats.org/drawingml/2006/main">
            <a:r>
              <a:t>047:     reg [SUM_WIDTH-1:0] upper_mid_sum;</a:t>
            </a:r>
          </a:p>
          <a:p xmlns:a="http://schemas.openxmlformats.org/drawingml/2006/main">
            <a:r>
              <a:t>048:     reg [SUM_WIDTH-1:0] lower_max_sum;</a:t>
            </a:r>
          </a:p>
          <a:p xmlns:a="http://schemas.openxmlformats.org/drawingml/2006/main">
            <a:r>
              <a:t>049:     reg [SUM_WIDTH-1:0] lower_mid_sum;</a:t>
            </a:r>
          </a:p>
          <a:p xmlns:a="http://schemas.openxmlformats.org/drawingml/2006/main">
            <a:r>
              <a:t>050:     reg [SUM_WIDTH-1:0] rod_sum;</a:t>
            </a:r>
          </a:p>
          <a:p xmlns:a="http://schemas.openxmlformats.org/drawingml/2006/main">
            <a:r>
              <a:t>051:     reg [SUM_WIDTH-1:0] x_sum;</a:t>
            </a:r>
          </a:p>
          <a:p xmlns:a="http://schemas.openxmlformats.org/drawingml/2006/main">
            <a:r>
              <a:t>052:     reg [SUM_WIDTH-1:0] y_sum;</a:t>
            </a:r>
          </a:p>
          <a:p xmlns:a="http://schemas.openxmlformats.org/drawingml/2006/main">
            <a:r>
              <a:t>053:     reg [6:0] upper_count;</a:t>
            </a:r>
          </a:p>
          <a:p xmlns:a="http://schemas.openxmlformats.org/drawingml/2006/main">
            <a:r>
              <a:t>054:     reg [6:0] lower_count;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55-72</a:t>
            </a:r>
          </a:p>
          <a:p xmlns:a="http://schemas.openxmlformats.org/drawingml/2006/main">
            <a:r>
              <a:t/>
            </a:r>
          </a:p>
          <a:p xmlns:a="http://schemas.openxmlformats.org/drawingml/2006/main">
            <a:r>
              <a:t>Explanation:</a:t>
            </a:r>
          </a:p>
          <a:p xmlns:a="http://schemas.openxmlformats.org/drawingml/2006/main">
            <a:r>
              <a:t>- Declare accumulators and counters. The circuit scans the image, sums feature values, then divides by the counters to obtain compact descriptors.</a:t>
            </a:r>
          </a:p>
          <a:p xmlns:a="http://schemas.openxmlformats.org/drawingml/2006/main">
            <a:r>
              <a:t>- Implement max3 and min3. These functions find the largest and smallest RGB channel for the Visual Channel Model.</a:t>
            </a:r>
          </a:p>
          <a:p xmlns:a="http://schemas.openxmlformats.org/drawingml/2006/main">
            <a:r>
              <a:t/>
            </a:r>
          </a:p>
          <a:p xmlns:a="http://schemas.openxmlformats.org/drawingml/2006/main">
            <a:r>
              <a:t>Code lines:</a:t>
            </a:r>
          </a:p>
          <a:p xmlns:a="http://schemas.openxmlformats.org/drawingml/2006/main">
            <a:r>
              <a:t>055:     reg [6:0] rod_count;</a:t>
            </a:r>
          </a:p>
          <a:p xmlns:a="http://schemas.openxmlformats.org/drawingml/2006/main">
            <a:r>
              <a:t>056:     reg [6:0] area_count;</a:t>
            </a:r>
          </a:p>
          <a:p xmlns:a="http://schemas.openxmlformats.org/drawingml/2006/main">
            <a:r>
              <a:t>057:     reg [6:0] edge_count;</a:t>
            </a:r>
          </a:p>
          <a:p xmlns:a="http://schemas.openxmlformats.org/drawingml/2006/main">
            <a:r>
              <a:t>058: </a:t>
            </a:r>
          </a:p>
          <a:p xmlns:a="http://schemas.openxmlformats.org/drawingml/2006/main">
            <a:r>
              <a:t>059:     function [PIXEL_WIDTH-1:0] max3;</a:t>
            </a:r>
          </a:p>
          <a:p xmlns:a="http://schemas.openxmlformats.org/drawingml/2006/main">
            <a:r>
              <a:t>060:         input [PIXEL_WIDTH-1:0] a;</a:t>
            </a:r>
          </a:p>
          <a:p xmlns:a="http://schemas.openxmlformats.org/drawingml/2006/main">
            <a:r>
              <a:t>061:         input [PIXEL_WIDTH-1:0] b_in;</a:t>
            </a:r>
          </a:p>
          <a:p xmlns:a="http://schemas.openxmlformats.org/drawingml/2006/main">
            <a:r>
              <a:t>062:         input [PIXEL_WIDTH-1:0] c;</a:t>
            </a:r>
          </a:p>
          <a:p xmlns:a="http://schemas.openxmlformats.org/drawingml/2006/main">
            <a:r>
              <a:t>063:         begin</a:t>
            </a:r>
          </a:p>
          <a:p xmlns:a="http://schemas.openxmlformats.org/drawingml/2006/main">
            <a:r>
              <a:t>064:             max3 = (a &gt;= b_in) ? ((a &gt;= c) ? a : c) : ((b_in &gt;= c) ? b_in : c);</a:t>
            </a:r>
          </a:p>
          <a:p xmlns:a="http://schemas.openxmlformats.org/drawingml/2006/main">
            <a:r>
              <a:t>065:         end</a:t>
            </a:r>
          </a:p>
          <a:p xmlns:a="http://schemas.openxmlformats.org/drawingml/2006/main">
            <a:r>
              <a:t>066:     endfunction</a:t>
            </a:r>
          </a:p>
          <a:p xmlns:a="http://schemas.openxmlformats.org/drawingml/2006/main">
            <a:r>
              <a:t>067: </a:t>
            </a:r>
          </a:p>
          <a:p xmlns:a="http://schemas.openxmlformats.org/drawingml/2006/main">
            <a:r>
              <a:t>068:     function [PIXEL_WIDTH-1:0] min3;</a:t>
            </a:r>
          </a:p>
          <a:p xmlns:a="http://schemas.openxmlformats.org/drawingml/2006/main">
            <a:r>
              <a:t>069:         input [PIXEL_WIDTH-1:0] a;</a:t>
            </a:r>
          </a:p>
          <a:p xmlns:a="http://schemas.openxmlformats.org/drawingml/2006/main">
            <a:r>
              <a:t>070:         input [PIXEL_WIDTH-1:0] b_in;</a:t>
            </a:r>
          </a:p>
          <a:p xmlns:a="http://schemas.openxmlformats.org/drawingml/2006/main">
            <a:r>
              <a:t>071:         input [PIXEL_WIDTH-1:0] c;</a:t>
            </a:r>
          </a:p>
          <a:p xmlns:a="http://schemas.openxmlformats.org/drawingml/2006/main">
            <a:r>
              <a:t>072:         begin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73-90</a:t>
            </a:r>
          </a:p>
          <a:p xmlns:a="http://schemas.openxmlformats.org/drawingml/2006/main">
            <a:r>
              <a:t/>
            </a:r>
          </a:p>
          <a:p xmlns:a="http://schemas.openxmlformats.org/drawingml/2006/main">
            <a:r>
              <a:t>Explanation:</a:t>
            </a:r>
          </a:p>
          <a:p xmlns:a="http://schemas.openxmlformats.org/drawingml/2006/main">
            <a:r>
              <a:t>- Implement max3 and min3. These functions find the largest and smallest RGB channel for the Visual Channel Model.</a:t>
            </a:r>
          </a:p>
          <a:p xmlns:a="http://schemas.openxmlformats.org/drawingml/2006/main">
            <a:r>
              <a:t>- Implement mid3. It calculates the middle RGB channel using a widened sum so the arithmetic does not overflow.</a:t>
            </a:r>
          </a:p>
          <a:p xmlns:a="http://schemas.openxmlformats.org/drawingml/2006/main">
            <a:r>
              <a:t>- Implement abs_diff. This gives absolute pixel or channel difference without signed arithmetic.</a:t>
            </a:r>
          </a:p>
          <a:p xmlns:a="http://schemas.openxmlformats.org/drawingml/2006/main">
            <a:r>
              <a:t/>
            </a:r>
          </a:p>
          <a:p xmlns:a="http://schemas.openxmlformats.org/drawingml/2006/main">
            <a:r>
              <a:t>Code lines:</a:t>
            </a:r>
          </a:p>
          <a:p xmlns:a="http://schemas.openxmlformats.org/drawingml/2006/main">
            <a:r>
              <a:t>073:             min3 = (a &lt;= b_in) ? ((a &lt;= c) ? a : c) : ((b_in &lt;= c) ? b_in : c);</a:t>
            </a:r>
          </a:p>
          <a:p xmlns:a="http://schemas.openxmlformats.org/drawingml/2006/main">
            <a:r>
              <a:t>074:         end</a:t>
            </a:r>
          </a:p>
          <a:p xmlns:a="http://schemas.openxmlformats.org/drawingml/2006/main">
            <a:r>
              <a:t>075:     endfunction</a:t>
            </a:r>
          </a:p>
          <a:p xmlns:a="http://schemas.openxmlformats.org/drawingml/2006/main">
            <a:r>
              <a:t>076: </a:t>
            </a:r>
          </a:p>
          <a:p xmlns:a="http://schemas.openxmlformats.org/drawingml/2006/main">
            <a:r>
              <a:t>077:     function [PIXEL_WIDTH-1:0] mid3;</a:t>
            </a:r>
          </a:p>
          <a:p xmlns:a="http://schemas.openxmlformats.org/drawingml/2006/main">
            <a:r>
              <a:t>078:         input [PIXEL_WIDTH-1:0] a;</a:t>
            </a:r>
          </a:p>
          <a:p xmlns:a="http://schemas.openxmlformats.org/drawingml/2006/main">
            <a:r>
              <a:t>079:         input [PIXEL_WIDTH-1:0] b_in;</a:t>
            </a:r>
          </a:p>
          <a:p xmlns:a="http://schemas.openxmlformats.org/drawingml/2006/main">
            <a:r>
              <a:t>080:         input [PIXEL_WIDTH-1:0] c;</a:t>
            </a:r>
          </a:p>
          <a:p xmlns:a="http://schemas.openxmlformats.org/drawingml/2006/main">
            <a:r>
              <a:t>081:         reg [9:0] total;</a:t>
            </a:r>
          </a:p>
          <a:p xmlns:a="http://schemas.openxmlformats.org/drawingml/2006/main">
            <a:r>
              <a:t>082:         begin</a:t>
            </a:r>
          </a:p>
          <a:p xmlns:a="http://schemas.openxmlformats.org/drawingml/2006/main">
            <a:r>
              <a:t>083:             total = {2'b0, a} + {2'b0, b_in} + {2'b0, c};</a:t>
            </a:r>
          </a:p>
          <a:p xmlns:a="http://schemas.openxmlformats.org/drawingml/2006/main">
            <a:r>
              <a:t>084:             mid3 = total - max3(a, b_in, c) - min3(a, b_in, c);</a:t>
            </a:r>
          </a:p>
          <a:p xmlns:a="http://schemas.openxmlformats.org/drawingml/2006/main">
            <a:r>
              <a:t>085:         end</a:t>
            </a:r>
          </a:p>
          <a:p xmlns:a="http://schemas.openxmlformats.org/drawingml/2006/main">
            <a:r>
              <a:t>086:     endfunction</a:t>
            </a:r>
          </a:p>
          <a:p xmlns:a="http://schemas.openxmlformats.org/drawingml/2006/main">
            <a:r>
              <a:t>087: </a:t>
            </a:r>
          </a:p>
          <a:p xmlns:a="http://schemas.openxmlformats.org/drawingml/2006/main">
            <a:r>
              <a:t>088:     function [PIXEL_WIDTH-1:0] abs_diff;</a:t>
            </a:r>
          </a:p>
          <a:p xmlns:a="http://schemas.openxmlformats.org/drawingml/2006/main">
            <a:r>
              <a:t>089:         input [PIXEL_WIDTH-1:0] a;</a:t>
            </a:r>
          </a:p>
          <a:p xmlns:a="http://schemas.openxmlformats.org/drawingml/2006/main">
            <a:r>
              <a:t>090:         input [PIXEL_WIDTH-1:0] b_in;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91-108</a:t>
            </a:r>
          </a:p>
          <a:p xmlns:a="http://schemas.openxmlformats.org/drawingml/2006/main">
            <a:r>
              <a:t/>
            </a:r>
          </a:p>
          <a:p xmlns:a="http://schemas.openxmlformats.org/drawingml/2006/main">
            <a:r>
              <a:t>Explanation:</a:t>
            </a:r>
          </a:p>
          <a:p xmlns:a="http://schemas.openxmlformats.org/drawingml/2006/main">
            <a:r>
              <a:t>- Implement abs_diff. This gives absolute pixel or channel difference without signed arithmetic.</a:t>
            </a:r>
          </a:p>
          <a:p xmlns:a="http://schemas.openxmlformats.org/drawingml/2006/main">
            <a:r>
              <a:t>- Implement get_r/get_g/get_b helper functions. They read a neighbor pixel from the flattened RGB image.</a:t>
            </a:r>
          </a:p>
          <a:p xmlns:a="http://schemas.openxmlformats.org/drawingml/2006/main">
            <a:r>
              <a:t/>
            </a:r>
          </a:p>
          <a:p xmlns:a="http://schemas.openxmlformats.org/drawingml/2006/main">
            <a:r>
              <a:t>Code lines:</a:t>
            </a:r>
          </a:p>
          <a:p xmlns:a="http://schemas.openxmlformats.org/drawingml/2006/main">
            <a:r>
              <a:t>091:         begin</a:t>
            </a:r>
          </a:p>
          <a:p xmlns:a="http://schemas.openxmlformats.org/drawingml/2006/main">
            <a:r>
              <a:t>092:             abs_diff = (a &gt;= b_in) ? (a - b_in) : (b_in - a);</a:t>
            </a:r>
          </a:p>
          <a:p xmlns:a="http://schemas.openxmlformats.org/drawingml/2006/main">
            <a:r>
              <a:t>093:         end</a:t>
            </a:r>
          </a:p>
          <a:p xmlns:a="http://schemas.openxmlformats.org/drawingml/2006/main">
            <a:r>
              <a:t>094:     endfunction</a:t>
            </a:r>
          </a:p>
          <a:p xmlns:a="http://schemas.openxmlformats.org/drawingml/2006/main">
            <a:r>
              <a:t>095: </a:t>
            </a:r>
          </a:p>
          <a:p xmlns:a="http://schemas.openxmlformats.org/drawingml/2006/main">
            <a:r>
              <a:t>096:     function [PIXEL_WIDTH-1:0] get_r;</a:t>
            </a:r>
          </a:p>
          <a:p xmlns:a="http://schemas.openxmlformats.org/drawingml/2006/main">
            <a:r>
              <a:t>097:         input integer row_in;</a:t>
            </a:r>
          </a:p>
          <a:p xmlns:a="http://schemas.openxmlformats.org/drawingml/2006/main">
            <a:r>
              <a:t>098:         input integer col_in;</a:t>
            </a:r>
          </a:p>
          <a:p xmlns:a="http://schemas.openxmlformats.org/drawingml/2006/main">
            <a:r>
              <a:t>099:         integer pix_idx;</a:t>
            </a:r>
          </a:p>
          <a:p xmlns:a="http://schemas.openxmlformats.org/drawingml/2006/main">
            <a:r>
              <a:t>100:         begin</a:t>
            </a:r>
          </a:p>
          <a:p xmlns:a="http://schemas.openxmlformats.org/drawingml/2006/main">
            <a:r>
              <a:t>101:             pix_idx = (row_in * IMG_W + col_in) * 3 * PIXEL_WIDTH;</a:t>
            </a:r>
          </a:p>
          <a:p xmlns:a="http://schemas.openxmlformats.org/drawingml/2006/main">
            <a:r>
              <a:t>102:             get_r = image_rgb[pix_idx +: PIXEL_WIDTH];</a:t>
            </a:r>
          </a:p>
          <a:p xmlns:a="http://schemas.openxmlformats.org/drawingml/2006/main">
            <a:r>
              <a:t>103:         end</a:t>
            </a:r>
          </a:p>
          <a:p xmlns:a="http://schemas.openxmlformats.org/drawingml/2006/main">
            <a:r>
              <a:t>104:     endfunction</a:t>
            </a:r>
          </a:p>
          <a:p xmlns:a="http://schemas.openxmlformats.org/drawingml/2006/main">
            <a:r>
              <a:t>105: </a:t>
            </a:r>
          </a:p>
          <a:p xmlns:a="http://schemas.openxmlformats.org/drawingml/2006/main">
            <a:r>
              <a:t>106:     function [PIXEL_WIDTH-1:0] get_g;</a:t>
            </a:r>
          </a:p>
          <a:p xmlns:a="http://schemas.openxmlformats.org/drawingml/2006/main">
            <a:r>
              <a:t>107:         input integer row_in;</a:t>
            </a:r>
          </a:p>
          <a:p xmlns:a="http://schemas.openxmlformats.org/drawingml/2006/main">
            <a:r>
              <a:t>108:         input integer col_in;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109-126</a:t>
            </a:r>
          </a:p>
          <a:p xmlns:a="http://schemas.openxmlformats.org/drawingml/2006/main">
            <a:r>
              <a:t/>
            </a:r>
          </a:p>
          <a:p xmlns:a="http://schemas.openxmlformats.org/drawingml/2006/main">
            <a:r>
              <a:t>Explanation:</a:t>
            </a:r>
          </a:p>
          <a:p xmlns:a="http://schemas.openxmlformats.org/drawingml/2006/main">
            <a:r>
              <a:t>- Implement get_r/get_g/get_b helper functions. They read a neighbor pixel from the flattened RGB image.</a:t>
            </a:r>
          </a:p>
          <a:p xmlns:a="http://schemas.openxmlformats.org/drawingml/2006/main">
            <a:r>
              <a:t>- Start combinational logic and clear all sums and counters before scanning the image.</a:t>
            </a:r>
          </a:p>
          <a:p xmlns:a="http://schemas.openxmlformats.org/drawingml/2006/main">
            <a:r>
              <a:t/>
            </a:r>
          </a:p>
          <a:p xmlns:a="http://schemas.openxmlformats.org/drawingml/2006/main">
            <a:r>
              <a:t>Code lines:</a:t>
            </a:r>
          </a:p>
          <a:p xmlns:a="http://schemas.openxmlformats.org/drawingml/2006/main">
            <a:r>
              <a:t>109:         integer pix_idx;</a:t>
            </a:r>
          </a:p>
          <a:p xmlns:a="http://schemas.openxmlformats.org/drawingml/2006/main">
            <a:r>
              <a:t>110:         begin</a:t>
            </a:r>
          </a:p>
          <a:p xmlns:a="http://schemas.openxmlformats.org/drawingml/2006/main">
            <a:r>
              <a:t>111:             pix_idx = (row_in * IMG_W + col_in) * 3 * PIXEL_WIDTH;</a:t>
            </a:r>
          </a:p>
          <a:p xmlns:a="http://schemas.openxmlformats.org/drawingml/2006/main">
            <a:r>
              <a:t>112:             get_g = image_rgb[pix_idx + PIXEL_WIDTH +: PIXEL_WIDTH];</a:t>
            </a:r>
          </a:p>
          <a:p xmlns:a="http://schemas.openxmlformats.org/drawingml/2006/main">
            <a:r>
              <a:t>113:         end</a:t>
            </a:r>
          </a:p>
          <a:p xmlns:a="http://schemas.openxmlformats.org/drawingml/2006/main">
            <a:r>
              <a:t>114:     endfunction</a:t>
            </a:r>
          </a:p>
          <a:p xmlns:a="http://schemas.openxmlformats.org/drawingml/2006/main">
            <a:r>
              <a:t>115: </a:t>
            </a:r>
          </a:p>
          <a:p xmlns:a="http://schemas.openxmlformats.org/drawingml/2006/main">
            <a:r>
              <a:t>116:     function [PIXEL_WIDTH-1:0] get_b;</a:t>
            </a:r>
          </a:p>
          <a:p xmlns:a="http://schemas.openxmlformats.org/drawingml/2006/main">
            <a:r>
              <a:t>117:         input integer row_in;</a:t>
            </a:r>
          </a:p>
          <a:p xmlns:a="http://schemas.openxmlformats.org/drawingml/2006/main">
            <a:r>
              <a:t>118:         input integer col_in;</a:t>
            </a:r>
          </a:p>
          <a:p xmlns:a="http://schemas.openxmlformats.org/drawingml/2006/main">
            <a:r>
              <a:t>119:         integer pix_idx;</a:t>
            </a:r>
          </a:p>
          <a:p xmlns:a="http://schemas.openxmlformats.org/drawingml/2006/main">
            <a:r>
              <a:t>120:         begin</a:t>
            </a:r>
          </a:p>
          <a:p xmlns:a="http://schemas.openxmlformats.org/drawingml/2006/main">
            <a:r>
              <a:t>121:             pix_idx = (row_in * IMG_W + col_in) * 3 * PIXEL_WIDTH;</a:t>
            </a:r>
          </a:p>
          <a:p xmlns:a="http://schemas.openxmlformats.org/drawingml/2006/main">
            <a:r>
              <a:t>122:             get_b = image_rgb[pix_idx + 2*PIXEL_WIDTH +: PIXEL_WIDTH];</a:t>
            </a:r>
          </a:p>
          <a:p xmlns:a="http://schemas.openxmlformats.org/drawingml/2006/main">
            <a:r>
              <a:t>123:         end</a:t>
            </a:r>
          </a:p>
          <a:p xmlns:a="http://schemas.openxmlformats.org/drawingml/2006/main">
            <a:r>
              <a:t>124:     endfunction</a:t>
            </a:r>
          </a:p>
          <a:p xmlns:a="http://schemas.openxmlformats.org/drawingml/2006/main">
            <a:r>
              <a:t>125: </a:t>
            </a:r>
          </a:p>
          <a:p xmlns:a="http://schemas.openxmlformats.org/drawingml/2006/main">
            <a:r>
              <a:t>126:     always @* begin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127-144</a:t>
            </a:r>
          </a:p>
          <a:p xmlns:a="http://schemas.openxmlformats.org/drawingml/2006/main">
            <a:r>
              <a:t/>
            </a:r>
          </a:p>
          <a:p xmlns:a="http://schemas.openxmlformats.org/drawingml/2006/main">
            <a:r>
              <a:t>Explanation:</a:t>
            </a:r>
          </a:p>
          <a:p xmlns:a="http://schemas.openxmlformats.org/drawingml/2006/main">
            <a:r>
              <a:t>- Start combinational logic and clear all sums and counters before scanning the image.</a:t>
            </a:r>
          </a:p>
          <a:p xmlns:a="http://schemas.openxmlformats.org/drawingml/2006/main">
            <a:r>
              <a:t>- Scan all 64 pixels. Each pixel is split into R/G/B, then converted into max, mid, min, grayscale, saturation difference, foreground, and cone/rod state.</a:t>
            </a:r>
          </a:p>
          <a:p xmlns:a="http://schemas.openxmlformats.org/drawingml/2006/main">
            <a:r>
              <a:t/>
            </a:r>
          </a:p>
          <a:p xmlns:a="http://schemas.openxmlformats.org/drawingml/2006/main">
            <a:r>
              <a:t>Code lines:</a:t>
            </a:r>
          </a:p>
          <a:p xmlns:a="http://schemas.openxmlformats.org/drawingml/2006/main">
            <a:r>
              <a:t>127:         upper_max_sum = {SUM_WIDTH{1'b0}};</a:t>
            </a:r>
          </a:p>
          <a:p xmlns:a="http://schemas.openxmlformats.org/drawingml/2006/main">
            <a:r>
              <a:t>128:         upper_mid_sum = {SUM_WIDTH{1'b0}};</a:t>
            </a:r>
          </a:p>
          <a:p xmlns:a="http://schemas.openxmlformats.org/drawingml/2006/main">
            <a:r>
              <a:t>129:         lower_max_sum = {SUM_WIDTH{1'b0}};</a:t>
            </a:r>
          </a:p>
          <a:p xmlns:a="http://schemas.openxmlformats.org/drawingml/2006/main">
            <a:r>
              <a:t>130:         lower_mid_sum = {SUM_WIDTH{1'b0}};</a:t>
            </a:r>
          </a:p>
          <a:p xmlns:a="http://schemas.openxmlformats.org/drawingml/2006/main">
            <a:r>
              <a:t>131:         rod_sum = {SUM_WIDTH{1'b0}};</a:t>
            </a:r>
          </a:p>
          <a:p xmlns:a="http://schemas.openxmlformats.org/drawingml/2006/main">
            <a:r>
              <a:t>132:         x_sum = {SUM_WIDTH{1'b0}};</a:t>
            </a:r>
          </a:p>
          <a:p xmlns:a="http://schemas.openxmlformats.org/drawingml/2006/main">
            <a:r>
              <a:t>133:         y_sum = {SUM_WIDTH{1'b0}};</a:t>
            </a:r>
          </a:p>
          <a:p xmlns:a="http://schemas.openxmlformats.org/drawingml/2006/main">
            <a:r>
              <a:t>134:         upper_count = 7'd0;</a:t>
            </a:r>
          </a:p>
          <a:p xmlns:a="http://schemas.openxmlformats.org/drawingml/2006/main">
            <a:r>
              <a:t>135:         lower_count = 7'd0;</a:t>
            </a:r>
          </a:p>
          <a:p xmlns:a="http://schemas.openxmlformats.org/drawingml/2006/main">
            <a:r>
              <a:t>136:         rod_count = 7'd0;</a:t>
            </a:r>
          </a:p>
          <a:p xmlns:a="http://schemas.openxmlformats.org/drawingml/2006/main">
            <a:r>
              <a:t>137:         area_count = 7'd0;</a:t>
            </a:r>
          </a:p>
          <a:p xmlns:a="http://schemas.openxmlformats.org/drawingml/2006/main">
            <a:r>
              <a:t>138:         edge_count = 7'd0;</a:t>
            </a:r>
          </a:p>
          <a:p xmlns:a="http://schemas.openxmlformats.org/drawingml/2006/main">
            <a:r>
              <a:t>139: </a:t>
            </a:r>
          </a:p>
          <a:p xmlns:a="http://schemas.openxmlformats.org/drawingml/2006/main">
            <a:r>
              <a:t>140:         for (row = 0; row &lt; IMG_H; row = row + 1) begin</a:t>
            </a:r>
          </a:p>
          <a:p xmlns:a="http://schemas.openxmlformats.org/drawingml/2006/main">
            <a:r>
              <a:t>141:             for (col = 0; col &lt; IMG_W; col = col + 1) begin</a:t>
            </a:r>
          </a:p>
          <a:p xmlns:a="http://schemas.openxmlformats.org/drawingml/2006/main">
            <a:r>
              <a:t>142:                 idx = (row * IMG_W + col) * 3 * PIXEL_WIDTH;</a:t>
            </a:r>
          </a:p>
          <a:p xmlns:a="http://schemas.openxmlformats.org/drawingml/2006/main">
            <a:r>
              <a:t>143:                 r = image_rgb[idx +: PIXEL_WIDTH];</a:t>
            </a:r>
          </a:p>
          <a:p xmlns:a="http://schemas.openxmlformats.org/drawingml/2006/main">
            <a:r>
              <a:t>144:                 g = image_rgb[idx + PIXEL_WIDTH +: PIXEL_WIDTH];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145-162</a:t>
            </a:r>
          </a:p>
          <a:p xmlns:a="http://schemas.openxmlformats.org/drawingml/2006/main">
            <a:r>
              <a:t/>
            </a:r>
          </a:p>
          <a:p xmlns:a="http://schemas.openxmlformats.org/drawingml/2006/main">
            <a:r>
              <a:t>Explanation:</a:t>
            </a:r>
          </a:p>
          <a:p xmlns:a="http://schemas.openxmlformats.org/drawingml/2006/main">
            <a:r>
              <a:t>- Scan all 64 pixels. Each pixel is split into R/G/B, then converted into max, mid, min, grayscale, saturation difference, foreground, and cone/rod state.</a:t>
            </a:r>
          </a:p>
          <a:p xmlns:a="http://schemas.openxmlformats.org/drawingml/2006/main">
            <a:r>
              <a:t>- For foreground pixels, update object area and center sums. Cone pixels contribute upper/lower color features. Rod pixels contribute grayscale brightness.</a:t>
            </a:r>
          </a:p>
          <a:p xmlns:a="http://schemas.openxmlformats.org/drawingml/2006/main">
            <a:r>
              <a:t/>
            </a:r>
          </a:p>
          <a:p xmlns:a="http://schemas.openxmlformats.org/drawingml/2006/main">
            <a:r>
              <a:t>Code lines:</a:t>
            </a:r>
          </a:p>
          <a:p xmlns:a="http://schemas.openxmlformats.org/drawingml/2006/main">
            <a:r>
              <a:t>145:                 b = image_rgb[idx + 2*PIXEL_WIDTH +: PIXEL_WIDTH];</a:t>
            </a:r>
          </a:p>
          <a:p xmlns:a="http://schemas.openxmlformats.org/drawingml/2006/main">
            <a:r>
              <a:t>146: </a:t>
            </a:r>
          </a:p>
          <a:p xmlns:a="http://schemas.openxmlformats.org/drawingml/2006/main">
            <a:r>
              <a:t>147:                 max_ch = max3(r, g, b);</a:t>
            </a:r>
          </a:p>
          <a:p xmlns:a="http://schemas.openxmlformats.org/drawingml/2006/main">
            <a:r>
              <a:t>148:                 mid_ch = mid3(r, g, b);</a:t>
            </a:r>
          </a:p>
          <a:p xmlns:a="http://schemas.openxmlformats.org/drawingml/2006/main">
            <a:r>
              <a:t>149:                 min_ch = min3(r, g, b);</a:t>
            </a:r>
          </a:p>
          <a:p xmlns:a="http://schemas.openxmlformats.org/drawingml/2006/main">
            <a:r>
              <a:t>150:                 gray = (r &gt;&gt; 2) + (g &gt;&gt; 1) + (b &gt;&gt; 2);</a:t>
            </a:r>
          </a:p>
          <a:p xmlns:a="http://schemas.openxmlformats.org/drawingml/2006/main">
            <a:r>
              <a:t>151:                 sat_diff = max_ch - min_ch;</a:t>
            </a:r>
          </a:p>
          <a:p xmlns:a="http://schemas.openxmlformats.org/drawingml/2006/main">
            <a:r>
              <a:t>152:                 is_foreground = max_ch &gt;= FG_THRESHOLD;</a:t>
            </a:r>
          </a:p>
          <a:p xmlns:a="http://schemas.openxmlformats.org/drawingml/2006/main">
            <a:r>
              <a:t>153:                 is_cone = is_foreground &amp;&amp; (sat_diff &gt;= (max_ch &gt;&gt; 2));</a:t>
            </a:r>
          </a:p>
          <a:p xmlns:a="http://schemas.openxmlformats.org/drawingml/2006/main">
            <a:r>
              <a:t>154: </a:t>
            </a:r>
          </a:p>
          <a:p xmlns:a="http://schemas.openxmlformats.org/drawingml/2006/main">
            <a:r>
              <a:t>155:                 if (is_foreground) begin</a:t>
            </a:r>
          </a:p>
          <a:p xmlns:a="http://schemas.openxmlformats.org/drawingml/2006/main">
            <a:r>
              <a:t>156:                     area_count = area_count + 7'd1;</a:t>
            </a:r>
          </a:p>
          <a:p xmlns:a="http://schemas.openxmlformats.org/drawingml/2006/main">
            <a:r>
              <a:t>157:                     x_sum = x_sum + col;</a:t>
            </a:r>
          </a:p>
          <a:p xmlns:a="http://schemas.openxmlformats.org/drawingml/2006/main">
            <a:r>
              <a:t>158:                     y_sum = y_sum + row;</a:t>
            </a:r>
          </a:p>
          <a:p xmlns:a="http://schemas.openxmlformats.org/drawingml/2006/main">
            <a:r>
              <a:t>159: </a:t>
            </a:r>
          </a:p>
          <a:p xmlns:a="http://schemas.openxmlformats.org/drawingml/2006/main">
            <a:r>
              <a:t>160:                     if (is_cone) begin</a:t>
            </a:r>
          </a:p>
          <a:p xmlns:a="http://schemas.openxmlformats.org/drawingml/2006/main">
            <a:r>
              <a:t>161:                         if (row &lt; (IMG_H / 2)) begin</a:t>
            </a:r>
          </a:p>
          <a:p xmlns:a="http://schemas.openxmlformats.org/drawingml/2006/main">
            <a:r>
              <a:t>162:                             upper_max_sum = upper_max_sum + max_ch;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163-180</a:t>
            </a:r>
          </a:p>
          <a:p xmlns:a="http://schemas.openxmlformats.org/drawingml/2006/main">
            <a:r>
              <a:t/>
            </a:r>
          </a:p>
          <a:p xmlns:a="http://schemas.openxmlformats.org/drawingml/2006/main">
            <a:r>
              <a:t>Explanation:</a:t>
            </a:r>
          </a:p>
          <a:p xmlns:a="http://schemas.openxmlformats.org/drawingml/2006/main">
            <a:r>
              <a:t>- For foreground pixels, update object area and center sums. Cone pixels contribute upper/lower color features. Rod pixels contribute grayscale brightness.</a:t>
            </a:r>
          </a:p>
          <a:p xmlns:a="http://schemas.openxmlformats.org/drawingml/2006/main">
            <a:r>
              <a:t>- Compare the current pixel with the right and lower neighbors. The circuit uses RGB channel differences to find strong local color changes.</a:t>
            </a:r>
          </a:p>
          <a:p xmlns:a="http://schemas.openxmlformats.org/drawingml/2006/main">
            <a:r>
              <a:t/>
            </a:r>
          </a:p>
          <a:p xmlns:a="http://schemas.openxmlformats.org/drawingml/2006/main">
            <a:r>
              <a:t>Code lines:</a:t>
            </a:r>
          </a:p>
          <a:p xmlns:a="http://schemas.openxmlformats.org/drawingml/2006/main">
            <a:r>
              <a:t>163:                             upper_mid_sum = upper_mid_sum + mid_ch;</a:t>
            </a:r>
          </a:p>
          <a:p xmlns:a="http://schemas.openxmlformats.org/drawingml/2006/main">
            <a:r>
              <a:t>164:                             upper_count = upper_count + 7'd1;</a:t>
            </a:r>
          </a:p>
          <a:p xmlns:a="http://schemas.openxmlformats.org/drawingml/2006/main">
            <a:r>
              <a:t>165:                         end else begin</a:t>
            </a:r>
          </a:p>
          <a:p xmlns:a="http://schemas.openxmlformats.org/drawingml/2006/main">
            <a:r>
              <a:t>166:                             lower_max_sum = lower_max_sum + max_ch;</a:t>
            </a:r>
          </a:p>
          <a:p xmlns:a="http://schemas.openxmlformats.org/drawingml/2006/main">
            <a:r>
              <a:t>167:                             lower_mid_sum = lower_mid_sum + mid_ch;</a:t>
            </a:r>
          </a:p>
          <a:p xmlns:a="http://schemas.openxmlformats.org/drawingml/2006/main">
            <a:r>
              <a:t>168:                             lower_count = lower_count + 7'd1;</a:t>
            </a:r>
          </a:p>
          <a:p xmlns:a="http://schemas.openxmlformats.org/drawingml/2006/main">
            <a:r>
              <a:t>169:                         end</a:t>
            </a:r>
          </a:p>
          <a:p xmlns:a="http://schemas.openxmlformats.org/drawingml/2006/main">
            <a:r>
              <a:t>170:                     end else begin</a:t>
            </a:r>
          </a:p>
          <a:p xmlns:a="http://schemas.openxmlformats.org/drawingml/2006/main">
            <a:r>
              <a:t>171:                         rod_sum = rod_sum + gray;</a:t>
            </a:r>
          </a:p>
          <a:p xmlns:a="http://schemas.openxmlformats.org/drawingml/2006/main">
            <a:r>
              <a:t>172:                         rod_count = rod_count + 7'd1;</a:t>
            </a:r>
          </a:p>
          <a:p xmlns:a="http://schemas.openxmlformats.org/drawingml/2006/main">
            <a:r>
              <a:t>173:                     end</a:t>
            </a:r>
          </a:p>
          <a:p xmlns:a="http://schemas.openxmlformats.org/drawingml/2006/main">
            <a:r>
              <a:t>174: </a:t>
            </a:r>
          </a:p>
          <a:p xmlns:a="http://schemas.openxmlformats.org/drawingml/2006/main">
            <a:r>
              <a:t>175:                     if (col &lt; IMG_W-1) begin</a:t>
            </a:r>
          </a:p>
          <a:p xmlns:a="http://schemas.openxmlformats.org/drawingml/2006/main">
            <a:r>
              <a:t>176:                         r_right = get_r(row, col + 1);</a:t>
            </a:r>
          </a:p>
          <a:p xmlns:a="http://schemas.openxmlformats.org/drawingml/2006/main">
            <a:r>
              <a:t>177:                         g_right = get_g(row, col + 1);</a:t>
            </a:r>
          </a:p>
          <a:p xmlns:a="http://schemas.openxmlformats.org/drawingml/2006/main">
            <a:r>
              <a:t>178:                         b_right = get_b(row, col + 1);</a:t>
            </a:r>
          </a:p>
          <a:p xmlns:a="http://schemas.openxmlformats.org/drawingml/2006/main">
            <a:r>
              <a:t>179:                         right_color_diff =</a:t>
            </a:r>
          </a:p>
          <a:p xmlns:a="http://schemas.openxmlformats.org/drawingml/2006/main">
            <a:r>
              <a:t>180:                             {2'b0, abs_diff(r, r_right)}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181-198</a:t>
            </a:r>
          </a:p>
          <a:p xmlns:a="http://schemas.openxmlformats.org/drawingml/2006/main">
            <a:r>
              <a:t/>
            </a:r>
          </a:p>
          <a:p xmlns:a="http://schemas.openxmlformats.org/drawingml/2006/main">
            <a:r>
              <a:t>Explanation:</a:t>
            </a:r>
          </a:p>
          <a:p xmlns:a="http://schemas.openxmlformats.org/drawingml/2006/main">
            <a:r>
              <a:t>- Compare the current pixel with the right and lower neighbors. The circuit uses RGB channel differences to find strong local color changes.</a:t>
            </a:r>
          </a:p>
          <a:p xmlns:a="http://schemas.openxmlformats.org/drawingml/2006/main">
            <a:r>
              <a:t/>
            </a:r>
          </a:p>
          <a:p xmlns:a="http://schemas.openxmlformats.org/drawingml/2006/main">
            <a:r>
              <a:t>Code lines:</a:t>
            </a:r>
          </a:p>
          <a:p xmlns:a="http://schemas.openxmlformats.org/drawingml/2006/main">
            <a:r>
              <a:t>181:                             {2'b0, abs_diff(g, g_right)} +</a:t>
            </a:r>
          </a:p>
          <a:p xmlns:a="http://schemas.openxmlformats.org/drawingml/2006/main">
            <a:r>
              <a:t>182:                             {2'b0, abs_diff(b, b_right)};</a:t>
            </a:r>
          </a:p>
          <a:p xmlns:a="http://schemas.openxmlformats.org/drawingml/2006/main">
            <a:r>
              <a:t>183:                     end else begin</a:t>
            </a:r>
          </a:p>
          <a:p xmlns:a="http://schemas.openxmlformats.org/drawingml/2006/main">
            <a:r>
              <a:t>184:                         right_color_diff = 10'd0;</a:t>
            </a:r>
          </a:p>
          <a:p xmlns:a="http://schemas.openxmlformats.org/drawingml/2006/main">
            <a:r>
              <a:t>185:                     end</a:t>
            </a:r>
          </a:p>
          <a:p xmlns:a="http://schemas.openxmlformats.org/drawingml/2006/main">
            <a:r>
              <a:t>186: </a:t>
            </a:r>
          </a:p>
          <a:p xmlns:a="http://schemas.openxmlformats.org/drawingml/2006/main">
            <a:r>
              <a:t>187:                     if (row &lt; IMG_H-1) begin</a:t>
            </a:r>
          </a:p>
          <a:p xmlns:a="http://schemas.openxmlformats.org/drawingml/2006/main">
            <a:r>
              <a:t>188:                         r_down = get_r(row + 1, col);</a:t>
            </a:r>
          </a:p>
          <a:p xmlns:a="http://schemas.openxmlformats.org/drawingml/2006/main">
            <a:r>
              <a:t>189:                         g_down = get_g(row + 1, col);</a:t>
            </a:r>
          </a:p>
          <a:p xmlns:a="http://schemas.openxmlformats.org/drawingml/2006/main">
            <a:r>
              <a:t>190:                         b_down = get_b(row + 1, col);</a:t>
            </a:r>
          </a:p>
          <a:p xmlns:a="http://schemas.openxmlformats.org/drawingml/2006/main">
            <a:r>
              <a:t>191:                         down_color_diff =</a:t>
            </a:r>
          </a:p>
          <a:p xmlns:a="http://schemas.openxmlformats.org/drawingml/2006/main">
            <a:r>
              <a:t>192:                             {2'b0, abs_diff(r, r_down)} +</a:t>
            </a:r>
          </a:p>
          <a:p xmlns:a="http://schemas.openxmlformats.org/drawingml/2006/main">
            <a:r>
              <a:t>193:                             {2'b0, abs_diff(g, g_down)} +</a:t>
            </a:r>
          </a:p>
          <a:p xmlns:a="http://schemas.openxmlformats.org/drawingml/2006/main">
            <a:r>
              <a:t>194:                             {2'b0, abs_diff(b, b_down)};</a:t>
            </a:r>
          </a:p>
          <a:p xmlns:a="http://schemas.openxmlformats.org/drawingml/2006/main">
            <a:r>
              <a:t>195:                     end else begin</a:t>
            </a:r>
          </a:p>
          <a:p xmlns:a="http://schemas.openxmlformats.org/drawingml/2006/main">
            <a:r>
              <a:t>196:                         down_color_diff = 10'd0;</a:t>
            </a:r>
          </a:p>
          <a:p xmlns:a="http://schemas.openxmlformats.org/drawingml/2006/main">
            <a:r>
              <a:t>197:                     end</a:t>
            </a:r>
          </a:p>
          <a:p xmlns:a="http://schemas.openxmlformats.org/drawingml/2006/main">
            <a:r>
              <a:t>198: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199-216</a:t>
            </a:r>
          </a:p>
          <a:p xmlns:a="http://schemas.openxmlformats.org/drawingml/2006/main">
            <a:r>
              <a:t/>
            </a:r>
          </a:p>
          <a:p xmlns:a="http://schemas.openxmlformats.org/drawingml/2006/main">
            <a:r>
              <a:t>Explanation:</a:t>
            </a:r>
          </a:p>
          <a:p xmlns:a="http://schemas.openxmlformats.org/drawingml/2006/main">
            <a:r>
              <a:t>- If either neighbor difference exceeds the color-edge threshold, count this pixel as an edge or object-boundary point.</a:t>
            </a:r>
          </a:p>
          <a:p xmlns:a="http://schemas.openxmlformats.org/drawingml/2006/main">
            <a:r>
              <a:t>- Convert accumulated sums into final compact features and set person_present when enough foreground pixels exist.</a:t>
            </a:r>
          </a:p>
          <a:p xmlns:a="http://schemas.openxmlformats.org/drawingml/2006/main">
            <a:r>
              <a:t/>
            </a:r>
          </a:p>
          <a:p xmlns:a="http://schemas.openxmlformats.org/drawingml/2006/main">
            <a:r>
              <a:t>Code lines:</a:t>
            </a:r>
          </a:p>
          <a:p xmlns:a="http://schemas.openxmlformats.org/drawingml/2006/main">
            <a:r>
              <a:t>199:                     if ((right_color_diff &gt;= COLOR_EDGE_THRESHOLD) ||</a:t>
            </a:r>
          </a:p>
          <a:p xmlns:a="http://schemas.openxmlformats.org/drawingml/2006/main">
            <a:r>
              <a:t>200:                         (down_color_diff &gt;= COLOR_EDGE_THRESHOLD)) begin</a:t>
            </a:r>
          </a:p>
          <a:p xmlns:a="http://schemas.openxmlformats.org/drawingml/2006/main">
            <a:r>
              <a:t>201:                         edge_count = edge_count + 7'd1;</a:t>
            </a:r>
          </a:p>
          <a:p xmlns:a="http://schemas.openxmlformats.org/drawingml/2006/main">
            <a:r>
              <a:t>202:                     end</a:t>
            </a:r>
          </a:p>
          <a:p xmlns:a="http://schemas.openxmlformats.org/drawingml/2006/main">
            <a:r>
              <a:t>203:                 end</a:t>
            </a:r>
          </a:p>
          <a:p xmlns:a="http://schemas.openxmlformats.org/drawingml/2006/main">
            <a:r>
              <a:t>204:             end</a:t>
            </a:r>
          </a:p>
          <a:p xmlns:a="http://schemas.openxmlformats.org/drawingml/2006/main">
            <a:r>
              <a:t>205:         end</a:t>
            </a:r>
          </a:p>
          <a:p xmlns:a="http://schemas.openxmlformats.org/drawingml/2006/main">
            <a:r>
              <a:t>206: </a:t>
            </a:r>
          </a:p>
          <a:p xmlns:a="http://schemas.openxmlformats.org/drawingml/2006/main">
            <a:r>
              <a:t>207:         upper_max_feature = (upper_count == 0) ? 8'd0 : upper_max_sum / upper_count;</a:t>
            </a:r>
          </a:p>
          <a:p xmlns:a="http://schemas.openxmlformats.org/drawingml/2006/main">
            <a:r>
              <a:t>208:         upper_mid_feature = (upper_count == 0) ? 8'd0 : upper_mid_sum / upper_count;</a:t>
            </a:r>
          </a:p>
          <a:p xmlns:a="http://schemas.openxmlformats.org/drawingml/2006/main">
            <a:r>
              <a:t>209:         lower_max_feature = (lower_count == 0) ? 8'd0 : lower_max_sum / lower_count;</a:t>
            </a:r>
          </a:p>
          <a:p xmlns:a="http://schemas.openxmlformats.org/drawingml/2006/main">
            <a:r>
              <a:t>210:         lower_mid_feature = (lower_count == 0) ? 8'd0 : lower_mid_sum / lower_count;</a:t>
            </a:r>
          </a:p>
          <a:p xmlns:a="http://schemas.openxmlformats.org/drawingml/2006/main">
            <a:r>
              <a:t>211:         rod_feature = (rod_count == 0) ? 8'd0 : rod_sum / rod_count;</a:t>
            </a:r>
          </a:p>
          <a:p xmlns:a="http://schemas.openxmlformats.org/drawingml/2006/main">
            <a:r>
              <a:t>212:         area_feature = area_count;</a:t>
            </a:r>
          </a:p>
          <a:p xmlns:a="http://schemas.openxmlformats.org/drawingml/2006/main">
            <a:r>
              <a:t>213:         center_x_feature = (area_count == 0) ? 4'd0 : x_sum / area_count;</a:t>
            </a:r>
          </a:p>
          <a:p xmlns:a="http://schemas.openxmlformats.org/drawingml/2006/main">
            <a:r>
              <a:t>214:         center_y_feature = (area_count == 0) ? 4'd0 : y_sum / area_count;</a:t>
            </a:r>
          </a:p>
          <a:p xmlns:a="http://schemas.openxmlformats.org/drawingml/2006/main">
            <a:r>
              <a:t>215:         edge_feature = edge_count;</a:t>
            </a:r>
          </a:p>
          <a:p xmlns:a="http://schemas.openxmlformats.org/drawingml/2006/main">
            <a:r>
              <a:t>216:         person_present = area_count &gt;= MIN_AREA;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217-219</a:t>
            </a:r>
          </a:p>
          <a:p xmlns:a="http://schemas.openxmlformats.org/drawingml/2006/main">
            <a:r>
              <a:t/>
            </a:r>
          </a:p>
          <a:p xmlns:a="http://schemas.openxmlformats.org/drawingml/2006/main">
            <a:r>
              <a:t>Explanation:</a:t>
            </a:r>
          </a:p>
          <a:p xmlns:a="http://schemas.openxmlformats.org/drawingml/2006/main">
            <a:r>
              <a:t>- Close the combinational block and module.</a:t>
            </a:r>
          </a:p>
          <a:p xmlns:a="http://schemas.openxmlformats.org/drawingml/2006/main">
            <a:r>
              <a:t/>
            </a:r>
          </a:p>
          <a:p xmlns:a="http://schemas.openxmlformats.org/drawingml/2006/main">
            <a:r>
              <a:t>Code lines:</a:t>
            </a:r>
          </a:p>
          <a:p xmlns:a="http://schemas.openxmlformats.org/drawingml/2006/main">
            <a:r>
              <a:t>217:     end</a:t>
            </a:r>
          </a:p>
          <a:p xmlns:a="http://schemas.openxmlformats.org/drawingml/2006/main">
            <a:r>
              <a:t>218: </a:t>
            </a:r>
          </a:p>
          <a:p xmlns:a="http://schemas.openxmlformats.org/drawingml/2006/main">
            <a:r>
              <a:t>219: endmodule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person_reid_matcher.v</a:t>
            </a:r>
          </a:p>
          <a:p xmlns:a="http://schemas.openxmlformats.org/drawingml/2006/main">
            <a:r>
              <a:t>Lines: 1-18</a:t>
            </a:r>
          </a:p>
          <a:p xmlns:a="http://schemas.openxmlformats.org/drawingml/2006/main">
            <a:r>
              <a:t/>
            </a:r>
          </a:p>
          <a:p xmlns:a="http://schemas.openxmlformats.org/drawingml/2006/main">
            <a:r>
              <a:t>Explanation:</a:t>
            </a:r>
          </a:p>
          <a:p xmlns:a="http://schemas.openxmlformats.org/drawingml/2006/main">
            <a:r>
              <a:t>- Define the matcher module and the score threshold. A smaller score means two extracted feature vectors are more similar.</a:t>
            </a:r>
          </a:p>
          <a:p xmlns:a="http://schemas.openxmlformats.org/drawingml/2006/main">
            <a:r>
              <a:t>- Receive the full feature vector from image A and image B: body color, rod brightness, object area, center position, and edge count.</a:t>
            </a:r>
          </a:p>
          <a:p xmlns:a="http://schemas.openxmlformats.org/drawingml/2006/main">
            <a:r>
              <a:t/>
            </a:r>
          </a:p>
          <a:p xmlns:a="http://schemas.openxmlformats.org/drawingml/2006/main">
            <a:r>
              <a:t>Code lines:</a:t>
            </a:r>
          </a:p>
          <a:p xmlns:a="http://schemas.openxmlformats.org/drawingml/2006/main">
            <a:r>
              <a:t>001: module person_reid_matcher #(</a:t>
            </a:r>
          </a:p>
          <a:p xmlns:a="http://schemas.openxmlformats.org/drawingml/2006/main">
            <a:r>
              <a:t>002:     parameter SCORE_WIDTH = 16,</a:t>
            </a:r>
          </a:p>
          <a:p xmlns:a="http://schemas.openxmlformats.org/drawingml/2006/main">
            <a:r>
              <a:t>003:     parameter THRESHOLD = 16'd160</a:t>
            </a:r>
          </a:p>
          <a:p xmlns:a="http://schemas.openxmlformats.org/drawingml/2006/main">
            <a:r>
              <a:t>004: ) (</a:t>
            </a:r>
          </a:p>
          <a:p xmlns:a="http://schemas.openxmlformats.org/drawingml/2006/main">
            <a:r>
              <a:t>005:     input  wire [7:0] a_upper_max,</a:t>
            </a:r>
          </a:p>
          <a:p xmlns:a="http://schemas.openxmlformats.org/drawingml/2006/main">
            <a:r>
              <a:t>006:     input  wire [7:0] a_upper_mid,</a:t>
            </a:r>
          </a:p>
          <a:p xmlns:a="http://schemas.openxmlformats.org/drawingml/2006/main">
            <a:r>
              <a:t>007:     input  wire [7:0] a_lower_max,</a:t>
            </a:r>
          </a:p>
          <a:p xmlns:a="http://schemas.openxmlformats.org/drawingml/2006/main">
            <a:r>
              <a:t>008:     input  wire [7:0] a_lower_mid,</a:t>
            </a:r>
          </a:p>
          <a:p xmlns:a="http://schemas.openxmlformats.org/drawingml/2006/main">
            <a:r>
              <a:t>009:     input  wire [7:0] a_rod,</a:t>
            </a:r>
          </a:p>
          <a:p xmlns:a="http://schemas.openxmlformats.org/drawingml/2006/main">
            <a:r>
              <a:t>010:     input  wire [6:0] a_area,</a:t>
            </a:r>
          </a:p>
          <a:p xmlns:a="http://schemas.openxmlformats.org/drawingml/2006/main">
            <a:r>
              <a:t>011:     input  wire [3:0] a_center_x,</a:t>
            </a:r>
          </a:p>
          <a:p xmlns:a="http://schemas.openxmlformats.org/drawingml/2006/main">
            <a:r>
              <a:t>012:     input  wire [3:0] a_center_y,</a:t>
            </a:r>
          </a:p>
          <a:p xmlns:a="http://schemas.openxmlformats.org/drawingml/2006/main">
            <a:r>
              <a:t>013:     input  wire [6:0] a_edge,</a:t>
            </a:r>
          </a:p>
          <a:p xmlns:a="http://schemas.openxmlformats.org/drawingml/2006/main">
            <a:r>
              <a:t>014: </a:t>
            </a:r>
          </a:p>
          <a:p xmlns:a="http://schemas.openxmlformats.org/drawingml/2006/main">
            <a:r>
              <a:t>015:     input  wire [7:0] b_upper_max,</a:t>
            </a:r>
          </a:p>
          <a:p xmlns:a="http://schemas.openxmlformats.org/drawingml/2006/main">
            <a:r>
              <a:t>016:     input  wire [7:0] b_upper_mid,</a:t>
            </a:r>
          </a:p>
          <a:p xmlns:a="http://schemas.openxmlformats.org/drawingml/2006/main">
            <a:r>
              <a:t>017:     input  wire [7:0] b_lower_max,</a:t>
            </a:r>
          </a:p>
          <a:p xmlns:a="http://schemas.openxmlformats.org/drawingml/2006/main">
            <a:r>
              <a:t>018:     input  wire [7:0] b_lower_mid,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person_reid_matcher.v</a:t>
            </a:r>
          </a:p>
          <a:p xmlns:a="http://schemas.openxmlformats.org/drawingml/2006/main">
            <a:r>
              <a:t>Lines: 19-36</a:t>
            </a:r>
          </a:p>
          <a:p xmlns:a="http://schemas.openxmlformats.org/drawingml/2006/main">
            <a:r>
              <a:t/>
            </a:r>
          </a:p>
          <a:p xmlns:a="http://schemas.openxmlformats.org/drawingml/2006/main">
            <a:r>
              <a:t>Explanation:</a:t>
            </a:r>
          </a:p>
          <a:p xmlns:a="http://schemas.openxmlformats.org/drawingml/2006/main">
            <a:r>
              <a:t>- Receive the full feature vector from image A and image B: body color, rod brightness, object area, center position, and edge count.</a:t>
            </a:r>
          </a:p>
          <a:p xmlns:a="http://schemas.openxmlformats.org/drawingml/2006/main">
            <a:r>
              <a:t>- Expose similarity_score and same_person. These are the final comparison outputs from this module.</a:t>
            </a:r>
          </a:p>
          <a:p xmlns:a="http://schemas.openxmlformats.org/drawingml/2006/main">
            <a:r>
              <a:t>- Define absolute-difference helpers for 8-bit, 7-bit, and 4-bit features so each feature can be compared safely.</a:t>
            </a:r>
          </a:p>
          <a:p xmlns:a="http://schemas.openxmlformats.org/drawingml/2006/main">
            <a:r>
              <a:t/>
            </a:r>
          </a:p>
          <a:p xmlns:a="http://schemas.openxmlformats.org/drawingml/2006/main">
            <a:r>
              <a:t>Code lines:</a:t>
            </a:r>
          </a:p>
          <a:p xmlns:a="http://schemas.openxmlformats.org/drawingml/2006/main">
            <a:r>
              <a:t>019:     input  wire [7:0] b_rod,</a:t>
            </a:r>
          </a:p>
          <a:p xmlns:a="http://schemas.openxmlformats.org/drawingml/2006/main">
            <a:r>
              <a:t>020:     input  wire [6:0] b_area,</a:t>
            </a:r>
          </a:p>
          <a:p xmlns:a="http://schemas.openxmlformats.org/drawingml/2006/main">
            <a:r>
              <a:t>021:     input  wire [3:0] b_center_x,</a:t>
            </a:r>
          </a:p>
          <a:p xmlns:a="http://schemas.openxmlformats.org/drawingml/2006/main">
            <a:r>
              <a:t>022:     input  wire [3:0] b_center_y,</a:t>
            </a:r>
          </a:p>
          <a:p xmlns:a="http://schemas.openxmlformats.org/drawingml/2006/main">
            <a:r>
              <a:t>023:     input  wire [6:0] b_edge,</a:t>
            </a:r>
          </a:p>
          <a:p xmlns:a="http://schemas.openxmlformats.org/drawingml/2006/main">
            <a:r>
              <a:t>024: </a:t>
            </a:r>
          </a:p>
          <a:p xmlns:a="http://schemas.openxmlformats.org/drawingml/2006/main">
            <a:r>
              <a:t>025:     output wire [SCORE_WIDTH-1:0] similarity_score,</a:t>
            </a:r>
          </a:p>
          <a:p xmlns:a="http://schemas.openxmlformats.org/drawingml/2006/main">
            <a:r>
              <a:t>026:     output wire                   same_person</a:t>
            </a:r>
          </a:p>
          <a:p xmlns:a="http://schemas.openxmlformats.org/drawingml/2006/main">
            <a:r>
              <a:t>027: );</a:t>
            </a:r>
          </a:p>
          <a:p xmlns:a="http://schemas.openxmlformats.org/drawingml/2006/main">
            <a:r>
              <a:t>028: </a:t>
            </a:r>
          </a:p>
          <a:p xmlns:a="http://schemas.openxmlformats.org/drawingml/2006/main">
            <a:r>
              <a:t>029:     function [7:0] abs8;</a:t>
            </a:r>
          </a:p>
          <a:p xmlns:a="http://schemas.openxmlformats.org/drawingml/2006/main">
            <a:r>
              <a:t>030:         input [7:0] a;</a:t>
            </a:r>
          </a:p>
          <a:p xmlns:a="http://schemas.openxmlformats.org/drawingml/2006/main">
            <a:r>
              <a:t>031:         input [7:0] b_in;</a:t>
            </a:r>
          </a:p>
          <a:p xmlns:a="http://schemas.openxmlformats.org/drawingml/2006/main">
            <a:r>
              <a:t>032:         begin</a:t>
            </a:r>
          </a:p>
          <a:p xmlns:a="http://schemas.openxmlformats.org/drawingml/2006/main">
            <a:r>
              <a:t>033:             abs8 = (a &gt;= b_in) ? (a - b_in) : (b_in - a);</a:t>
            </a:r>
          </a:p>
          <a:p xmlns:a="http://schemas.openxmlformats.org/drawingml/2006/main">
            <a:r>
              <a:t>034:         end</a:t>
            </a:r>
          </a:p>
          <a:p xmlns:a="http://schemas.openxmlformats.org/drawingml/2006/main">
            <a:r>
              <a:t>035:     endfunction</a:t>
            </a:r>
          </a:p>
          <a:p xmlns:a="http://schemas.openxmlformats.org/drawingml/2006/main">
            <a:r>
              <a:t>036: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person_reid_matcher.v</a:t>
            </a:r>
          </a:p>
          <a:p xmlns:a="http://schemas.openxmlformats.org/drawingml/2006/main">
            <a:r>
              <a:t>Lines: 37-54</a:t>
            </a:r>
          </a:p>
          <a:p xmlns:a="http://schemas.openxmlformats.org/drawingml/2006/main">
            <a:r>
              <a:t/>
            </a:r>
          </a:p>
          <a:p xmlns:a="http://schemas.openxmlformats.org/drawingml/2006/main">
            <a:r>
              <a:t>Explanation:</a:t>
            </a:r>
          </a:p>
          <a:p xmlns:a="http://schemas.openxmlformats.org/drawingml/2006/main">
            <a:r>
              <a:t>- Define absolute-difference helpers for 8-bit, 7-bit, and 4-bit features so each feature can be compared safely.</a:t>
            </a:r>
          </a:p>
          <a:p xmlns:a="http://schemas.openxmlformats.org/drawingml/2006/main">
            <a:r>
              <a:t/>
            </a:r>
          </a:p>
          <a:p xmlns:a="http://schemas.openxmlformats.org/drawingml/2006/main">
            <a:r>
              <a:t>Code lines:</a:t>
            </a:r>
          </a:p>
          <a:p xmlns:a="http://schemas.openxmlformats.org/drawingml/2006/main">
            <a:r>
              <a:t>037:     function [6:0] abs7;</a:t>
            </a:r>
          </a:p>
          <a:p xmlns:a="http://schemas.openxmlformats.org/drawingml/2006/main">
            <a:r>
              <a:t>038:         input [6:0] a;</a:t>
            </a:r>
          </a:p>
          <a:p xmlns:a="http://schemas.openxmlformats.org/drawingml/2006/main">
            <a:r>
              <a:t>039:         input [6:0] b_in;</a:t>
            </a:r>
          </a:p>
          <a:p xmlns:a="http://schemas.openxmlformats.org/drawingml/2006/main">
            <a:r>
              <a:t>040:         begin</a:t>
            </a:r>
          </a:p>
          <a:p xmlns:a="http://schemas.openxmlformats.org/drawingml/2006/main">
            <a:r>
              <a:t>041:             abs7 = (a &gt;= b_in) ? (a - b_in) : (b_in - a);</a:t>
            </a:r>
          </a:p>
          <a:p xmlns:a="http://schemas.openxmlformats.org/drawingml/2006/main">
            <a:r>
              <a:t>042:         end</a:t>
            </a:r>
          </a:p>
          <a:p xmlns:a="http://schemas.openxmlformats.org/drawingml/2006/main">
            <a:r>
              <a:t>043:     endfunction</a:t>
            </a:r>
          </a:p>
          <a:p xmlns:a="http://schemas.openxmlformats.org/drawingml/2006/main">
            <a:r>
              <a:t>044: </a:t>
            </a:r>
          </a:p>
          <a:p xmlns:a="http://schemas.openxmlformats.org/drawingml/2006/main">
            <a:r>
              <a:t>045:     function [3:0] abs4;</a:t>
            </a:r>
          </a:p>
          <a:p xmlns:a="http://schemas.openxmlformats.org/drawingml/2006/main">
            <a:r>
              <a:t>046:         input [3:0] a;</a:t>
            </a:r>
          </a:p>
          <a:p xmlns:a="http://schemas.openxmlformats.org/drawingml/2006/main">
            <a:r>
              <a:t>047:         input [3:0] b_in;</a:t>
            </a:r>
          </a:p>
          <a:p xmlns:a="http://schemas.openxmlformats.org/drawingml/2006/main">
            <a:r>
              <a:t>048:         begin</a:t>
            </a:r>
          </a:p>
          <a:p xmlns:a="http://schemas.openxmlformats.org/drawingml/2006/main">
            <a:r>
              <a:t>049:             abs4 = (a &gt;= b_in) ? (a - b_in) : (b_in - a);</a:t>
            </a:r>
          </a:p>
          <a:p xmlns:a="http://schemas.openxmlformats.org/drawingml/2006/main">
            <a:r>
              <a:t>050:         end</a:t>
            </a:r>
          </a:p>
          <a:p xmlns:a="http://schemas.openxmlformats.org/drawingml/2006/main">
            <a:r>
              <a:t>051:     endfunction</a:t>
            </a:r>
          </a:p>
          <a:p xmlns:a="http://schemas.openxmlformats.org/drawingml/2006/main">
            <a:r>
              <a:t>052: </a:t>
            </a:r>
          </a:p>
          <a:p xmlns:a="http://schemas.openxmlformats.org/drawingml/2006/main">
            <a:r>
              <a:t>053:     wire [7:0] d_upper_max = abs8(a_upper_max, b_upper_max);</a:t>
            </a:r>
          </a:p>
          <a:p xmlns:a="http://schemas.openxmlformats.org/drawingml/2006/main">
            <a:r>
              <a:t>054:     wire [7:0] d_upper_mid = abs8(a_upper_mid, b_upper_mid);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person_reid_matcher.v</a:t>
            </a:r>
          </a:p>
          <a:p xmlns:a="http://schemas.openxmlformats.org/drawingml/2006/main">
            <a:r>
              <a:t>Lines: 55-72</a:t>
            </a:r>
          </a:p>
          <a:p xmlns:a="http://schemas.openxmlformats.org/drawingml/2006/main">
            <a:r>
              <a:t/>
            </a:r>
          </a:p>
          <a:p xmlns:a="http://schemas.openxmlformats.org/drawingml/2006/main">
            <a:r>
              <a:t>Explanation:</a:t>
            </a:r>
          </a:p>
          <a:p xmlns:a="http://schemas.openxmlformats.org/drawingml/2006/main">
            <a:r>
              <a:t>- Define absolute-difference helpers for 8-bit, 7-bit, and 4-bit features so each feature can be compared safely.</a:t>
            </a:r>
          </a:p>
          <a:p xmlns:a="http://schemas.openxmlformats.org/drawingml/2006/main">
            <a:r>
              <a:t>- Calculate each feature distance separately. This keeps the result explainable and matches the paper idea of combining color, location, and area terms.</a:t>
            </a:r>
          </a:p>
          <a:p xmlns:a="http://schemas.openxmlformats.org/drawingml/2006/main">
            <a:r>
              <a:t>- Build the weighted score. Color features receive higher weight, while area, center, rod brightness, and edge count provide extra evidence.</a:t>
            </a:r>
          </a:p>
          <a:p xmlns:a="http://schemas.openxmlformats.org/drawingml/2006/main">
            <a:r>
              <a:t/>
            </a:r>
          </a:p>
          <a:p xmlns:a="http://schemas.openxmlformats.org/drawingml/2006/main">
            <a:r>
              <a:t>Code lines:</a:t>
            </a:r>
          </a:p>
          <a:p xmlns:a="http://schemas.openxmlformats.org/drawingml/2006/main">
            <a:r>
              <a:t>055:     wire [7:0] d_lower_max = abs8(a_lower_max, b_lower_max);</a:t>
            </a:r>
          </a:p>
          <a:p xmlns:a="http://schemas.openxmlformats.org/drawingml/2006/main">
            <a:r>
              <a:t>056:     wire [7:0] d_lower_mid = abs8(a_lower_mid, b_lower_mid);</a:t>
            </a:r>
          </a:p>
          <a:p xmlns:a="http://schemas.openxmlformats.org/drawingml/2006/main">
            <a:r>
              <a:t>057:     wire [7:0] d_rod       = abs8(a_rod, b_rod);</a:t>
            </a:r>
          </a:p>
          <a:p xmlns:a="http://schemas.openxmlformats.org/drawingml/2006/main">
            <a:r>
              <a:t>058:     wire [6:0] d_area      = abs7(a_area, b_area);</a:t>
            </a:r>
          </a:p>
          <a:p xmlns:a="http://schemas.openxmlformats.org/drawingml/2006/main">
            <a:r>
              <a:t>059:     wire [3:0] d_center_x  = abs4(a_center_x, b_center_x);</a:t>
            </a:r>
          </a:p>
          <a:p xmlns:a="http://schemas.openxmlformats.org/drawingml/2006/main">
            <a:r>
              <a:t>060:     wire [3:0] d_center_y  = abs4(a_center_y, b_center_y);</a:t>
            </a:r>
          </a:p>
          <a:p xmlns:a="http://schemas.openxmlformats.org/drawingml/2006/main">
            <a:r>
              <a:t>061:     wire [6:0] d_edge      = abs7(a_edge, b_edge);</a:t>
            </a:r>
          </a:p>
          <a:p xmlns:a="http://schemas.openxmlformats.org/drawingml/2006/main">
            <a:r>
              <a:t>062: </a:t>
            </a:r>
          </a:p>
          <a:p xmlns:a="http://schemas.openxmlformats.org/drawingml/2006/main">
            <a:r>
              <a:t>063:     assign similarity_score =</a:t>
            </a:r>
          </a:p>
          <a:p xmlns:a="http://schemas.openxmlformats.org/drawingml/2006/main">
            <a:r>
              <a:t>064:         {{(SCORE_WIDTH-8){1'b0}}, d_upper_max} * 3 +</a:t>
            </a:r>
          </a:p>
          <a:p xmlns:a="http://schemas.openxmlformats.org/drawingml/2006/main">
            <a:r>
              <a:t>065:         {{(SCORE_WIDTH-8){1'b0}}, d_upper_mid} * 2 +</a:t>
            </a:r>
          </a:p>
          <a:p xmlns:a="http://schemas.openxmlformats.org/drawingml/2006/main">
            <a:r>
              <a:t>066:         {{(SCORE_WIDTH-8){1'b0}}, d_lower_max} * 3 +</a:t>
            </a:r>
          </a:p>
          <a:p xmlns:a="http://schemas.openxmlformats.org/drawingml/2006/main">
            <a:r>
              <a:t>067:         {{(SCORE_WIDTH-8){1'b0}}, d_lower_mid} * 2 +</a:t>
            </a:r>
          </a:p>
          <a:p xmlns:a="http://schemas.openxmlformats.org/drawingml/2006/main">
            <a:r>
              <a:t>068:         {{(SCORE_WIDTH-8){1'b0}}, d_rod} +</a:t>
            </a:r>
          </a:p>
          <a:p xmlns:a="http://schemas.openxmlformats.org/drawingml/2006/main">
            <a:r>
              <a:t>069:         {{(SCORE_WIDTH-7){1'b0}}, d_area} * 2 +</a:t>
            </a:r>
          </a:p>
          <a:p xmlns:a="http://schemas.openxmlformats.org/drawingml/2006/main">
            <a:r>
              <a:t>070:         {{(SCORE_WIDTH-4){1'b0}}, d_center_x} * 4 +</a:t>
            </a:r>
          </a:p>
          <a:p xmlns:a="http://schemas.openxmlformats.org/drawingml/2006/main">
            <a:r>
              <a:t>071:         {{(SCORE_WIDTH-4){1'b0}}, d_center_y} * 4 +</a:t>
            </a:r>
          </a:p>
          <a:p xmlns:a="http://schemas.openxmlformats.org/drawingml/2006/main">
            <a:r>
              <a:t>072:         {{(SCORE_WIDTH-7){1'b0}}, d_edge} *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person_reid_matcher.v</a:t>
            </a:r>
          </a:p>
          <a:p xmlns:a="http://schemas.openxmlformats.org/drawingml/2006/main">
            <a:r>
              <a:t>Lines: 73-76</a:t>
            </a:r>
          </a:p>
          <a:p xmlns:a="http://schemas.openxmlformats.org/drawingml/2006/main">
            <a:r>
              <a:t/>
            </a:r>
          </a:p>
          <a:p xmlns:a="http://schemas.openxmlformats.org/drawingml/2006/main">
            <a:r>
              <a:t>Explanation:</a:t>
            </a:r>
          </a:p>
          <a:p xmlns:a="http://schemas.openxmlformats.org/drawingml/2006/main">
            <a:r>
              <a:t>- Compare the score with the threshold and close the module.</a:t>
            </a:r>
          </a:p>
          <a:p xmlns:a="http://schemas.openxmlformats.org/drawingml/2006/main">
            <a:r>
              <a:t/>
            </a:r>
          </a:p>
          <a:p xmlns:a="http://schemas.openxmlformats.org/drawingml/2006/main">
            <a:r>
              <a:t>Code lines:</a:t>
            </a:r>
          </a:p>
          <a:p xmlns:a="http://schemas.openxmlformats.org/drawingml/2006/main">
            <a:r>
              <a:t>073: </a:t>
            </a:r>
          </a:p>
          <a:p xmlns:a="http://schemas.openxmlformats.org/drawingml/2006/main">
            <a:r>
              <a:t>074:     assign same_person = similarity_score &lt;= THRESHOLD;</a:t>
            </a:r>
          </a:p>
          <a:p xmlns:a="http://schemas.openxmlformats.org/drawingml/2006/main">
            <a:r>
              <a:t>075: </a:t>
            </a:r>
          </a:p>
          <a:p xmlns:a="http://schemas.openxmlformats.org/drawingml/2006/main">
            <a:r>
              <a:t>076: endmodule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two_image_person_identifier_rgb.v</a:t>
            </a:r>
          </a:p>
          <a:p xmlns:a="http://schemas.openxmlformats.org/drawingml/2006/main">
            <a:r>
              <a:t>Lines: 1-18</a:t>
            </a:r>
          </a:p>
          <a:p xmlns:a="http://schemas.openxmlformats.org/drawingml/2006/main">
            <a:r>
              <a:t/>
            </a:r>
          </a:p>
          <a:p xmlns:a="http://schemas.openxmlformats.org/drawingml/2006/main">
            <a:r>
              <a:t>Explanation:</a:t>
            </a:r>
          </a:p>
          <a:p xmlns:a="http://schemas.openxmlformats.org/drawingml/2006/main">
            <a:r>
              <a:t>- Define the top-level RGB two-image identifier with image size, pixel width, score width, and threshold parameters.</a:t>
            </a:r>
          </a:p>
          <a:p xmlns:a="http://schemas.openxmlformats.org/drawingml/2006/main">
            <a:r>
              <a:t>- Receive two flattened RGB images and expose score, person-present flags, and the final same_person output.</a:t>
            </a:r>
          </a:p>
          <a:p xmlns:a="http://schemas.openxmlformats.org/drawingml/2006/main">
            <a:r>
              <a:t>- Declare internal wires for all features extracted from image A and image B.</a:t>
            </a:r>
          </a:p>
          <a:p xmlns:a="http://schemas.openxmlformats.org/drawingml/2006/main">
            <a:r>
              <a:t/>
            </a:r>
          </a:p>
          <a:p xmlns:a="http://schemas.openxmlformats.org/drawingml/2006/main">
            <a:r>
              <a:t>Code lines:</a:t>
            </a:r>
          </a:p>
          <a:p xmlns:a="http://schemas.openxmlformats.org/drawingml/2006/main">
            <a:r>
              <a:t>001: module two_image_person_identifier_rgb #(</a:t>
            </a:r>
          </a:p>
          <a:p xmlns:a="http://schemas.openxmlformats.org/drawingml/2006/main">
            <a:r>
              <a:t>002:     parameter IMG_W = 8,</a:t>
            </a:r>
          </a:p>
          <a:p xmlns:a="http://schemas.openxmlformats.org/drawingml/2006/main">
            <a:r>
              <a:t>003:     parameter IMG_H = 8,</a:t>
            </a:r>
          </a:p>
          <a:p xmlns:a="http://schemas.openxmlformats.org/drawingml/2006/main">
            <a:r>
              <a:t>004:     parameter PIXEL_WIDTH = 8,</a:t>
            </a:r>
          </a:p>
          <a:p xmlns:a="http://schemas.openxmlformats.org/drawingml/2006/main">
            <a:r>
              <a:t>005:     parameter SCORE_WIDTH = 16,</a:t>
            </a:r>
          </a:p>
          <a:p xmlns:a="http://schemas.openxmlformats.org/drawingml/2006/main">
            <a:r>
              <a:t>006:     parameter THRESHOLD = 16'd160</a:t>
            </a:r>
          </a:p>
          <a:p xmlns:a="http://schemas.openxmlformats.org/drawingml/2006/main">
            <a:r>
              <a:t>007: ) (</a:t>
            </a:r>
          </a:p>
          <a:p xmlns:a="http://schemas.openxmlformats.org/drawingml/2006/main">
            <a:r>
              <a:t>008:     input  wire [(IMG_W*IMG_H*3*PIXEL_WIDTH)-1:0] image_a_rgb,</a:t>
            </a:r>
          </a:p>
          <a:p xmlns:a="http://schemas.openxmlformats.org/drawingml/2006/main">
            <a:r>
              <a:t>009:     input  wire [(IMG_W*IMG_H*3*PIXEL_WIDTH)-1:0] image_b_rgb,</a:t>
            </a:r>
          </a:p>
          <a:p xmlns:a="http://schemas.openxmlformats.org/drawingml/2006/main">
            <a:r>
              <a:t>010:     output wire [SCORE_WIDTH-1:0] similarity_score,</a:t>
            </a:r>
          </a:p>
          <a:p xmlns:a="http://schemas.openxmlformats.org/drawingml/2006/main">
            <a:r>
              <a:t>011:     output wire                    image_a_has_person,</a:t>
            </a:r>
          </a:p>
          <a:p xmlns:a="http://schemas.openxmlformats.org/drawingml/2006/main">
            <a:r>
              <a:t>012:     output wire                    image_b_has_person,</a:t>
            </a:r>
          </a:p>
          <a:p xmlns:a="http://schemas.openxmlformats.org/drawingml/2006/main">
            <a:r>
              <a:t>013:     output wire                    same_person</a:t>
            </a:r>
          </a:p>
          <a:p xmlns:a="http://schemas.openxmlformats.org/drawingml/2006/main">
            <a:r>
              <a:t>014: );</a:t>
            </a:r>
          </a:p>
          <a:p xmlns:a="http://schemas.openxmlformats.org/drawingml/2006/main">
            <a:r>
              <a:t>015: </a:t>
            </a:r>
          </a:p>
          <a:p xmlns:a="http://schemas.openxmlformats.org/drawingml/2006/main">
            <a:r>
              <a:t>016:     wire [7:0] a_upper_max;</a:t>
            </a:r>
          </a:p>
          <a:p xmlns:a="http://schemas.openxmlformats.org/drawingml/2006/main">
            <a:r>
              <a:t>017:     wire [7:0] a_upper_mid;</a:t>
            </a:r>
          </a:p>
          <a:p xmlns:a="http://schemas.openxmlformats.org/drawingml/2006/main">
            <a:r>
              <a:t>018:     wire [7:0] a_lower_max;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two_image_person_identifier_rgb.v</a:t>
            </a:r>
          </a:p>
          <a:p xmlns:a="http://schemas.openxmlformats.org/drawingml/2006/main">
            <a:r>
              <a:t>Lines: 19-36</a:t>
            </a:r>
          </a:p>
          <a:p xmlns:a="http://schemas.openxmlformats.org/drawingml/2006/main">
            <a:r>
              <a:t/>
            </a:r>
          </a:p>
          <a:p xmlns:a="http://schemas.openxmlformats.org/drawingml/2006/main">
            <a:r>
              <a:t>Explanation:</a:t>
            </a:r>
          </a:p>
          <a:p xmlns:a="http://schemas.openxmlformats.org/drawingml/2006/main">
            <a:r>
              <a:t>- Declare internal wires for all features extracted from image A and image B.</a:t>
            </a:r>
          </a:p>
          <a:p xmlns:a="http://schemas.openxmlformats.org/drawingml/2006/main">
            <a:r>
              <a:t>- Instantiate the first visual-channel feature extractor for image A.</a:t>
            </a:r>
          </a:p>
          <a:p xmlns:a="http://schemas.openxmlformats.org/drawingml/2006/main">
            <a:r>
              <a:t/>
            </a:r>
          </a:p>
          <a:p xmlns:a="http://schemas.openxmlformats.org/drawingml/2006/main">
            <a:r>
              <a:t>Code lines:</a:t>
            </a:r>
          </a:p>
          <a:p xmlns:a="http://schemas.openxmlformats.org/drawingml/2006/main">
            <a:r>
              <a:t>019:     wire [7:0] a_lower_mid;</a:t>
            </a:r>
          </a:p>
          <a:p xmlns:a="http://schemas.openxmlformats.org/drawingml/2006/main">
            <a:r>
              <a:t>020:     wire [7:0] a_rod;</a:t>
            </a:r>
          </a:p>
          <a:p xmlns:a="http://schemas.openxmlformats.org/drawingml/2006/main">
            <a:r>
              <a:t>021:     wire [6:0] a_area;</a:t>
            </a:r>
          </a:p>
          <a:p xmlns:a="http://schemas.openxmlformats.org/drawingml/2006/main">
            <a:r>
              <a:t>022:     wire [3:0] a_center_x;</a:t>
            </a:r>
          </a:p>
          <a:p xmlns:a="http://schemas.openxmlformats.org/drawingml/2006/main">
            <a:r>
              <a:t>023:     wire [3:0] a_center_y;</a:t>
            </a:r>
          </a:p>
          <a:p xmlns:a="http://schemas.openxmlformats.org/drawingml/2006/main">
            <a:r>
              <a:t>024:     wire [6:0] a_edge;</a:t>
            </a:r>
          </a:p>
          <a:p xmlns:a="http://schemas.openxmlformats.org/drawingml/2006/main">
            <a:r>
              <a:t>025: </a:t>
            </a:r>
          </a:p>
          <a:p xmlns:a="http://schemas.openxmlformats.org/drawingml/2006/main">
            <a:r>
              <a:t>026:     wire [7:0] b_upper_max;</a:t>
            </a:r>
          </a:p>
          <a:p xmlns:a="http://schemas.openxmlformats.org/drawingml/2006/main">
            <a:r>
              <a:t>027:     wire [7:0] b_upper_mid;</a:t>
            </a:r>
          </a:p>
          <a:p xmlns:a="http://schemas.openxmlformats.org/drawingml/2006/main">
            <a:r>
              <a:t>028:     wire [7:0] b_lower_max;</a:t>
            </a:r>
          </a:p>
          <a:p xmlns:a="http://schemas.openxmlformats.org/drawingml/2006/main">
            <a:r>
              <a:t>029:     wire [7:0] b_lower_mid;</a:t>
            </a:r>
          </a:p>
          <a:p xmlns:a="http://schemas.openxmlformats.org/drawingml/2006/main">
            <a:r>
              <a:t>030:     wire [7:0] b_rod;</a:t>
            </a:r>
          </a:p>
          <a:p xmlns:a="http://schemas.openxmlformats.org/drawingml/2006/main">
            <a:r>
              <a:t>031:     wire [6:0] b_area;</a:t>
            </a:r>
          </a:p>
          <a:p xmlns:a="http://schemas.openxmlformats.org/drawingml/2006/main">
            <a:r>
              <a:t>032:     wire [3:0] b_center_x;</a:t>
            </a:r>
          </a:p>
          <a:p xmlns:a="http://schemas.openxmlformats.org/drawingml/2006/main">
            <a:r>
              <a:t>033:     wire [3:0] b_center_y;</a:t>
            </a:r>
          </a:p>
          <a:p xmlns:a="http://schemas.openxmlformats.org/drawingml/2006/main">
            <a:r>
              <a:t>034:     wire [6:0] b_edge;</a:t>
            </a:r>
          </a:p>
          <a:p xmlns:a="http://schemas.openxmlformats.org/drawingml/2006/main">
            <a:r>
              <a:t>035:     wire       raw_same_person;</a:t>
            </a:r>
          </a:p>
          <a:p xmlns:a="http://schemas.openxmlformats.org/drawingml/2006/main">
            <a:r>
              <a:t>036: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two_image_person_identifier_rgb.v</a:t>
            </a:r>
          </a:p>
          <a:p xmlns:a="http://schemas.openxmlformats.org/drawingml/2006/main">
            <a:r>
              <a:t>Lines: 37-54</a:t>
            </a:r>
          </a:p>
          <a:p xmlns:a="http://schemas.openxmlformats.org/drawingml/2006/main">
            <a:r>
              <a:t/>
            </a:r>
          </a:p>
          <a:p xmlns:a="http://schemas.openxmlformats.org/drawingml/2006/main">
            <a:r>
              <a:t>Explanation:</a:t>
            </a:r>
          </a:p>
          <a:p xmlns:a="http://schemas.openxmlformats.org/drawingml/2006/main">
            <a:r>
              <a:t>- Instantiate the first visual-channel feature extractor for image A.</a:t>
            </a:r>
          </a:p>
          <a:p xmlns:a="http://schemas.openxmlformats.org/drawingml/2006/main">
            <a:r>
              <a:t/>
            </a:r>
          </a:p>
          <a:p xmlns:a="http://schemas.openxmlformats.org/drawingml/2006/main">
            <a:r>
              <a:t>Code lines:</a:t>
            </a:r>
          </a:p>
          <a:p xmlns:a="http://schemas.openxmlformats.org/drawingml/2006/main">
            <a:r>
              <a:t>037:     visual_channel_feature_extractor_rgb #(</a:t>
            </a:r>
          </a:p>
          <a:p xmlns:a="http://schemas.openxmlformats.org/drawingml/2006/main">
            <a:r>
              <a:t>038:         .IMG_W(IMG_W),</a:t>
            </a:r>
          </a:p>
          <a:p xmlns:a="http://schemas.openxmlformats.org/drawingml/2006/main">
            <a:r>
              <a:t>039:         .IMG_H(IMG_H),</a:t>
            </a:r>
          </a:p>
          <a:p xmlns:a="http://schemas.openxmlformats.org/drawingml/2006/main">
            <a:r>
              <a:t>040:         .PIXEL_WIDTH(PIXEL_WIDTH)</a:t>
            </a:r>
          </a:p>
          <a:p xmlns:a="http://schemas.openxmlformats.org/drawingml/2006/main">
            <a:r>
              <a:t>041:     ) extractor_a (</a:t>
            </a:r>
          </a:p>
          <a:p xmlns:a="http://schemas.openxmlformats.org/drawingml/2006/main">
            <a:r>
              <a:t>042:         .image_rgb(image_a_rgb),</a:t>
            </a:r>
          </a:p>
          <a:p xmlns:a="http://schemas.openxmlformats.org/drawingml/2006/main">
            <a:r>
              <a:t>043:         .upper_max_feature(a_upper_max),</a:t>
            </a:r>
          </a:p>
          <a:p xmlns:a="http://schemas.openxmlformats.org/drawingml/2006/main">
            <a:r>
              <a:t>044:         .upper_mid_feature(a_upper_mid),</a:t>
            </a:r>
          </a:p>
          <a:p xmlns:a="http://schemas.openxmlformats.org/drawingml/2006/main">
            <a:r>
              <a:t>045:         .lower_max_feature(a_lower_max),</a:t>
            </a:r>
          </a:p>
          <a:p xmlns:a="http://schemas.openxmlformats.org/drawingml/2006/main">
            <a:r>
              <a:t>046:         .lower_mid_feature(a_lower_mid),</a:t>
            </a:r>
          </a:p>
          <a:p xmlns:a="http://schemas.openxmlformats.org/drawingml/2006/main">
            <a:r>
              <a:t>047:         .rod_feature(a_rod),</a:t>
            </a:r>
          </a:p>
          <a:p xmlns:a="http://schemas.openxmlformats.org/drawingml/2006/main">
            <a:r>
              <a:t>048:         .area_feature(a_area),</a:t>
            </a:r>
          </a:p>
          <a:p xmlns:a="http://schemas.openxmlformats.org/drawingml/2006/main">
            <a:r>
              <a:t>049:         .center_x_feature(a_center_x),</a:t>
            </a:r>
          </a:p>
          <a:p xmlns:a="http://schemas.openxmlformats.org/drawingml/2006/main">
            <a:r>
              <a:t>050:         .center_y_feature(a_center_y),</a:t>
            </a:r>
          </a:p>
          <a:p xmlns:a="http://schemas.openxmlformats.org/drawingml/2006/main">
            <a:r>
              <a:t>051:         .edge_feature(a_edge),</a:t>
            </a:r>
          </a:p>
          <a:p xmlns:a="http://schemas.openxmlformats.org/drawingml/2006/main">
            <a:r>
              <a:t>052:         .person_present(image_a_has_person)</a:t>
            </a:r>
          </a:p>
          <a:p xmlns:a="http://schemas.openxmlformats.org/drawingml/2006/main">
            <a:r>
              <a:t>053:     );</a:t>
            </a:r>
          </a:p>
          <a:p xmlns:a="http://schemas.openxmlformats.org/drawingml/2006/main">
            <a:r>
              <a:t>054: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two_image_person_identifier_rgb.v</a:t>
            </a:r>
          </a:p>
          <a:p xmlns:a="http://schemas.openxmlformats.org/drawingml/2006/main">
            <a:r>
              <a:t>Lines: 55-72</a:t>
            </a:r>
          </a:p>
          <a:p xmlns:a="http://schemas.openxmlformats.org/drawingml/2006/main">
            <a:r>
              <a:t/>
            </a:r>
          </a:p>
          <a:p xmlns:a="http://schemas.openxmlformats.org/drawingml/2006/main">
            <a:r>
              <a:t>Explanation:</a:t>
            </a:r>
          </a:p>
          <a:p xmlns:a="http://schemas.openxmlformats.org/drawingml/2006/main">
            <a:r>
              <a:t>- Instantiate the second visual-channel feature extractor for image B.</a:t>
            </a:r>
          </a:p>
          <a:p xmlns:a="http://schemas.openxmlformats.org/drawingml/2006/main">
            <a:r>
              <a:t/>
            </a:r>
          </a:p>
          <a:p xmlns:a="http://schemas.openxmlformats.org/drawingml/2006/main">
            <a:r>
              <a:t>Code lines:</a:t>
            </a:r>
          </a:p>
          <a:p xmlns:a="http://schemas.openxmlformats.org/drawingml/2006/main">
            <a:r>
              <a:t>055:     visual_channel_feature_extractor_rgb #(</a:t>
            </a:r>
          </a:p>
          <a:p xmlns:a="http://schemas.openxmlformats.org/drawingml/2006/main">
            <a:r>
              <a:t>056:         .IMG_W(IMG_W),</a:t>
            </a:r>
          </a:p>
          <a:p xmlns:a="http://schemas.openxmlformats.org/drawingml/2006/main">
            <a:r>
              <a:t>057:         .IMG_H(IMG_H),</a:t>
            </a:r>
          </a:p>
          <a:p xmlns:a="http://schemas.openxmlformats.org/drawingml/2006/main">
            <a:r>
              <a:t>058:         .PIXEL_WIDTH(PIXEL_WIDTH)</a:t>
            </a:r>
          </a:p>
          <a:p xmlns:a="http://schemas.openxmlformats.org/drawingml/2006/main">
            <a:r>
              <a:t>059:     ) extractor_b (</a:t>
            </a:r>
          </a:p>
          <a:p xmlns:a="http://schemas.openxmlformats.org/drawingml/2006/main">
            <a:r>
              <a:t>060:         .image_rgb(image_b_rgb),</a:t>
            </a:r>
          </a:p>
          <a:p xmlns:a="http://schemas.openxmlformats.org/drawingml/2006/main">
            <a:r>
              <a:t>061:         .upper_max_feature(b_upper_max),</a:t>
            </a:r>
          </a:p>
          <a:p xmlns:a="http://schemas.openxmlformats.org/drawingml/2006/main">
            <a:r>
              <a:t>062:         .upper_mid_feature(b_upper_mid),</a:t>
            </a:r>
          </a:p>
          <a:p xmlns:a="http://schemas.openxmlformats.org/drawingml/2006/main">
            <a:r>
              <a:t>063:         .lower_max_feature(b_lower_max),</a:t>
            </a:r>
          </a:p>
          <a:p xmlns:a="http://schemas.openxmlformats.org/drawingml/2006/main">
            <a:r>
              <a:t>064:         .lower_mid_feature(b_lower_mid),</a:t>
            </a:r>
          </a:p>
          <a:p xmlns:a="http://schemas.openxmlformats.org/drawingml/2006/main">
            <a:r>
              <a:t>065:         .rod_feature(b_rod),</a:t>
            </a:r>
          </a:p>
          <a:p xmlns:a="http://schemas.openxmlformats.org/drawingml/2006/main">
            <a:r>
              <a:t>066:         .area_feature(b_area),</a:t>
            </a:r>
          </a:p>
          <a:p xmlns:a="http://schemas.openxmlformats.org/drawingml/2006/main">
            <a:r>
              <a:t>067:         .center_x_feature(b_center_x),</a:t>
            </a:r>
          </a:p>
          <a:p xmlns:a="http://schemas.openxmlformats.org/drawingml/2006/main">
            <a:r>
              <a:t>068:         .center_y_feature(b_center_y),</a:t>
            </a:r>
          </a:p>
          <a:p xmlns:a="http://schemas.openxmlformats.org/drawingml/2006/main">
            <a:r>
              <a:t>069:         .edge_feature(b_edge),</a:t>
            </a:r>
          </a:p>
          <a:p xmlns:a="http://schemas.openxmlformats.org/drawingml/2006/main">
            <a:r>
              <a:t>070:         .person_present(image_b_has_person)</a:t>
            </a:r>
          </a:p>
          <a:p xmlns:a="http://schemas.openxmlformats.org/drawingml/2006/main">
            <a:r>
              <a:t>071:     );</a:t>
            </a:r>
          </a:p>
          <a:p xmlns:a="http://schemas.openxmlformats.org/drawingml/2006/main">
            <a:r>
              <a:t>072: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two_image_person_identifier_rgb.v</a:t>
            </a:r>
          </a:p>
          <a:p xmlns:a="http://schemas.openxmlformats.org/drawingml/2006/main">
            <a:r>
              <a:t>Lines: 73-90</a:t>
            </a:r>
          </a:p>
          <a:p xmlns:a="http://schemas.openxmlformats.org/drawingml/2006/main">
            <a:r>
              <a:t/>
            </a:r>
          </a:p>
          <a:p xmlns:a="http://schemas.openxmlformats.org/drawingml/2006/main">
            <a:r>
              <a:t>Explanation:</a:t>
            </a:r>
          </a:p>
          <a:p xmlns:a="http://schemas.openxmlformats.org/drawingml/2006/main">
            <a:r>
              <a:t>- Instantiate the re-identification matcher and connect both images' feature vectors into it.</a:t>
            </a:r>
          </a:p>
          <a:p xmlns:a="http://schemas.openxmlformats.org/drawingml/2006/main">
            <a:r>
              <a:t/>
            </a:r>
          </a:p>
          <a:p xmlns:a="http://schemas.openxmlformats.org/drawingml/2006/main">
            <a:r>
              <a:t>Code lines:</a:t>
            </a:r>
          </a:p>
          <a:p xmlns:a="http://schemas.openxmlformats.org/drawingml/2006/main">
            <a:r>
              <a:t>073:     person_reid_matcher #(</a:t>
            </a:r>
          </a:p>
          <a:p xmlns:a="http://schemas.openxmlformats.org/drawingml/2006/main">
            <a:r>
              <a:t>074:         .SCORE_WIDTH(SCORE_WIDTH),</a:t>
            </a:r>
          </a:p>
          <a:p xmlns:a="http://schemas.openxmlformats.org/drawingml/2006/main">
            <a:r>
              <a:t>075:         .THRESHOLD(THRESHOLD)</a:t>
            </a:r>
          </a:p>
          <a:p xmlns:a="http://schemas.openxmlformats.org/drawingml/2006/main">
            <a:r>
              <a:t>076:     ) matcher (</a:t>
            </a:r>
          </a:p>
          <a:p xmlns:a="http://schemas.openxmlformats.org/drawingml/2006/main">
            <a:r>
              <a:t>077:         .a_upper_max(a_upper_max),</a:t>
            </a:r>
          </a:p>
          <a:p xmlns:a="http://schemas.openxmlformats.org/drawingml/2006/main">
            <a:r>
              <a:t>078:         .a_upper_mid(a_upper_mid),</a:t>
            </a:r>
          </a:p>
          <a:p xmlns:a="http://schemas.openxmlformats.org/drawingml/2006/main">
            <a:r>
              <a:t>079:         .a_lower_max(a_lower_max),</a:t>
            </a:r>
          </a:p>
          <a:p xmlns:a="http://schemas.openxmlformats.org/drawingml/2006/main">
            <a:r>
              <a:t>080:         .a_lower_mid(a_lower_mid),</a:t>
            </a:r>
          </a:p>
          <a:p xmlns:a="http://schemas.openxmlformats.org/drawingml/2006/main">
            <a:r>
              <a:t>081:         .a_rod(a_rod),</a:t>
            </a:r>
          </a:p>
          <a:p xmlns:a="http://schemas.openxmlformats.org/drawingml/2006/main">
            <a:r>
              <a:t>082:         .a_area(a_area),</a:t>
            </a:r>
          </a:p>
          <a:p xmlns:a="http://schemas.openxmlformats.org/drawingml/2006/main">
            <a:r>
              <a:t>083:         .a_center_x(a_center_x),</a:t>
            </a:r>
          </a:p>
          <a:p xmlns:a="http://schemas.openxmlformats.org/drawingml/2006/main">
            <a:r>
              <a:t>084:         .a_center_y(a_center_y),</a:t>
            </a:r>
          </a:p>
          <a:p xmlns:a="http://schemas.openxmlformats.org/drawingml/2006/main">
            <a:r>
              <a:t>085:         .a_edge(a_edge),</a:t>
            </a:r>
          </a:p>
          <a:p xmlns:a="http://schemas.openxmlformats.org/drawingml/2006/main">
            <a:r>
              <a:t>086:         .b_upper_max(b_upper_max),</a:t>
            </a:r>
          </a:p>
          <a:p xmlns:a="http://schemas.openxmlformats.org/drawingml/2006/main">
            <a:r>
              <a:t>087:         .b_upper_mid(b_upper_mid),</a:t>
            </a:r>
          </a:p>
          <a:p xmlns:a="http://schemas.openxmlformats.org/drawingml/2006/main">
            <a:r>
              <a:t>088:         .b_lower_max(b_lower_max),</a:t>
            </a:r>
          </a:p>
          <a:p xmlns:a="http://schemas.openxmlformats.org/drawingml/2006/main">
            <a:r>
              <a:t>089:         .b_lower_mid(b_lower_mid),</a:t>
            </a:r>
          </a:p>
          <a:p xmlns:a="http://schemas.openxmlformats.org/drawingml/2006/main">
            <a:r>
              <a:t>090:         .b_rod(b_rod),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two_image_person_identifier_rgb.v</a:t>
            </a:r>
          </a:p>
          <a:p xmlns:a="http://schemas.openxmlformats.org/drawingml/2006/main">
            <a:r>
              <a:t>Lines: 91-101</a:t>
            </a:r>
          </a:p>
          <a:p xmlns:a="http://schemas.openxmlformats.org/drawingml/2006/main">
            <a:r>
              <a:t/>
            </a:r>
          </a:p>
          <a:p xmlns:a="http://schemas.openxmlformats.org/drawingml/2006/main">
            <a:r>
              <a:t>Explanation:</a:t>
            </a:r>
          </a:p>
          <a:p xmlns:a="http://schemas.openxmlformats.org/drawingml/2006/main">
            <a:r>
              <a:t>- Instantiate the re-identification matcher and connect both images' feature vectors into it.</a:t>
            </a:r>
          </a:p>
          <a:p xmlns:a="http://schemas.openxmlformats.org/drawingml/2006/main">
            <a:r>
              <a:t>- Accept the match only when both images contain an object and the feature score passes the threshold.</a:t>
            </a:r>
          </a:p>
          <a:p xmlns:a="http://schemas.openxmlformats.org/drawingml/2006/main">
            <a:r>
              <a:t/>
            </a:r>
          </a:p>
          <a:p xmlns:a="http://schemas.openxmlformats.org/drawingml/2006/main">
            <a:r>
              <a:t>Code lines:</a:t>
            </a:r>
          </a:p>
          <a:p xmlns:a="http://schemas.openxmlformats.org/drawingml/2006/main">
            <a:r>
              <a:t>091:         .b_area(b_area),</a:t>
            </a:r>
          </a:p>
          <a:p xmlns:a="http://schemas.openxmlformats.org/drawingml/2006/main">
            <a:r>
              <a:t>092:         .b_center_x(b_center_x),</a:t>
            </a:r>
          </a:p>
          <a:p xmlns:a="http://schemas.openxmlformats.org/drawingml/2006/main">
            <a:r>
              <a:t>093:         .b_center_y(b_center_y),</a:t>
            </a:r>
          </a:p>
          <a:p xmlns:a="http://schemas.openxmlformats.org/drawingml/2006/main">
            <a:r>
              <a:t>094:         .b_edge(b_edge),</a:t>
            </a:r>
          </a:p>
          <a:p xmlns:a="http://schemas.openxmlformats.org/drawingml/2006/main">
            <a:r>
              <a:t>095:         .similarity_score(similarity_score),</a:t>
            </a:r>
          </a:p>
          <a:p xmlns:a="http://schemas.openxmlformats.org/drawingml/2006/main">
            <a:r>
              <a:t>096:         .same_person(raw_same_person)</a:t>
            </a:r>
          </a:p>
          <a:p xmlns:a="http://schemas.openxmlformats.org/drawingml/2006/main">
            <a:r>
              <a:t>097:     );</a:t>
            </a:r>
          </a:p>
          <a:p xmlns:a="http://schemas.openxmlformats.org/drawingml/2006/main">
            <a:r>
              <a:t>098: </a:t>
            </a:r>
          </a:p>
          <a:p xmlns:a="http://schemas.openxmlformats.org/drawingml/2006/main">
            <a:r>
              <a:t>099:     assign same_person = image_a_has_person &amp; image_b_has_person &amp; raw_same_person;</a:t>
            </a:r>
          </a:p>
          <a:p xmlns:a="http://schemas.openxmlformats.org/drawingml/2006/main">
            <a:r>
              <a:t>100: </a:t>
            </a:r>
          </a:p>
          <a:p xmlns:a="http://schemas.openxmlformats.org/drawingml/2006/main">
            <a:r>
              <a:t>101: endmodule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tb_rgb_from_mem.v</a:t>
            </a:r>
          </a:p>
          <a:p xmlns:a="http://schemas.openxmlformats.org/drawingml/2006/main">
            <a:r>
              <a:t>Lines: 1-18</a:t>
            </a:r>
          </a:p>
          <a:p xmlns:a="http://schemas.openxmlformats.org/drawingml/2006/main">
            <a:r>
              <a:t/>
            </a:r>
          </a:p>
          <a:p xmlns:a="http://schemas.openxmlformats.org/drawingml/2006/main">
            <a:r>
              <a:t>Explanation:</a:t>
            </a:r>
          </a:p>
          <a:p xmlns:a="http://schemas.openxmlformats.org/drawingml/2006/main">
            <a:r>
              <a:t>- Define the simulation testbench and the 8x8 RGB image parameters.</a:t>
            </a:r>
          </a:p>
          <a:p xmlns:a="http://schemas.openxmlformats.org/drawingml/2006/main">
            <a:r>
              <a:t>- Declare memory arrays, flattened image buses, and wires for the outputs produced by the top module.</a:t>
            </a:r>
          </a:p>
          <a:p xmlns:a="http://schemas.openxmlformats.org/drawingml/2006/main">
            <a:r>
              <a:t/>
            </a:r>
          </a:p>
          <a:p xmlns:a="http://schemas.openxmlformats.org/drawingml/2006/main">
            <a:r>
              <a:t>Code lines:</a:t>
            </a:r>
          </a:p>
          <a:p xmlns:a="http://schemas.openxmlformats.org/drawingml/2006/main">
            <a:r>
              <a:t>001: `timescale 1ns/1ps</a:t>
            </a:r>
          </a:p>
          <a:p xmlns:a="http://schemas.openxmlformats.org/drawingml/2006/main">
            <a:r>
              <a:t>002: </a:t>
            </a:r>
          </a:p>
          <a:p xmlns:a="http://schemas.openxmlformats.org/drawingml/2006/main">
            <a:r>
              <a:t>003: module tb_rgb_from_mem;</a:t>
            </a:r>
          </a:p>
          <a:p xmlns:a="http://schemas.openxmlformats.org/drawingml/2006/main">
            <a:r>
              <a:t>004: </a:t>
            </a:r>
          </a:p>
          <a:p xmlns:a="http://schemas.openxmlformats.org/drawingml/2006/main">
            <a:r>
              <a:t>005:     localparam IMG_W = 8;</a:t>
            </a:r>
          </a:p>
          <a:p xmlns:a="http://schemas.openxmlformats.org/drawingml/2006/main">
            <a:r>
              <a:t>006:     localparam IMG_H = 8;</a:t>
            </a:r>
          </a:p>
          <a:p xmlns:a="http://schemas.openxmlformats.org/drawingml/2006/main">
            <a:r>
              <a:t>007:     localparam PIXEL_WIDTH = 8;</a:t>
            </a:r>
          </a:p>
          <a:p xmlns:a="http://schemas.openxmlformats.org/drawingml/2006/main">
            <a:r>
              <a:t>008:     localparam IMAGE_PIXELS = IMG_W * IMG_H;</a:t>
            </a:r>
          </a:p>
          <a:p xmlns:a="http://schemas.openxmlformats.org/drawingml/2006/main">
            <a:r>
              <a:t>009:     localparam RGB_PIXEL_WIDTH = 3 * PIXEL_WIDTH;</a:t>
            </a:r>
          </a:p>
          <a:p xmlns:a="http://schemas.openxmlformats.org/drawingml/2006/main">
            <a:r>
              <a:t>010:     localparam IMAGE_BITS = IMAGE_PIXELS * RGB_PIXEL_WIDTH;</a:t>
            </a:r>
          </a:p>
          <a:p xmlns:a="http://schemas.openxmlformats.org/drawingml/2006/main">
            <a:r>
              <a:t>011: </a:t>
            </a:r>
          </a:p>
          <a:p xmlns:a="http://schemas.openxmlformats.org/drawingml/2006/main">
            <a:r>
              <a:t>012:     reg [23:0] mem_a [0:IMAGE_PIXELS-1];</a:t>
            </a:r>
          </a:p>
          <a:p xmlns:a="http://schemas.openxmlformats.org/drawingml/2006/main">
            <a:r>
              <a:t>013:     reg [23:0] mem_b [0:IMAGE_PIXELS-1];</a:t>
            </a:r>
          </a:p>
          <a:p xmlns:a="http://schemas.openxmlformats.org/drawingml/2006/main">
            <a:r>
              <a:t>014:     reg [IMAGE_BITS-1:0] image_a_rgb;</a:t>
            </a:r>
          </a:p>
          <a:p xmlns:a="http://schemas.openxmlformats.org/drawingml/2006/main">
            <a:r>
              <a:t>015:     reg [IMAGE_BITS-1:0] image_b_rgb;</a:t>
            </a:r>
          </a:p>
          <a:p xmlns:a="http://schemas.openxmlformats.org/drawingml/2006/main">
            <a:r>
              <a:t>016: </a:t>
            </a:r>
          </a:p>
          <a:p xmlns:a="http://schemas.openxmlformats.org/drawingml/2006/main">
            <a:r>
              <a:t>017:     wire [15:0] similarity_score;</a:t>
            </a:r>
          </a:p>
          <a:p xmlns:a="http://schemas.openxmlformats.org/drawingml/2006/main">
            <a:r>
              <a:t>018:     wire        image_a_has_person;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tb_rgb_from_mem.v</a:t>
            </a:r>
          </a:p>
          <a:p xmlns:a="http://schemas.openxmlformats.org/drawingml/2006/main">
            <a:r>
              <a:t>Lines: 19-36</a:t>
            </a:r>
          </a:p>
          <a:p xmlns:a="http://schemas.openxmlformats.org/drawingml/2006/main">
            <a:r>
              <a:t/>
            </a:r>
          </a:p>
          <a:p xmlns:a="http://schemas.openxmlformats.org/drawingml/2006/main">
            <a:r>
              <a:t>Explanation:</a:t>
            </a:r>
          </a:p>
          <a:p xmlns:a="http://schemas.openxmlformats.org/drawingml/2006/main">
            <a:r>
              <a:t>- Declare memory arrays, flattened image buses, and wires for the outputs produced by the top module.</a:t>
            </a:r>
          </a:p>
          <a:p xmlns:a="http://schemas.openxmlformats.org/drawingml/2006/main">
            <a:r>
              <a:t>- Instantiate the RGB top module as the design under test.</a:t>
            </a:r>
          </a:p>
          <a:p xmlns:a="http://schemas.openxmlformats.org/drawingml/2006/main">
            <a:r>
              <a:t/>
            </a:r>
          </a:p>
          <a:p xmlns:a="http://schemas.openxmlformats.org/drawingml/2006/main">
            <a:r>
              <a:t>Code lines:</a:t>
            </a:r>
          </a:p>
          <a:p xmlns:a="http://schemas.openxmlformats.org/drawingml/2006/main">
            <a:r>
              <a:t>019:     wire        image_b_has_person;</a:t>
            </a:r>
          </a:p>
          <a:p xmlns:a="http://schemas.openxmlformats.org/drawingml/2006/main">
            <a:r>
              <a:t>020:     wire        same_person;</a:t>
            </a:r>
          </a:p>
          <a:p xmlns:a="http://schemas.openxmlformats.org/drawingml/2006/main">
            <a:r>
              <a:t>021: </a:t>
            </a:r>
          </a:p>
          <a:p xmlns:a="http://schemas.openxmlformats.org/drawingml/2006/main">
            <a:r>
              <a:t>022:     integer i;</a:t>
            </a:r>
          </a:p>
          <a:p xmlns:a="http://schemas.openxmlformats.org/drawingml/2006/main">
            <a:r>
              <a:t>023: </a:t>
            </a:r>
          </a:p>
          <a:p xmlns:a="http://schemas.openxmlformats.org/drawingml/2006/main">
            <a:r>
              <a:t>024:     two_image_person_identifier_rgb #(</a:t>
            </a:r>
          </a:p>
          <a:p xmlns:a="http://schemas.openxmlformats.org/drawingml/2006/main">
            <a:r>
              <a:t>025:         .IMG_W(IMG_W),</a:t>
            </a:r>
          </a:p>
          <a:p xmlns:a="http://schemas.openxmlformats.org/drawingml/2006/main">
            <a:r>
              <a:t>026:         .IMG_H(IMG_H),</a:t>
            </a:r>
          </a:p>
          <a:p xmlns:a="http://schemas.openxmlformats.org/drawingml/2006/main">
            <a:r>
              <a:t>027:         .PIXEL_WIDTH(PIXEL_WIDTH),</a:t>
            </a:r>
          </a:p>
          <a:p xmlns:a="http://schemas.openxmlformats.org/drawingml/2006/main">
            <a:r>
              <a:t>028:         .SCORE_WIDTH(16),</a:t>
            </a:r>
          </a:p>
          <a:p xmlns:a="http://schemas.openxmlformats.org/drawingml/2006/main">
            <a:r>
              <a:t>029:         .THRESHOLD(16'd160)</a:t>
            </a:r>
          </a:p>
          <a:p xmlns:a="http://schemas.openxmlformats.org/drawingml/2006/main">
            <a:r>
              <a:t>030:     ) dut (</a:t>
            </a:r>
          </a:p>
          <a:p xmlns:a="http://schemas.openxmlformats.org/drawingml/2006/main">
            <a:r>
              <a:t>031:         .image_a_rgb(image_a_rgb),</a:t>
            </a:r>
          </a:p>
          <a:p xmlns:a="http://schemas.openxmlformats.org/drawingml/2006/main">
            <a:r>
              <a:t>032:         .image_b_rgb(image_b_rgb),</a:t>
            </a:r>
          </a:p>
          <a:p xmlns:a="http://schemas.openxmlformats.org/drawingml/2006/main">
            <a:r>
              <a:t>033:         .similarity_score(similarity_score),</a:t>
            </a:r>
          </a:p>
          <a:p xmlns:a="http://schemas.openxmlformats.org/drawingml/2006/main">
            <a:r>
              <a:t>034:         .image_a_has_person(image_a_has_person),</a:t>
            </a:r>
          </a:p>
          <a:p xmlns:a="http://schemas.openxmlformats.org/drawingml/2006/main">
            <a:r>
              <a:t>035:         .image_b_has_person(image_b_has_person),</a:t>
            </a:r>
          </a:p>
          <a:p xmlns:a="http://schemas.openxmlformats.org/drawingml/2006/main">
            <a:r>
              <a:t>036:         .same_person(same_person)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tb_rgb_from_mem.v</a:t>
            </a:r>
          </a:p>
          <a:p xmlns:a="http://schemas.openxmlformats.org/drawingml/2006/main">
            <a:r>
              <a:t>Lines: 37-54</a:t>
            </a:r>
          </a:p>
          <a:p xmlns:a="http://schemas.openxmlformats.org/drawingml/2006/main">
            <a:r>
              <a:t/>
            </a:r>
          </a:p>
          <a:p xmlns:a="http://schemas.openxmlformats.org/drawingml/2006/main">
            <a:r>
              <a:t>Explanation:</a:t>
            </a:r>
          </a:p>
          <a:p xmlns:a="http://schemas.openxmlformats.org/drawingml/2006/main">
            <a:r>
              <a:t>- Read image_a_rgb.mem and image_b_rgb.mem. Each line in the file is one 24-bit RGB pixel.</a:t>
            </a:r>
          </a:p>
          <a:p xmlns:a="http://schemas.openxmlformats.org/drawingml/2006/main">
            <a:r>
              <a:t>- Pack the 64 RGB pixels into the flattened image buses expected by the top module.</a:t>
            </a:r>
          </a:p>
          <a:p xmlns:a="http://schemas.openxmlformats.org/drawingml/2006/main">
            <a:r>
              <a:t>- Wait for combinational logic to settle and print score, object-present flags, and same_person.</a:t>
            </a:r>
          </a:p>
          <a:p xmlns:a="http://schemas.openxmlformats.org/drawingml/2006/main">
            <a:r>
              <a:t/>
            </a:r>
          </a:p>
          <a:p xmlns:a="http://schemas.openxmlformats.org/drawingml/2006/main">
            <a:r>
              <a:t>Code lines:</a:t>
            </a:r>
          </a:p>
          <a:p xmlns:a="http://schemas.openxmlformats.org/drawingml/2006/main">
            <a:r>
              <a:t>037:     );</a:t>
            </a:r>
          </a:p>
          <a:p xmlns:a="http://schemas.openxmlformats.org/drawingml/2006/main">
            <a:r>
              <a:t>038: </a:t>
            </a:r>
          </a:p>
          <a:p xmlns:a="http://schemas.openxmlformats.org/drawingml/2006/main">
            <a:r>
              <a:t>039:     initial begin</a:t>
            </a:r>
          </a:p>
          <a:p xmlns:a="http://schemas.openxmlformats.org/drawingml/2006/main">
            <a:r>
              <a:t>040:         $readmemh("image_a_rgb.mem", mem_a);</a:t>
            </a:r>
          </a:p>
          <a:p xmlns:a="http://schemas.openxmlformats.org/drawingml/2006/main">
            <a:r>
              <a:t>041:         $readmemh("image_b_rgb.mem", mem_b);</a:t>
            </a:r>
          </a:p>
          <a:p xmlns:a="http://schemas.openxmlformats.org/drawingml/2006/main">
            <a:r>
              <a:t>042: </a:t>
            </a:r>
          </a:p>
          <a:p xmlns:a="http://schemas.openxmlformats.org/drawingml/2006/main">
            <a:r>
              <a:t>043:         for (i = 0; i &lt; IMAGE_PIXELS; i = i + 1) begin</a:t>
            </a:r>
          </a:p>
          <a:p xmlns:a="http://schemas.openxmlformats.org/drawingml/2006/main">
            <a:r>
              <a:t>044:             image_a_rgb[i*RGB_PIXEL_WIDTH +: PIXEL_WIDTH] = mem_a[i][23:16];</a:t>
            </a:r>
          </a:p>
          <a:p xmlns:a="http://schemas.openxmlformats.org/drawingml/2006/main">
            <a:r>
              <a:t>045:             image_a_rgb[i*RGB_PIXEL_WIDTH + PIXEL_WIDTH +: PIXEL_WIDTH] = mem_a[i][15:8];</a:t>
            </a:r>
          </a:p>
          <a:p xmlns:a="http://schemas.openxmlformats.org/drawingml/2006/main">
            <a:r>
              <a:t>046:             image_a_rgb[i*RGB_PIXEL_WIDTH + 2*PIXEL_WIDTH +: PIXEL_WIDTH] = mem_a[i][7:0];</a:t>
            </a:r>
          </a:p>
          <a:p xmlns:a="http://schemas.openxmlformats.org/drawingml/2006/main">
            <a:r>
              <a:t>047: </a:t>
            </a:r>
          </a:p>
          <a:p xmlns:a="http://schemas.openxmlformats.org/drawingml/2006/main">
            <a:r>
              <a:t>048:             image_b_rgb[i*RGB_PIXEL_WIDTH +: PIXEL_WIDTH] = mem_b[i][23:16];</a:t>
            </a:r>
          </a:p>
          <a:p xmlns:a="http://schemas.openxmlformats.org/drawingml/2006/main">
            <a:r>
              <a:t>049:             image_b_rgb[i*RGB_PIXEL_WIDTH + PIXEL_WIDTH +: PIXEL_WIDTH] = mem_b[i][15:8];</a:t>
            </a:r>
          </a:p>
          <a:p xmlns:a="http://schemas.openxmlformats.org/drawingml/2006/main">
            <a:r>
              <a:t>050:             image_b_rgb[i*RGB_PIXEL_WIDTH + 2*PIXEL_WIDTH +: PIXEL_WIDTH] = mem_b[i][7:0];</a:t>
            </a:r>
          </a:p>
          <a:p xmlns:a="http://schemas.openxmlformats.org/drawingml/2006/main">
            <a:r>
              <a:t>051:         end</a:t>
            </a:r>
          </a:p>
          <a:p xmlns:a="http://schemas.openxmlformats.org/drawingml/2006/main">
            <a:r>
              <a:t>052: </a:t>
            </a:r>
          </a:p>
          <a:p xmlns:a="http://schemas.openxmlformats.org/drawingml/2006/main">
            <a:r>
              <a:t>053:         #10;</a:t>
            </a:r>
          </a:p>
          <a:p xmlns:a="http://schemas.openxmlformats.org/drawingml/2006/main">
            <a:r>
              <a:t>054: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tb_rgb_from_mem.v</a:t>
            </a:r>
          </a:p>
          <a:p xmlns:a="http://schemas.openxmlformats.org/drawingml/2006/main">
            <a:r>
              <a:t>Lines: 55-69</a:t>
            </a:r>
          </a:p>
          <a:p xmlns:a="http://schemas.openxmlformats.org/drawingml/2006/main">
            <a:r>
              <a:t/>
            </a:r>
          </a:p>
          <a:p xmlns:a="http://schemas.openxmlformats.org/drawingml/2006/main">
            <a:r>
              <a:t>Explanation:</a:t>
            </a:r>
          </a:p>
          <a:p xmlns:a="http://schemas.openxmlformats.org/drawingml/2006/main">
            <a:r>
              <a:t>- Wait for combinational logic to settle and print score, object-present flags, and same_person.</a:t>
            </a:r>
          </a:p>
          <a:p xmlns:a="http://schemas.openxmlformats.org/drawingml/2006/main">
            <a:r>
              <a:t>- Print a plain-language result and end the simulation.</a:t>
            </a:r>
          </a:p>
          <a:p xmlns:a="http://schemas.openxmlformats.org/drawingml/2006/main">
            <a:r>
              <a:t/>
            </a:r>
          </a:p>
          <a:p xmlns:a="http://schemas.openxmlformats.org/drawingml/2006/main">
            <a:r>
              <a:t>Code lines:</a:t>
            </a:r>
          </a:p>
          <a:p xmlns:a="http://schemas.openxmlformats.org/drawingml/2006/main">
            <a:r>
              <a:t>055:         $display("Loaded image_a_rgb.mem and image_b_rgb.mem");</a:t>
            </a:r>
          </a:p>
          <a:p xmlns:a="http://schemas.openxmlformats.org/drawingml/2006/main">
            <a:r>
              <a:t>056:         $display("similarity_score=%0d", similarity_score);</a:t>
            </a:r>
          </a:p>
          <a:p xmlns:a="http://schemas.openxmlformats.org/drawingml/2006/main">
            <a:r>
              <a:t>057:         $display("image_a_has_person=%0b", image_a_has_person);</a:t>
            </a:r>
          </a:p>
          <a:p xmlns:a="http://schemas.openxmlformats.org/drawingml/2006/main">
            <a:r>
              <a:t>058:         $display("image_b_has_person=%0b", image_b_has_person);</a:t>
            </a:r>
          </a:p>
          <a:p xmlns:a="http://schemas.openxmlformats.org/drawingml/2006/main">
            <a:r>
              <a:t>059:         $display("same_person=%0b", same_person);</a:t>
            </a:r>
          </a:p>
          <a:p xmlns:a="http://schemas.openxmlformats.org/drawingml/2006/main">
            <a:r>
              <a:t>060: </a:t>
            </a:r>
          </a:p>
          <a:p xmlns:a="http://schemas.openxmlformats.org/drawingml/2006/main">
            <a:r>
              <a:t>061:         if (same_person)</a:t>
            </a:r>
          </a:p>
          <a:p xmlns:a="http://schemas.openxmlformats.org/drawingml/2006/main">
            <a:r>
              <a:t>062:             $display("RESULT: probably the same person");</a:t>
            </a:r>
          </a:p>
          <a:p xmlns:a="http://schemas.openxmlformats.org/drawingml/2006/main">
            <a:r>
              <a:t>063:         else</a:t>
            </a:r>
          </a:p>
          <a:p xmlns:a="http://schemas.openxmlformats.org/drawingml/2006/main">
            <a:r>
              <a:t>064:             $display("RESULT: probably different people or no person detected");</a:t>
            </a:r>
          </a:p>
          <a:p xmlns:a="http://schemas.openxmlformats.org/drawingml/2006/main">
            <a:r>
              <a:t>065: </a:t>
            </a:r>
          </a:p>
          <a:p xmlns:a="http://schemas.openxmlformats.org/drawingml/2006/main">
            <a:r>
              <a:t>066:         $finish;</a:t>
            </a:r>
          </a:p>
          <a:p xmlns:a="http://schemas.openxmlformats.org/drawingml/2006/main">
            <a:r>
              <a:t>067:     end</a:t>
            </a:r>
          </a:p>
          <a:p xmlns:a="http://schemas.openxmlformats.org/drawingml/2006/main">
            <a:r>
              <a:t>068: </a:t>
            </a:r>
          </a:p>
          <a:p xmlns:a="http://schemas.openxmlformats.org/drawingml/2006/main">
            <a:r>
              <a:t>069: endmodule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command: powershell -ExecutionPolicy Bypass -File .\convert_images_to_rgb_mem.ps1 -ImageA .\person_a.jpg -ImageB .\person_b.jpg. Then run do run_rgb_from_mem.do.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ac0e25cdf445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1e1e7419604dc2" /><Relationship Type="http://schemas.openxmlformats.org/officeDocument/2006/relationships/slideLayout" Target="/ppt/slideLayouts/slideLayout1.xml" Id="Rbee71356680e4b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e71356680e4b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eebcda9d2b4209" /><Relationship Type="http://schemas.openxmlformats.org/officeDocument/2006/relationships/notesSlide" Target="/ppt/notesSlides/notesSlide1.xml" Id="Rb1009b255ed346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9241628403c438e" /><Relationship Type="http://schemas.openxmlformats.org/officeDocument/2006/relationships/notesSlide" Target="/ppt/notesSlides/notesSlide2.xml" Id="R4f43845d30ca4b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22f7370b094494" /><Relationship Type="http://schemas.openxmlformats.org/officeDocument/2006/relationships/notesSlide" Target="/ppt/notesSlides/notesSlide3.xml" Id="Re4ad225431dd4b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bd95230608b469f" /><Relationship Type="http://schemas.openxmlformats.org/officeDocument/2006/relationships/notesSlide" Target="/ppt/notesSlides/notesSlide4.xml" Id="R3c08a6864ba04c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d8d8804486f45a8" /><Relationship Type="http://schemas.openxmlformats.org/officeDocument/2006/relationships/notesSlide" Target="/ppt/notesSlides/notesSlide5.xml" Id="R06e72424ea514c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8c58f13a68a4fd6" /><Relationship Type="http://schemas.openxmlformats.org/officeDocument/2006/relationships/notesSlide" Target="/ppt/notesSlides/notesSlide6.xml" Id="Re91726260b554d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1e9a365d8194202" /><Relationship Type="http://schemas.openxmlformats.org/officeDocument/2006/relationships/notesSlide" Target="/ppt/notesSlides/notesSlide7.xml" Id="R6cf6843029444e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b8413ba08724ce3" /><Relationship Type="http://schemas.openxmlformats.org/officeDocument/2006/relationships/notesSlide" Target="/ppt/notesSlides/notesSlide8.xml" Id="Rf23db242c0ab4a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54dbc3167ea401e" /><Relationship Type="http://schemas.openxmlformats.org/officeDocument/2006/relationships/image" Target="/ppt/media/image.png" Id="Rde89f1432d6240f4" /><Relationship Type="http://schemas.openxmlformats.org/officeDocument/2006/relationships/notesSlide" Target="/ppt/notesSlides/notesSlide9.xml" Id="R2d8002c86f1b4c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9a83ec2015b4d56" /><Relationship Type="http://schemas.openxmlformats.org/officeDocument/2006/relationships/image" Target="/ppt/media/image2.png" Id="R93416fd2b48f4d30" /><Relationship Type="http://schemas.openxmlformats.org/officeDocument/2006/relationships/notesSlide" Target="/ppt/notesSlides/notesSlide10.xml" Id="R6cf2f3bd98f94f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49e3d0ea20442ab" /><Relationship Type="http://schemas.openxmlformats.org/officeDocument/2006/relationships/image" Target="/ppt/media/image3.png" Id="R9e2e694a9c554433" /><Relationship Type="http://schemas.openxmlformats.org/officeDocument/2006/relationships/notesSlide" Target="/ppt/notesSlides/notesSlide11.xml" Id="R43782110887d45e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e648590ff094558" /><Relationship Type="http://schemas.openxmlformats.org/officeDocument/2006/relationships/image" Target="/ppt/media/image4.png" Id="R480b7c0c828d4f75" /><Relationship Type="http://schemas.openxmlformats.org/officeDocument/2006/relationships/notesSlide" Target="/ppt/notesSlides/notesSlide12.xml" Id="Rda274777e19a4ba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2d1fcb71b81473d" /><Relationship Type="http://schemas.openxmlformats.org/officeDocument/2006/relationships/image" Target="/ppt/media/image5.png" Id="R0bd12ecacbe14264" /><Relationship Type="http://schemas.openxmlformats.org/officeDocument/2006/relationships/notesSlide" Target="/ppt/notesSlides/notesSlide13.xml" Id="Rc1c375e8f9dd4a6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05cfa585a4c4a3a" /><Relationship Type="http://schemas.openxmlformats.org/officeDocument/2006/relationships/image" Target="/ppt/media/image6.png" Id="Re3650831f1464743" /><Relationship Type="http://schemas.openxmlformats.org/officeDocument/2006/relationships/notesSlide" Target="/ppt/notesSlides/notesSlide14.xml" Id="R5a44b43091d24b6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e0330337b08453c" /><Relationship Type="http://schemas.openxmlformats.org/officeDocument/2006/relationships/image" Target="/ppt/media/image7.png" Id="Rb8f964a3c8d740e2" /><Relationship Type="http://schemas.openxmlformats.org/officeDocument/2006/relationships/notesSlide" Target="/ppt/notesSlides/notesSlide15.xml" Id="R124912982f5645a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1313cf248b44af0" /><Relationship Type="http://schemas.openxmlformats.org/officeDocument/2006/relationships/image" Target="/ppt/media/image8.png" Id="R5ac9b4a4b99c4361" /><Relationship Type="http://schemas.openxmlformats.org/officeDocument/2006/relationships/notesSlide" Target="/ppt/notesSlides/notesSlide16.xml" Id="R650986cbbeb3498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955778062f546e3" /><Relationship Type="http://schemas.openxmlformats.org/officeDocument/2006/relationships/image" Target="/ppt/media/image9.png" Id="R3a5a0b3451464dc0" /><Relationship Type="http://schemas.openxmlformats.org/officeDocument/2006/relationships/notesSlide" Target="/ppt/notesSlides/notesSlide17.xml" Id="Re95bb654d89e421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13795c56e7c4d9e" /><Relationship Type="http://schemas.openxmlformats.org/officeDocument/2006/relationships/image" Target="/ppt/media/image10.png" Id="R6b00089509f147cb" /><Relationship Type="http://schemas.openxmlformats.org/officeDocument/2006/relationships/notesSlide" Target="/ppt/notesSlides/notesSlide18.xml" Id="R2b85e0ca500e41f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7d485688b984cd4" /><Relationship Type="http://schemas.openxmlformats.org/officeDocument/2006/relationships/image" Target="/ppt/media/image11.png" Id="R4c3a1a6d334c4fc9" /><Relationship Type="http://schemas.openxmlformats.org/officeDocument/2006/relationships/notesSlide" Target="/ppt/notesSlides/notesSlide19.xml" Id="Rf266a51305994b2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43f35a14bb64e1d" /><Relationship Type="http://schemas.openxmlformats.org/officeDocument/2006/relationships/image" Target="/ppt/media/image12.png" Id="Rd9a1f11368684f4e" /><Relationship Type="http://schemas.openxmlformats.org/officeDocument/2006/relationships/notesSlide" Target="/ppt/notesSlides/notesSlide20.xml" Id="R930024cf8bca44f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efca344453e4967" /><Relationship Type="http://schemas.openxmlformats.org/officeDocument/2006/relationships/image" Target="/ppt/media/image13.png" Id="Rd7fbab8ec5dc44f4" /><Relationship Type="http://schemas.openxmlformats.org/officeDocument/2006/relationships/notesSlide" Target="/ppt/notesSlides/notesSlide21.xml" Id="Rb3aed792833e479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06d4e2799ed4856" /><Relationship Type="http://schemas.openxmlformats.org/officeDocument/2006/relationships/image" Target="/ppt/media/image14.png" Id="R24b283a1adf647c9" /><Relationship Type="http://schemas.openxmlformats.org/officeDocument/2006/relationships/notesSlide" Target="/ppt/notesSlides/notesSlide22.xml" Id="R189aa541b0544da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ef6f0aa68164951" /><Relationship Type="http://schemas.openxmlformats.org/officeDocument/2006/relationships/image" Target="/ppt/media/image15.png" Id="R8e9c1c4a892640d4" /><Relationship Type="http://schemas.openxmlformats.org/officeDocument/2006/relationships/notesSlide" Target="/ppt/notesSlides/notesSlide23.xml" Id="R7c6a2876ce97415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bc2b4f3a43449f0" /><Relationship Type="http://schemas.openxmlformats.org/officeDocument/2006/relationships/image" Target="/ppt/media/image16.png" Id="Rabe3d75ef396445d" /><Relationship Type="http://schemas.openxmlformats.org/officeDocument/2006/relationships/notesSlide" Target="/ppt/notesSlides/notesSlide24.xml" Id="Rf37e8785c86741c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dd9d556121e4559" /><Relationship Type="http://schemas.openxmlformats.org/officeDocument/2006/relationships/image" Target="/ppt/media/image17.png" Id="R9cba62cb293a4448" /><Relationship Type="http://schemas.openxmlformats.org/officeDocument/2006/relationships/notesSlide" Target="/ppt/notesSlides/notesSlide25.xml" Id="Raa13ebbff6ed4ee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28363b98dce4f83" /><Relationship Type="http://schemas.openxmlformats.org/officeDocument/2006/relationships/image" Target="/ppt/media/image18.png" Id="Rc674aa3ddf874566" /><Relationship Type="http://schemas.openxmlformats.org/officeDocument/2006/relationships/notesSlide" Target="/ppt/notesSlides/notesSlide26.xml" Id="R588afcc25f25400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9496e79440249c6" /><Relationship Type="http://schemas.openxmlformats.org/officeDocument/2006/relationships/image" Target="/ppt/media/image19.png" Id="R36cfd8dcb167477f" /><Relationship Type="http://schemas.openxmlformats.org/officeDocument/2006/relationships/notesSlide" Target="/ppt/notesSlides/notesSlide27.xml" Id="Re440915a83af4f4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aa87eea395e4525" /><Relationship Type="http://schemas.openxmlformats.org/officeDocument/2006/relationships/image" Target="/ppt/media/image20.png" Id="Rc8e6c3113bb54482" /><Relationship Type="http://schemas.openxmlformats.org/officeDocument/2006/relationships/notesSlide" Target="/ppt/notesSlides/notesSlide28.xml" Id="R9c3f011d99a9495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18f975ab46e431c" /><Relationship Type="http://schemas.openxmlformats.org/officeDocument/2006/relationships/image" Target="/ppt/media/image21.png" Id="R24fa6f71cad24c71" /><Relationship Type="http://schemas.openxmlformats.org/officeDocument/2006/relationships/notesSlide" Target="/ppt/notesSlides/notesSlide29.xml" Id="Rc4ef5f6a3f4f49a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8315c37242f4ccc" /><Relationship Type="http://schemas.openxmlformats.org/officeDocument/2006/relationships/image" Target="/ppt/media/image22.png" Id="Ra1c03d4883354777" /><Relationship Type="http://schemas.openxmlformats.org/officeDocument/2006/relationships/notesSlide" Target="/ppt/notesSlides/notesSlide30.xml" Id="Rf6f6370b08294ab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0df550a3d4b4464" /><Relationship Type="http://schemas.openxmlformats.org/officeDocument/2006/relationships/image" Target="/ppt/media/image23.png" Id="Refe725e2bad24604" /><Relationship Type="http://schemas.openxmlformats.org/officeDocument/2006/relationships/notesSlide" Target="/ppt/notesSlides/notesSlide31.xml" Id="Rb0b1689fc5d8466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e1ec2cee3664a5b" /><Relationship Type="http://schemas.openxmlformats.org/officeDocument/2006/relationships/image" Target="/ppt/media/image24.png" Id="Rba28a4881a0e46a1" /><Relationship Type="http://schemas.openxmlformats.org/officeDocument/2006/relationships/notesSlide" Target="/ppt/notesSlides/notesSlide32.xml" Id="R160b695882994d3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7b799dd57d1422f" /><Relationship Type="http://schemas.openxmlformats.org/officeDocument/2006/relationships/image" Target="/ppt/media/image25.png" Id="Rb8bd5631fcec47bc" /><Relationship Type="http://schemas.openxmlformats.org/officeDocument/2006/relationships/notesSlide" Target="/ppt/notesSlides/notesSlide33.xml" Id="R1cf17987da7449a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7a5a1c08f164072" /><Relationship Type="http://schemas.openxmlformats.org/officeDocument/2006/relationships/image" Target="/ppt/media/image26.png" Id="R2f56676eb6e84cbf" /><Relationship Type="http://schemas.openxmlformats.org/officeDocument/2006/relationships/notesSlide" Target="/ppt/notesSlides/notesSlide34.xml" Id="Rece099500b104d2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909aac294f54b52" /><Relationship Type="http://schemas.openxmlformats.org/officeDocument/2006/relationships/image" Target="/ppt/media/image27.png" Id="R9962c96717b5425d" /><Relationship Type="http://schemas.openxmlformats.org/officeDocument/2006/relationships/notesSlide" Target="/ppt/notesSlides/notesSlide35.xml" Id="Rdae1e2b71b3d4d4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0548eda4e2d45f4" /><Relationship Type="http://schemas.openxmlformats.org/officeDocument/2006/relationships/image" Target="/ppt/media/image28.png" Id="Re625899d76bc4b06" /><Relationship Type="http://schemas.openxmlformats.org/officeDocument/2006/relationships/notesSlide" Target="/ppt/notesSlides/notesSlide36.xml" Id="R8452b7fb9b3d464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2524ab9b75145f4" /><Relationship Type="http://schemas.openxmlformats.org/officeDocument/2006/relationships/notesSlide" Target="/ppt/notesSlides/notesSlide37.xml" Id="Rdf46056a25ce49fa"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A14B97C-B9C5-4E4D-BDAF-3382E003C373}"/>
              </a:ext>
            </a:extLst>
          </p:cNvPr>
          <p:cNvSpPr>
            <a:spLocks xmlns:a="http://schemas.openxmlformats.org/drawingml/2006/main" noGrp="1"/>
          </p:cNvSpPr>
          <p:nvPr/>
        </p:nvSpPr>
        <p:spPr>
          <a:xfrm xmlns:a="http://schemas.openxmlformats.org/drawingml/2006/main">
            <a:off x="685800" y="1123950"/>
            <a:ext cx="914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3150" b="1">
                <a:solidFill>
                  <a:srgbClr val="0F172A"/>
                </a:solidFill>
                <a:latin typeface="Microsoft JhengHei"/>
                <a:ea typeface="Microsoft JhengHei"/>
                <a:cs typeface="Microsoft JhengHei"/>
              </a:defRPr>
            </a:pPr>
            <a:r>
              <a:rPr sz="3150" b="1">
                <a:solidFill>
                  <a:srgbClr val="0F172A"/>
                </a:solidFill>
                <a:latin typeface="Microsoft JhengHei"/>
                <a:ea typeface="Microsoft JhengHei"/>
                <a:cs typeface="Microsoft JhengHei"/>
              </a:rPr>
              <a:t>Two-Image Person Re-Identification</a:t>
            </a:r>
          </a:p>
        </p:txBody>
      </p:sp>
      <p:sp>
        <p:nvSpPr>
          <p:cNvPr id="2" name="">
            <a:extLst xmlns:a="http://schemas.openxmlformats.org/drawingml/2006/main">
              <a:ext uri="{FF2B5EF4-FFF2-40B4-BE49-F238E27FC236}">
                <a16:creationId xmlns:a16="http://schemas.microsoft.com/office/drawing/2014/main" id="{72FFF4BB-FF8B-415E-AAB0-49F0474AD56C}"/>
              </a:ext>
            </a:extLst>
          </p:cNvPr>
          <p:cNvSpPr>
            <a:spLocks xmlns:a="http://schemas.openxmlformats.org/drawingml/2006/main" noGrp="1"/>
          </p:cNvSpPr>
          <p:nvPr/>
        </p:nvSpPr>
        <p:spPr>
          <a:xfrm xmlns:a="http://schemas.openxmlformats.org/drawingml/2006/main">
            <a:off x="685800" y="1962150"/>
            <a:ext cx="857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0">
                <a:solidFill>
                  <a:srgbClr val="475569"/>
                </a:solidFill>
                <a:latin typeface="Microsoft JhengHei"/>
                <a:ea typeface="Microsoft JhengHei"/>
                <a:cs typeface="Microsoft JhengHei"/>
              </a:defRPr>
            </a:pPr>
            <a:r>
              <a:rPr sz="1875" b="0">
                <a:solidFill>
                  <a:srgbClr val="475569"/>
                </a:solidFill>
                <a:latin typeface="Microsoft JhengHei"/>
                <a:ea typeface="Microsoft JhengHei"/>
                <a:cs typeface="Microsoft JhengHei"/>
              </a:rPr>
              <a:t>Verilog prototype based on visual channel and neighboring pixel color difference</a:t>
            </a:r>
          </a:p>
        </p:txBody>
      </p:sp>
      <p:sp>
        <p:nvSpPr>
          <p:cNvPr id="3" name="">
            <a:extLst xmlns:a="http://schemas.openxmlformats.org/drawingml/2006/main">
              <a:ext uri="{FF2B5EF4-FFF2-40B4-BE49-F238E27FC236}">
                <a16:creationId xmlns:a16="http://schemas.microsoft.com/office/drawing/2014/main" id="{61F3C2F1-3F98-4222-BD0A-E3E1855A16CD}"/>
              </a:ext>
            </a:extLst>
          </p:cNvPr>
          <p:cNvSpPr>
            <a:spLocks xmlns:a="http://schemas.openxmlformats.org/drawingml/2006/main" noGrp="1"/>
          </p:cNvSpPr>
          <p:nvPr/>
        </p:nvSpPr>
        <p:spPr>
          <a:xfrm xmlns:a="http://schemas.openxmlformats.org/drawingml/2006/main">
            <a:off x="8001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3DF40BF0-6EF0-4743-B0A5-9A6B03B1F260}"/>
              </a:ext>
            </a:extLst>
          </p:cNvPr>
          <p:cNvSpPr>
            <a:spLocks xmlns:a="http://schemas.openxmlformats.org/drawingml/2006/main" noGrp="1"/>
          </p:cNvSpPr>
          <p:nvPr/>
        </p:nvSpPr>
        <p:spPr>
          <a:xfrm xmlns:a="http://schemas.openxmlformats.org/drawingml/2006/main">
            <a:off x="9715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RGB image</a:t>
            </a:r>
          </a:p>
        </p:txBody>
      </p:sp>
      <p:sp>
        <p:nvSpPr>
          <p:cNvPr id="5" name="">
            <a:extLst xmlns:a="http://schemas.openxmlformats.org/drawingml/2006/main">
              <a:ext uri="{FF2B5EF4-FFF2-40B4-BE49-F238E27FC236}">
                <a16:creationId xmlns:a16="http://schemas.microsoft.com/office/drawing/2014/main" id="{8E009976-4E83-43BE-9657-C23E3C540283}"/>
              </a:ext>
            </a:extLst>
          </p:cNvPr>
          <p:cNvSpPr>
            <a:spLocks xmlns:a="http://schemas.openxmlformats.org/drawingml/2006/main" noGrp="1"/>
          </p:cNvSpPr>
          <p:nvPr/>
        </p:nvSpPr>
        <p:spPr>
          <a:xfrm xmlns:a="http://schemas.openxmlformats.org/drawingml/2006/main">
            <a:off x="26860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6" name="">
            <a:extLst xmlns:a="http://schemas.openxmlformats.org/drawingml/2006/main">
              <a:ext uri="{FF2B5EF4-FFF2-40B4-BE49-F238E27FC236}">
                <a16:creationId xmlns:a16="http://schemas.microsoft.com/office/drawing/2014/main" id="{ABF37F17-3D67-4E6D-9689-30E48D6F78D2}"/>
              </a:ext>
            </a:extLst>
          </p:cNvPr>
          <p:cNvSpPr>
            <a:spLocks xmlns:a="http://schemas.openxmlformats.org/drawingml/2006/main" noGrp="1"/>
          </p:cNvSpPr>
          <p:nvPr/>
        </p:nvSpPr>
        <p:spPr>
          <a:xfrm xmlns:a="http://schemas.openxmlformats.org/drawingml/2006/main">
            <a:off x="29718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7" name="">
            <a:extLst xmlns:a="http://schemas.openxmlformats.org/drawingml/2006/main">
              <a:ext uri="{FF2B5EF4-FFF2-40B4-BE49-F238E27FC236}">
                <a16:creationId xmlns:a16="http://schemas.microsoft.com/office/drawing/2014/main" id="{DEA0E14D-E77A-4AAD-AF28-4398BFDB43EF}"/>
              </a:ext>
            </a:extLst>
          </p:cNvPr>
          <p:cNvSpPr>
            <a:spLocks xmlns:a="http://schemas.openxmlformats.org/drawingml/2006/main" noGrp="1"/>
          </p:cNvSpPr>
          <p:nvPr/>
        </p:nvSpPr>
        <p:spPr>
          <a:xfrm xmlns:a="http://schemas.openxmlformats.org/drawingml/2006/main">
            <a:off x="31432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Feature extraction</a:t>
            </a:r>
          </a:p>
        </p:txBody>
      </p:sp>
      <p:sp>
        <p:nvSpPr>
          <p:cNvPr id="8" name="">
            <a:extLst xmlns:a="http://schemas.openxmlformats.org/drawingml/2006/main">
              <a:ext uri="{FF2B5EF4-FFF2-40B4-BE49-F238E27FC236}">
                <a16:creationId xmlns:a16="http://schemas.microsoft.com/office/drawing/2014/main" id="{7A204B3D-B50D-4678-AADC-81971493D5DB}"/>
              </a:ext>
            </a:extLst>
          </p:cNvPr>
          <p:cNvSpPr>
            <a:spLocks xmlns:a="http://schemas.openxmlformats.org/drawingml/2006/main" noGrp="1"/>
          </p:cNvSpPr>
          <p:nvPr/>
        </p:nvSpPr>
        <p:spPr>
          <a:xfrm xmlns:a="http://schemas.openxmlformats.org/drawingml/2006/main">
            <a:off x="48577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9" name="">
            <a:extLst xmlns:a="http://schemas.openxmlformats.org/drawingml/2006/main">
              <a:ext uri="{FF2B5EF4-FFF2-40B4-BE49-F238E27FC236}">
                <a16:creationId xmlns:a16="http://schemas.microsoft.com/office/drawing/2014/main" id="{807A0A4E-3ADC-4820-94F4-D63C1F428C98}"/>
              </a:ext>
            </a:extLst>
          </p:cNvPr>
          <p:cNvSpPr>
            <a:spLocks xmlns:a="http://schemas.openxmlformats.org/drawingml/2006/main" noGrp="1"/>
          </p:cNvSpPr>
          <p:nvPr/>
        </p:nvSpPr>
        <p:spPr>
          <a:xfrm xmlns:a="http://schemas.openxmlformats.org/drawingml/2006/main">
            <a:off x="51435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0" name="">
            <a:extLst xmlns:a="http://schemas.openxmlformats.org/drawingml/2006/main">
              <a:ext uri="{FF2B5EF4-FFF2-40B4-BE49-F238E27FC236}">
                <a16:creationId xmlns:a16="http://schemas.microsoft.com/office/drawing/2014/main" id="{82074FEB-1341-4F3D-B255-67A9F344049D}"/>
              </a:ext>
            </a:extLst>
          </p:cNvPr>
          <p:cNvSpPr>
            <a:spLocks xmlns:a="http://schemas.openxmlformats.org/drawingml/2006/main" noGrp="1"/>
          </p:cNvSpPr>
          <p:nvPr/>
        </p:nvSpPr>
        <p:spPr>
          <a:xfrm xmlns:a="http://schemas.openxmlformats.org/drawingml/2006/main">
            <a:off x="53149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Neighbor difference</a:t>
            </a:r>
          </a:p>
        </p:txBody>
      </p:sp>
      <p:sp>
        <p:nvSpPr>
          <p:cNvPr id="11" name="">
            <a:extLst xmlns:a="http://schemas.openxmlformats.org/drawingml/2006/main">
              <a:ext uri="{FF2B5EF4-FFF2-40B4-BE49-F238E27FC236}">
                <a16:creationId xmlns:a16="http://schemas.microsoft.com/office/drawing/2014/main" id="{3EC353D8-DF61-4236-BE81-081C4DEF8665}"/>
              </a:ext>
            </a:extLst>
          </p:cNvPr>
          <p:cNvSpPr>
            <a:spLocks xmlns:a="http://schemas.openxmlformats.org/drawingml/2006/main" noGrp="1"/>
          </p:cNvSpPr>
          <p:nvPr/>
        </p:nvSpPr>
        <p:spPr>
          <a:xfrm xmlns:a="http://schemas.openxmlformats.org/drawingml/2006/main">
            <a:off x="70294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12" name="">
            <a:extLst xmlns:a="http://schemas.openxmlformats.org/drawingml/2006/main">
              <a:ext uri="{FF2B5EF4-FFF2-40B4-BE49-F238E27FC236}">
                <a16:creationId xmlns:a16="http://schemas.microsoft.com/office/drawing/2014/main" id="{6478D816-8A1D-4538-8FF0-F04A15834A5F}"/>
              </a:ext>
            </a:extLst>
          </p:cNvPr>
          <p:cNvSpPr>
            <a:spLocks xmlns:a="http://schemas.openxmlformats.org/drawingml/2006/main" noGrp="1"/>
          </p:cNvSpPr>
          <p:nvPr/>
        </p:nvSpPr>
        <p:spPr>
          <a:xfrm xmlns:a="http://schemas.openxmlformats.org/drawingml/2006/main">
            <a:off x="73152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3" name="">
            <a:extLst xmlns:a="http://schemas.openxmlformats.org/drawingml/2006/main">
              <a:ext uri="{FF2B5EF4-FFF2-40B4-BE49-F238E27FC236}">
                <a16:creationId xmlns:a16="http://schemas.microsoft.com/office/drawing/2014/main" id="{8657D180-22F2-4BD6-AA26-3077F9411A43}"/>
              </a:ext>
            </a:extLst>
          </p:cNvPr>
          <p:cNvSpPr>
            <a:spLocks xmlns:a="http://schemas.openxmlformats.org/drawingml/2006/main" noGrp="1"/>
          </p:cNvSpPr>
          <p:nvPr/>
        </p:nvSpPr>
        <p:spPr>
          <a:xfrm xmlns:a="http://schemas.openxmlformats.org/drawingml/2006/main">
            <a:off x="74866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Weighted match</a:t>
            </a:r>
          </a:p>
        </p:txBody>
      </p:sp>
      <p:sp>
        <p:nvSpPr>
          <p:cNvPr id="14" name="">
            <a:extLst xmlns:a="http://schemas.openxmlformats.org/drawingml/2006/main">
              <a:ext uri="{FF2B5EF4-FFF2-40B4-BE49-F238E27FC236}">
                <a16:creationId xmlns:a16="http://schemas.microsoft.com/office/drawing/2014/main" id="{DB239096-C9D8-4BE1-B700-351901169BC0}"/>
              </a:ext>
            </a:extLst>
          </p:cNvPr>
          <p:cNvSpPr>
            <a:spLocks xmlns:a="http://schemas.openxmlformats.org/drawingml/2006/main" noGrp="1"/>
          </p:cNvSpPr>
          <p:nvPr/>
        </p:nvSpPr>
        <p:spPr>
          <a:xfrm xmlns:a="http://schemas.openxmlformats.org/drawingml/2006/main">
            <a:off x="92011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15" name="">
            <a:extLst xmlns:a="http://schemas.openxmlformats.org/drawingml/2006/main">
              <a:ext uri="{FF2B5EF4-FFF2-40B4-BE49-F238E27FC236}">
                <a16:creationId xmlns:a16="http://schemas.microsoft.com/office/drawing/2014/main" id="{5E3BFBC4-A382-4069-8BD3-C5C6C03E361C}"/>
              </a:ext>
            </a:extLst>
          </p:cNvPr>
          <p:cNvSpPr>
            <a:spLocks xmlns:a="http://schemas.openxmlformats.org/drawingml/2006/main" noGrp="1"/>
          </p:cNvSpPr>
          <p:nvPr/>
        </p:nvSpPr>
        <p:spPr>
          <a:xfrm xmlns:a="http://schemas.openxmlformats.org/drawingml/2006/main">
            <a:off x="94869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6" name="">
            <a:extLst xmlns:a="http://schemas.openxmlformats.org/drawingml/2006/main">
              <a:ext uri="{FF2B5EF4-FFF2-40B4-BE49-F238E27FC236}">
                <a16:creationId xmlns:a16="http://schemas.microsoft.com/office/drawing/2014/main" id="{98295776-BE33-425C-85D3-8DD195336D9E}"/>
              </a:ext>
            </a:extLst>
          </p:cNvPr>
          <p:cNvSpPr>
            <a:spLocks xmlns:a="http://schemas.openxmlformats.org/drawingml/2006/main" noGrp="1"/>
          </p:cNvSpPr>
          <p:nvPr/>
        </p:nvSpPr>
        <p:spPr>
          <a:xfrm xmlns:a="http://schemas.openxmlformats.org/drawingml/2006/main">
            <a:off x="96583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same_person</a:t>
            </a:r>
          </a:p>
        </p:txBody>
      </p:sp>
      <p:sp>
        <p:nvSpPr>
          <p:cNvPr id="17" name="">
            <a:extLst xmlns:a="http://schemas.openxmlformats.org/drawingml/2006/main">
              <a:ext uri="{FF2B5EF4-FFF2-40B4-BE49-F238E27FC236}">
                <a16:creationId xmlns:a16="http://schemas.microsoft.com/office/drawing/2014/main" id="{56A1F4A5-DB62-4BCC-B77E-715ACB099FC8}"/>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01</a:t>
            </a:r>
          </a:p>
        </p:txBody>
      </p:sp>
    </p:spTree>
    <p:extLst>
      <p:ext uri="{BB962C8B-B14F-4D97-AF65-F5344CB8AC3E}">
        <p14:creationId xmlns:p14="http://schemas.microsoft.com/office/powerpoint/2010/main" val="1893929020"/>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EC9340-01BC-4221-8F70-075B25FB51BF}"/>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Reference Concepts</a:t>
            </a:r>
          </a:p>
        </p:txBody>
      </p:sp>
      <p:sp>
        <p:nvSpPr>
          <p:cNvPr id="2" name="">
            <a:extLst xmlns:a="http://schemas.openxmlformats.org/drawingml/2006/main">
              <a:ext uri="{FF2B5EF4-FFF2-40B4-BE49-F238E27FC236}">
                <a16:creationId xmlns:a16="http://schemas.microsoft.com/office/drawing/2014/main" id="{EF6B670B-CC28-4C4D-9E13-8DA8BF1C054A}"/>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Ideas borrowed from the three provided papers</a:t>
            </a:r>
          </a:p>
        </p:txBody>
      </p:sp>
      <p:sp>
        <p:nvSpPr>
          <p:cNvPr id="3" name="">
            <a:extLst xmlns:a="http://schemas.openxmlformats.org/drawingml/2006/main">
              <a:ext uri="{FF2B5EF4-FFF2-40B4-BE49-F238E27FC236}">
                <a16:creationId xmlns:a16="http://schemas.microsoft.com/office/drawing/2014/main" id="{E07BF9B2-BD91-4C03-BD6B-122555C343FF}"/>
              </a:ext>
            </a:extLst>
          </p:cNvPr>
          <p:cNvSpPr>
            <a:spLocks xmlns:a="http://schemas.openxmlformats.org/drawingml/2006/main" noGrp="1"/>
          </p:cNvSpPr>
          <p:nvPr/>
        </p:nvSpPr>
        <p:spPr>
          <a:xfrm xmlns:a="http://schemas.openxmlformats.org/drawingml/2006/main">
            <a:off x="762000" y="1657350"/>
            <a:ext cx="106680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024584EC-D9E6-4730-8283-C19F68F2E09B}"/>
              </a:ext>
            </a:extLst>
          </p:cNvPr>
          <p:cNvSpPr>
            <a:spLocks xmlns:a="http://schemas.openxmlformats.org/drawingml/2006/main" noGrp="1"/>
          </p:cNvSpPr>
          <p:nvPr/>
        </p:nvSpPr>
        <p:spPr>
          <a:xfrm xmlns:a="http://schemas.openxmlformats.org/drawingml/2006/main">
            <a:off x="990600" y="1866900"/>
            <a:ext cx="10210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0">
                <a:solidFill>
                  <a:srgbClr val="0F172A"/>
                </a:solidFill>
                <a:latin typeface="Microsoft JhengHei"/>
                <a:ea typeface="Microsoft JhengHei"/>
                <a:cs typeface="Microsoft JhengHei"/>
              </a:defRPr>
            </a:pPr>
            <a:r>
              <a:rPr sz="1800" b="0">
                <a:solidFill>
                  <a:srgbClr val="0F172A"/>
                </a:solidFill>
                <a:latin typeface="Microsoft JhengHei"/>
                <a:ea typeface="Microsoft JhengHei"/>
                <a:cs typeface="Microsoft JhengHei"/>
              </a:rPr>
              <a:t>- Visual Channel Model separates color-sensitive pixels from grayscale-sensitive pixels.</a:t>
            </a:r>
          </a:p>
          <a:p xmlns:a="http://schemas.openxmlformats.org/drawingml/2006/main">
            <a:pPr algn="l">
              <a:defRPr sz="1800" b="0">
                <a:solidFill>
                  <a:srgbClr val="0F172A"/>
                </a:solidFill>
                <a:latin typeface="Microsoft JhengHei"/>
                <a:ea typeface="Microsoft JhengHei"/>
                <a:cs typeface="Microsoft JhengHei"/>
              </a:defRPr>
            </a:pPr>
            <a:r>
              <a:rPr sz="1800" b="0">
                <a:solidFill>
                  <a:srgbClr val="0F172A"/>
                </a:solidFill>
                <a:latin typeface="Microsoft JhengHei"/>
                <a:ea typeface="Microsoft JhengHei"/>
                <a:cs typeface="Microsoft JhengHei"/>
              </a:rPr>
              <a:t>- Major color and block features reduce computation compared with full image matching.</a:t>
            </a:r>
          </a:p>
          <a:p xmlns:a="http://schemas.openxmlformats.org/drawingml/2006/main">
            <a:pPr algn="l">
              <a:defRPr sz="1800" b="0">
                <a:solidFill>
                  <a:srgbClr val="0F172A"/>
                </a:solidFill>
                <a:latin typeface="Microsoft JhengHei"/>
                <a:ea typeface="Microsoft JhengHei"/>
                <a:cs typeface="Microsoft JhengHei"/>
              </a:defRPr>
            </a:pPr>
            <a:r>
              <a:rPr sz="1800" b="0">
                <a:solidFill>
                  <a:srgbClr val="0F172A"/>
                </a:solidFill>
                <a:latin typeface="Microsoft JhengHei"/>
                <a:ea typeface="Microsoft JhengHei"/>
                <a:cs typeface="Microsoft JhengHei"/>
              </a:rPr>
              <a:t>- Neighboring pixel differences identify object boundaries and useful tracking features.</a:t>
            </a:r>
          </a:p>
          <a:p xmlns:a="http://schemas.openxmlformats.org/drawingml/2006/main">
            <a:pPr algn="l">
              <a:defRPr sz="1800" b="0">
                <a:solidFill>
                  <a:srgbClr val="0F172A"/>
                </a:solidFill>
                <a:latin typeface="Microsoft JhengHei"/>
                <a:ea typeface="Microsoft JhengHei"/>
                <a:cs typeface="Microsoft JhengHei"/>
              </a:defRPr>
            </a:pPr>
            <a:r>
              <a:rPr sz="1800" b="0">
                <a:solidFill>
                  <a:srgbClr val="0F172A"/>
                </a:solidFill>
                <a:latin typeface="Microsoft JhengHei"/>
                <a:ea typeface="Microsoft JhengHei"/>
                <a:cs typeface="Microsoft JhengHei"/>
              </a:rPr>
              <a:t>- Area and location terms add context when two appearances look similar.</a:t>
            </a:r>
          </a:p>
        </p:txBody>
      </p:sp>
      <p:sp>
        <p:nvSpPr>
          <p:cNvPr id="5" name="">
            <a:extLst xmlns:a="http://schemas.openxmlformats.org/drawingml/2006/main">
              <a:ext uri="{FF2B5EF4-FFF2-40B4-BE49-F238E27FC236}">
                <a16:creationId xmlns:a16="http://schemas.microsoft.com/office/drawing/2014/main" id="{6A80E881-AF83-41F1-AEEF-2BE8EBF4BAA4}"/>
              </a:ext>
            </a:extLst>
          </p:cNvPr>
          <p:cNvSpPr>
            <a:spLocks xmlns:a="http://schemas.openxmlformats.org/drawingml/2006/main" noGrp="1"/>
          </p:cNvSpPr>
          <p:nvPr/>
        </p:nvSpPr>
        <p:spPr>
          <a:xfrm xmlns:a="http://schemas.openxmlformats.org/drawingml/2006/main">
            <a:off x="952500" y="521970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0891B2"/>
                </a:solidFill>
                <a:latin typeface="Microsoft JhengHei"/>
                <a:ea typeface="Microsoft JhengHei"/>
                <a:cs typeface="Microsoft JhengHei"/>
              </a:defRPr>
            </a:pPr>
            <a:r>
              <a:rPr sz="1650" b="1">
                <a:solidFill>
                  <a:srgbClr val="0891B2"/>
                </a:solidFill>
                <a:latin typeface="Microsoft JhengHei"/>
                <a:ea typeface="Microsoft JhengHei"/>
                <a:cs typeface="Microsoft JhengHei"/>
              </a:rPr>
              <a:t>Implemented as a small RGB 8x8 prototype, not a full YOLO or OpenVINO system.</a:t>
            </a:r>
          </a:p>
        </p:txBody>
      </p:sp>
      <p:sp>
        <p:nvSpPr>
          <p:cNvPr id="6" name="">
            <a:extLst xmlns:a="http://schemas.openxmlformats.org/drawingml/2006/main">
              <a:ext uri="{FF2B5EF4-FFF2-40B4-BE49-F238E27FC236}">
                <a16:creationId xmlns:a16="http://schemas.microsoft.com/office/drawing/2014/main" id="{59D689B4-0B77-4EBF-A766-162C43596070}"/>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02</a:t>
            </a:r>
          </a:p>
        </p:txBody>
      </p:sp>
    </p:spTree>
    <p:extLst>
      <p:ext uri="{BB962C8B-B14F-4D97-AF65-F5344CB8AC3E}">
        <p14:creationId xmlns:p14="http://schemas.microsoft.com/office/powerpoint/2010/main" val="2099034294"/>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20959D-DDBD-48E1-9BA4-24E383A9D217}"/>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Prototype Scope</a:t>
            </a:r>
          </a:p>
        </p:txBody>
      </p:sp>
      <p:sp>
        <p:nvSpPr>
          <p:cNvPr id="2" name="">
            <a:extLst xmlns:a="http://schemas.openxmlformats.org/drawingml/2006/main">
              <a:ext uri="{FF2B5EF4-FFF2-40B4-BE49-F238E27FC236}">
                <a16:creationId xmlns:a16="http://schemas.microsoft.com/office/drawing/2014/main" id="{1E715CD1-889E-4E86-8587-1122959CD7B8}"/>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What the current implementation proves</a:t>
            </a:r>
          </a:p>
        </p:txBody>
      </p:sp>
      <p:sp>
        <p:nvSpPr>
          <p:cNvPr id="3" name="">
            <a:extLst xmlns:a="http://schemas.openxmlformats.org/drawingml/2006/main">
              <a:ext uri="{FF2B5EF4-FFF2-40B4-BE49-F238E27FC236}">
                <a16:creationId xmlns:a16="http://schemas.microsoft.com/office/drawing/2014/main" id="{2C59F7B4-E6CA-42FA-8505-928FD02FFADB}"/>
              </a:ext>
            </a:extLst>
          </p:cNvPr>
          <p:cNvSpPr>
            <a:spLocks xmlns:a="http://schemas.openxmlformats.org/drawingml/2006/main" noGrp="1"/>
          </p:cNvSpPr>
          <p:nvPr/>
        </p:nvSpPr>
        <p:spPr>
          <a:xfrm xmlns:a="http://schemas.openxmlformats.org/drawingml/2006/main">
            <a:off x="723900" y="1600200"/>
            <a:ext cx="5219700" cy="3695700"/>
          </a:xfrm>
          <a:prstGeom xmlns:a="http://schemas.openxmlformats.org/drawingml/2006/main" prst="roundRect">
            <a:avLst>
              <a:gd name="adj" fmla="val 2062"/>
            </a:avLst>
          </a:prstGeom>
          <a:solidFill xmlns:a="http://schemas.openxmlformats.org/drawingml/2006/main">
            <a:srgbClr val="FFFF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B7696216-FBA5-44C1-94C8-94F9E2AE28FE}"/>
              </a:ext>
            </a:extLst>
          </p:cNvPr>
          <p:cNvSpPr>
            <a:spLocks xmlns:a="http://schemas.openxmlformats.org/drawingml/2006/main" noGrp="1"/>
          </p:cNvSpPr>
          <p:nvPr/>
        </p:nvSpPr>
        <p:spPr>
          <a:xfrm xmlns:a="http://schemas.openxmlformats.org/drawingml/2006/main">
            <a:off x="952500" y="1809750"/>
            <a:ext cx="4762500" cy="327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Input: two cropped 8x8 RGB person/object images converted into .mem files.</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Feature extraction: RGB max/mid/min, cone/rod channel, foreground area, center, and edge count.</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Boundary idea: compare each pixel with its right and lower neighbor using RGB color difference.</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Decision: weighted absolute-difference score compared with a threshold.</a:t>
            </a:r>
          </a:p>
        </p:txBody>
      </p:sp>
      <p:sp>
        <p:nvSpPr>
          <p:cNvPr id="5" name="">
            <a:extLst xmlns:a="http://schemas.openxmlformats.org/drawingml/2006/main">
              <a:ext uri="{FF2B5EF4-FFF2-40B4-BE49-F238E27FC236}">
                <a16:creationId xmlns:a16="http://schemas.microsoft.com/office/drawing/2014/main" id="{7649808F-9A24-464C-A948-C3E761A7D5F9}"/>
              </a:ext>
            </a:extLst>
          </p:cNvPr>
          <p:cNvSpPr>
            <a:spLocks xmlns:a="http://schemas.openxmlformats.org/drawingml/2006/main" noGrp="1"/>
          </p:cNvSpPr>
          <p:nvPr/>
        </p:nvSpPr>
        <p:spPr>
          <a:xfrm xmlns:a="http://schemas.openxmlformats.org/drawingml/2006/main">
            <a:off x="6438900" y="1600200"/>
            <a:ext cx="5029200" cy="3695700"/>
          </a:xfrm>
          <a:prstGeom xmlns:a="http://schemas.openxmlformats.org/drawingml/2006/main" prst="roundRect">
            <a:avLst>
              <a:gd name="adj" fmla="val 2062"/>
            </a:avLst>
          </a:prstGeom>
          <a:solidFill xmlns:a="http://schemas.openxmlformats.org/drawingml/2006/main">
            <a:srgbClr val="ECFDF5"/>
          </a:solidFill>
          <a:ln xmlns:a="http://schemas.openxmlformats.org/drawingml/2006/main" w="9525">
            <a:solidFill>
              <a:srgbClr val="CBD5E1"/>
            </a:solidFill>
          </a:ln>
        </p:spPr>
      </p:sp>
      <p:sp>
        <p:nvSpPr>
          <p:cNvPr id="6" name="">
            <a:extLst xmlns:a="http://schemas.openxmlformats.org/drawingml/2006/main">
              <a:ext uri="{FF2B5EF4-FFF2-40B4-BE49-F238E27FC236}">
                <a16:creationId xmlns:a16="http://schemas.microsoft.com/office/drawing/2014/main" id="{1F6855E8-7DA1-4437-B1CE-56D2F3C5987E}"/>
              </a:ext>
            </a:extLst>
          </p:cNvPr>
          <p:cNvSpPr>
            <a:spLocks xmlns:a="http://schemas.openxmlformats.org/drawingml/2006/main" noGrp="1"/>
          </p:cNvSpPr>
          <p:nvPr/>
        </p:nvSpPr>
        <p:spPr>
          <a:xfrm xmlns:a="http://schemas.openxmlformats.org/drawingml/2006/main">
            <a:off x="6667500" y="1809750"/>
            <a:ext cx="4572000" cy="327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0F172A"/>
                </a:solidFill>
                <a:latin typeface="Microsoft JhengHei"/>
                <a:ea typeface="Microsoft JhengHei"/>
                <a:cs typeface="Microsoft JhengHei"/>
              </a:defRPr>
            </a:pPr>
            <a:r>
              <a:rPr sz="1650" b="0">
                <a:solidFill>
                  <a:srgbClr val="0F172A"/>
                </a:solidFill>
                <a:latin typeface="Microsoft JhengHei"/>
                <a:ea typeface="Microsoft JhengHei"/>
                <a:cs typeface="Microsoft JhengHei"/>
              </a:rPr>
              <a:t>- Still simplified: no neural network, no automatic person box detection, no multi-camera networking.</a:t>
            </a:r>
          </a:p>
          <a:p xmlns:a="http://schemas.openxmlformats.org/drawingml/2006/main">
            <a:pPr algn="l">
              <a:defRPr sz="1650" b="0">
                <a:solidFill>
                  <a:srgbClr val="0F172A"/>
                </a:solidFill>
                <a:latin typeface="Microsoft JhengHei"/>
                <a:ea typeface="Microsoft JhengHei"/>
                <a:cs typeface="Microsoft JhengHei"/>
              </a:defRPr>
            </a:pPr>
            <a:r>
              <a:rPr sz="1650" b="0">
                <a:solidFill>
                  <a:srgbClr val="0F172A"/>
                </a:solidFill>
                <a:latin typeface="Microsoft JhengHei"/>
                <a:ea typeface="Microsoft JhengHei"/>
                <a:cs typeface="Microsoft JhengHei"/>
              </a:rPr>
              <a:t>- Useful result: a clear Verilog framework that matches the papers' hardware-oriented feature idea.</a:t>
            </a:r>
          </a:p>
        </p:txBody>
      </p:sp>
      <p:sp>
        <p:nvSpPr>
          <p:cNvPr id="7" name="">
            <a:extLst xmlns:a="http://schemas.openxmlformats.org/drawingml/2006/main">
              <a:ext uri="{FF2B5EF4-FFF2-40B4-BE49-F238E27FC236}">
                <a16:creationId xmlns:a16="http://schemas.microsoft.com/office/drawing/2014/main" id="{80B0DFB6-2A63-431C-8F65-622AF11F9927}"/>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03</a:t>
            </a:r>
          </a:p>
        </p:txBody>
      </p:sp>
    </p:spTree>
    <p:extLst>
      <p:ext uri="{BB962C8B-B14F-4D97-AF65-F5344CB8AC3E}">
        <p14:creationId xmlns:p14="http://schemas.microsoft.com/office/powerpoint/2010/main" val="1147994002"/>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9AEEBA1-7372-412E-A01C-F1E23DB6B406}"/>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Algorithm Flow</a:t>
            </a:r>
          </a:p>
        </p:txBody>
      </p:sp>
      <p:sp>
        <p:nvSpPr>
          <p:cNvPr id="2" name="">
            <a:extLst xmlns:a="http://schemas.openxmlformats.org/drawingml/2006/main">
              <a:ext uri="{FF2B5EF4-FFF2-40B4-BE49-F238E27FC236}">
                <a16:creationId xmlns:a16="http://schemas.microsoft.com/office/drawing/2014/main" id="{E1557E9A-B27B-4EF7-BBC3-6ED27A399C20}"/>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The Verilog data path</a:t>
            </a:r>
          </a:p>
        </p:txBody>
      </p:sp>
      <p:sp>
        <p:nvSpPr>
          <p:cNvPr id="3" name="">
            <a:extLst xmlns:a="http://schemas.openxmlformats.org/drawingml/2006/main">
              <a:ext uri="{FF2B5EF4-FFF2-40B4-BE49-F238E27FC236}">
                <a16:creationId xmlns:a16="http://schemas.microsoft.com/office/drawing/2014/main" id="{E9DEFA8D-FC54-4E38-9682-3369D03BE931}"/>
              </a:ext>
            </a:extLst>
          </p:cNvPr>
          <p:cNvSpPr>
            <a:spLocks xmlns:a="http://schemas.openxmlformats.org/drawingml/2006/main" noGrp="1"/>
          </p:cNvSpPr>
          <p:nvPr/>
        </p:nvSpPr>
        <p:spPr>
          <a:xfrm xmlns:a="http://schemas.openxmlformats.org/drawingml/2006/main">
            <a:off x="800100" y="179070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D23AAC36-E58E-414D-ADEA-F149F9DE857E}"/>
              </a:ext>
            </a:extLst>
          </p:cNvPr>
          <p:cNvSpPr>
            <a:spLocks xmlns:a="http://schemas.openxmlformats.org/drawingml/2006/main" noGrp="1"/>
          </p:cNvSpPr>
          <p:nvPr/>
        </p:nvSpPr>
        <p:spPr>
          <a:xfrm xmlns:a="http://schemas.openxmlformats.org/drawingml/2006/main">
            <a:off x="971550" y="201930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Read RGB .mem</a:t>
            </a:r>
          </a:p>
        </p:txBody>
      </p:sp>
      <p:sp>
        <p:nvSpPr>
          <p:cNvPr id="5" name="">
            <a:extLst xmlns:a="http://schemas.openxmlformats.org/drawingml/2006/main">
              <a:ext uri="{FF2B5EF4-FFF2-40B4-BE49-F238E27FC236}">
                <a16:creationId xmlns:a16="http://schemas.microsoft.com/office/drawing/2014/main" id="{10F28743-12C6-4141-8D82-196572CC502A}"/>
              </a:ext>
            </a:extLst>
          </p:cNvPr>
          <p:cNvSpPr>
            <a:spLocks xmlns:a="http://schemas.openxmlformats.org/drawingml/2006/main" noGrp="1"/>
          </p:cNvSpPr>
          <p:nvPr/>
        </p:nvSpPr>
        <p:spPr>
          <a:xfrm xmlns:a="http://schemas.openxmlformats.org/drawingml/2006/main">
            <a:off x="2686050" y="211455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6" name="">
            <a:extLst xmlns:a="http://schemas.openxmlformats.org/drawingml/2006/main">
              <a:ext uri="{FF2B5EF4-FFF2-40B4-BE49-F238E27FC236}">
                <a16:creationId xmlns:a16="http://schemas.microsoft.com/office/drawing/2014/main" id="{BDF224FE-FC36-4D02-A203-DF40C1B64AB0}"/>
              </a:ext>
            </a:extLst>
          </p:cNvPr>
          <p:cNvSpPr>
            <a:spLocks xmlns:a="http://schemas.openxmlformats.org/drawingml/2006/main" noGrp="1"/>
          </p:cNvSpPr>
          <p:nvPr/>
        </p:nvSpPr>
        <p:spPr>
          <a:xfrm xmlns:a="http://schemas.openxmlformats.org/drawingml/2006/main">
            <a:off x="2971800" y="179070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7" name="">
            <a:extLst xmlns:a="http://schemas.openxmlformats.org/drawingml/2006/main">
              <a:ext uri="{FF2B5EF4-FFF2-40B4-BE49-F238E27FC236}">
                <a16:creationId xmlns:a16="http://schemas.microsoft.com/office/drawing/2014/main" id="{FFBDB09E-7D37-4C48-9A56-EA92775E9649}"/>
              </a:ext>
            </a:extLst>
          </p:cNvPr>
          <p:cNvSpPr>
            <a:spLocks xmlns:a="http://schemas.openxmlformats.org/drawingml/2006/main" noGrp="1"/>
          </p:cNvSpPr>
          <p:nvPr/>
        </p:nvSpPr>
        <p:spPr>
          <a:xfrm xmlns:a="http://schemas.openxmlformats.org/drawingml/2006/main">
            <a:off x="3143250" y="201930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Scan 64 pixels</a:t>
            </a:r>
          </a:p>
        </p:txBody>
      </p:sp>
      <p:sp>
        <p:nvSpPr>
          <p:cNvPr id="8" name="">
            <a:extLst xmlns:a="http://schemas.openxmlformats.org/drawingml/2006/main">
              <a:ext uri="{FF2B5EF4-FFF2-40B4-BE49-F238E27FC236}">
                <a16:creationId xmlns:a16="http://schemas.microsoft.com/office/drawing/2014/main" id="{8C0B8CBD-4310-42BB-B4E4-00BD0351FE4C}"/>
              </a:ext>
            </a:extLst>
          </p:cNvPr>
          <p:cNvSpPr>
            <a:spLocks xmlns:a="http://schemas.openxmlformats.org/drawingml/2006/main" noGrp="1"/>
          </p:cNvSpPr>
          <p:nvPr/>
        </p:nvSpPr>
        <p:spPr>
          <a:xfrm xmlns:a="http://schemas.openxmlformats.org/drawingml/2006/main">
            <a:off x="4857750" y="211455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9" name="">
            <a:extLst xmlns:a="http://schemas.openxmlformats.org/drawingml/2006/main">
              <a:ext uri="{FF2B5EF4-FFF2-40B4-BE49-F238E27FC236}">
                <a16:creationId xmlns:a16="http://schemas.microsoft.com/office/drawing/2014/main" id="{033B1D35-E8DB-4FB9-980B-DA432D34C55E}"/>
              </a:ext>
            </a:extLst>
          </p:cNvPr>
          <p:cNvSpPr>
            <a:spLocks xmlns:a="http://schemas.openxmlformats.org/drawingml/2006/main" noGrp="1"/>
          </p:cNvSpPr>
          <p:nvPr/>
        </p:nvSpPr>
        <p:spPr>
          <a:xfrm xmlns:a="http://schemas.openxmlformats.org/drawingml/2006/main">
            <a:off x="5143500" y="179070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0" name="">
            <a:extLst xmlns:a="http://schemas.openxmlformats.org/drawingml/2006/main">
              <a:ext uri="{FF2B5EF4-FFF2-40B4-BE49-F238E27FC236}">
                <a16:creationId xmlns:a16="http://schemas.microsoft.com/office/drawing/2014/main" id="{5C0112C5-74B8-47B5-A165-2BF0BDB09937}"/>
              </a:ext>
            </a:extLst>
          </p:cNvPr>
          <p:cNvSpPr>
            <a:spLocks xmlns:a="http://schemas.openxmlformats.org/drawingml/2006/main" noGrp="1"/>
          </p:cNvSpPr>
          <p:nvPr/>
        </p:nvSpPr>
        <p:spPr>
          <a:xfrm xmlns:a="http://schemas.openxmlformats.org/drawingml/2006/main">
            <a:off x="5314950" y="201930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Cone or rod channel</a:t>
            </a:r>
          </a:p>
        </p:txBody>
      </p:sp>
      <p:sp>
        <p:nvSpPr>
          <p:cNvPr id="11" name="">
            <a:extLst xmlns:a="http://schemas.openxmlformats.org/drawingml/2006/main">
              <a:ext uri="{FF2B5EF4-FFF2-40B4-BE49-F238E27FC236}">
                <a16:creationId xmlns:a16="http://schemas.microsoft.com/office/drawing/2014/main" id="{CA18B0CB-432A-430D-A560-F84F423AA678}"/>
              </a:ext>
            </a:extLst>
          </p:cNvPr>
          <p:cNvSpPr>
            <a:spLocks xmlns:a="http://schemas.openxmlformats.org/drawingml/2006/main" noGrp="1"/>
          </p:cNvSpPr>
          <p:nvPr/>
        </p:nvSpPr>
        <p:spPr>
          <a:xfrm xmlns:a="http://schemas.openxmlformats.org/drawingml/2006/main">
            <a:off x="7029450" y="211455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12" name="">
            <a:extLst xmlns:a="http://schemas.openxmlformats.org/drawingml/2006/main">
              <a:ext uri="{FF2B5EF4-FFF2-40B4-BE49-F238E27FC236}">
                <a16:creationId xmlns:a16="http://schemas.microsoft.com/office/drawing/2014/main" id="{EE72F454-7001-4065-9BB7-F0E77D534FC6}"/>
              </a:ext>
            </a:extLst>
          </p:cNvPr>
          <p:cNvSpPr>
            <a:spLocks xmlns:a="http://schemas.openxmlformats.org/drawingml/2006/main" noGrp="1"/>
          </p:cNvSpPr>
          <p:nvPr/>
        </p:nvSpPr>
        <p:spPr>
          <a:xfrm xmlns:a="http://schemas.openxmlformats.org/drawingml/2006/main">
            <a:off x="7315200" y="179070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3" name="">
            <a:extLst xmlns:a="http://schemas.openxmlformats.org/drawingml/2006/main">
              <a:ext uri="{FF2B5EF4-FFF2-40B4-BE49-F238E27FC236}">
                <a16:creationId xmlns:a16="http://schemas.microsoft.com/office/drawing/2014/main" id="{460C1107-EF6C-40F0-BEA8-B1DAB026B37B}"/>
              </a:ext>
            </a:extLst>
          </p:cNvPr>
          <p:cNvSpPr>
            <a:spLocks xmlns:a="http://schemas.openxmlformats.org/drawingml/2006/main" noGrp="1"/>
          </p:cNvSpPr>
          <p:nvPr/>
        </p:nvSpPr>
        <p:spPr>
          <a:xfrm xmlns:a="http://schemas.openxmlformats.org/drawingml/2006/main">
            <a:off x="7486650" y="201930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Color-edge count</a:t>
            </a:r>
          </a:p>
        </p:txBody>
      </p:sp>
      <p:sp>
        <p:nvSpPr>
          <p:cNvPr id="14" name="">
            <a:extLst xmlns:a="http://schemas.openxmlformats.org/drawingml/2006/main">
              <a:ext uri="{FF2B5EF4-FFF2-40B4-BE49-F238E27FC236}">
                <a16:creationId xmlns:a16="http://schemas.microsoft.com/office/drawing/2014/main" id="{C54A9CBF-1F84-4647-A201-E619F6BF3879}"/>
              </a:ext>
            </a:extLst>
          </p:cNvPr>
          <p:cNvSpPr>
            <a:spLocks xmlns:a="http://schemas.openxmlformats.org/drawingml/2006/main" noGrp="1"/>
          </p:cNvSpPr>
          <p:nvPr/>
        </p:nvSpPr>
        <p:spPr>
          <a:xfrm xmlns:a="http://schemas.openxmlformats.org/drawingml/2006/main">
            <a:off x="9201150" y="211455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15" name="">
            <a:extLst xmlns:a="http://schemas.openxmlformats.org/drawingml/2006/main">
              <a:ext uri="{FF2B5EF4-FFF2-40B4-BE49-F238E27FC236}">
                <a16:creationId xmlns:a16="http://schemas.microsoft.com/office/drawing/2014/main" id="{C7CDB9CD-4913-461E-8F15-B59C293C85FB}"/>
              </a:ext>
            </a:extLst>
          </p:cNvPr>
          <p:cNvSpPr>
            <a:spLocks xmlns:a="http://schemas.openxmlformats.org/drawingml/2006/main" noGrp="1"/>
          </p:cNvSpPr>
          <p:nvPr/>
        </p:nvSpPr>
        <p:spPr>
          <a:xfrm xmlns:a="http://schemas.openxmlformats.org/drawingml/2006/main">
            <a:off x="9486900" y="179070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6" name="">
            <a:extLst xmlns:a="http://schemas.openxmlformats.org/drawingml/2006/main">
              <a:ext uri="{FF2B5EF4-FFF2-40B4-BE49-F238E27FC236}">
                <a16:creationId xmlns:a16="http://schemas.microsoft.com/office/drawing/2014/main" id="{8D1FF008-824D-4E09-BC12-CE5FD1CFEFCD}"/>
              </a:ext>
            </a:extLst>
          </p:cNvPr>
          <p:cNvSpPr>
            <a:spLocks xmlns:a="http://schemas.openxmlformats.org/drawingml/2006/main" noGrp="1"/>
          </p:cNvSpPr>
          <p:nvPr/>
        </p:nvSpPr>
        <p:spPr>
          <a:xfrm xmlns:a="http://schemas.openxmlformats.org/drawingml/2006/main">
            <a:off x="9658350" y="201930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Feature vector</a:t>
            </a:r>
          </a:p>
        </p:txBody>
      </p:sp>
      <p:sp>
        <p:nvSpPr>
          <p:cNvPr id="17" name="">
            <a:extLst xmlns:a="http://schemas.openxmlformats.org/drawingml/2006/main">
              <a:ext uri="{FF2B5EF4-FFF2-40B4-BE49-F238E27FC236}">
                <a16:creationId xmlns:a16="http://schemas.microsoft.com/office/drawing/2014/main" id="{6A4F6F2F-DDC0-4D93-874A-18A417886820}"/>
              </a:ext>
            </a:extLst>
          </p:cNvPr>
          <p:cNvSpPr>
            <a:spLocks xmlns:a="http://schemas.openxmlformats.org/drawingml/2006/main" noGrp="1"/>
          </p:cNvSpPr>
          <p:nvPr/>
        </p:nvSpPr>
        <p:spPr>
          <a:xfrm xmlns:a="http://schemas.openxmlformats.org/drawingml/2006/main">
            <a:off x="8001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8" name="">
            <a:extLst xmlns:a="http://schemas.openxmlformats.org/drawingml/2006/main">
              <a:ext uri="{FF2B5EF4-FFF2-40B4-BE49-F238E27FC236}">
                <a16:creationId xmlns:a16="http://schemas.microsoft.com/office/drawing/2014/main" id="{4F5E04D2-E478-465A-8BF7-DE299AB11270}"/>
              </a:ext>
            </a:extLst>
          </p:cNvPr>
          <p:cNvSpPr>
            <a:spLocks xmlns:a="http://schemas.openxmlformats.org/drawingml/2006/main" noGrp="1"/>
          </p:cNvSpPr>
          <p:nvPr/>
        </p:nvSpPr>
        <p:spPr>
          <a:xfrm xmlns:a="http://schemas.openxmlformats.org/drawingml/2006/main">
            <a:off x="9715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Image A features</a:t>
            </a:r>
          </a:p>
        </p:txBody>
      </p:sp>
      <p:sp>
        <p:nvSpPr>
          <p:cNvPr id="19" name="">
            <a:extLst xmlns:a="http://schemas.openxmlformats.org/drawingml/2006/main">
              <a:ext uri="{FF2B5EF4-FFF2-40B4-BE49-F238E27FC236}">
                <a16:creationId xmlns:a16="http://schemas.microsoft.com/office/drawing/2014/main" id="{AC87CB11-FDE0-466C-A5EB-9AB2EA0CE144}"/>
              </a:ext>
            </a:extLst>
          </p:cNvPr>
          <p:cNvSpPr>
            <a:spLocks xmlns:a="http://schemas.openxmlformats.org/drawingml/2006/main" noGrp="1"/>
          </p:cNvSpPr>
          <p:nvPr/>
        </p:nvSpPr>
        <p:spPr>
          <a:xfrm xmlns:a="http://schemas.openxmlformats.org/drawingml/2006/main">
            <a:off x="26860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20" name="">
            <a:extLst xmlns:a="http://schemas.openxmlformats.org/drawingml/2006/main">
              <a:ext uri="{FF2B5EF4-FFF2-40B4-BE49-F238E27FC236}">
                <a16:creationId xmlns:a16="http://schemas.microsoft.com/office/drawing/2014/main" id="{02ADDA11-40E4-4B59-B8BB-73352FFA05D6}"/>
              </a:ext>
            </a:extLst>
          </p:cNvPr>
          <p:cNvSpPr>
            <a:spLocks xmlns:a="http://schemas.openxmlformats.org/drawingml/2006/main" noGrp="1"/>
          </p:cNvSpPr>
          <p:nvPr/>
        </p:nvSpPr>
        <p:spPr>
          <a:xfrm xmlns:a="http://schemas.openxmlformats.org/drawingml/2006/main">
            <a:off x="29718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21" name="">
            <a:extLst xmlns:a="http://schemas.openxmlformats.org/drawingml/2006/main">
              <a:ext uri="{FF2B5EF4-FFF2-40B4-BE49-F238E27FC236}">
                <a16:creationId xmlns:a16="http://schemas.microsoft.com/office/drawing/2014/main" id="{69CD0D88-6862-45E1-8837-B1705E642D50}"/>
              </a:ext>
            </a:extLst>
          </p:cNvPr>
          <p:cNvSpPr>
            <a:spLocks xmlns:a="http://schemas.openxmlformats.org/drawingml/2006/main" noGrp="1"/>
          </p:cNvSpPr>
          <p:nvPr/>
        </p:nvSpPr>
        <p:spPr>
          <a:xfrm xmlns:a="http://schemas.openxmlformats.org/drawingml/2006/main">
            <a:off x="31432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Image B features</a:t>
            </a:r>
          </a:p>
        </p:txBody>
      </p:sp>
      <p:sp>
        <p:nvSpPr>
          <p:cNvPr id="22" name="">
            <a:extLst xmlns:a="http://schemas.openxmlformats.org/drawingml/2006/main">
              <a:ext uri="{FF2B5EF4-FFF2-40B4-BE49-F238E27FC236}">
                <a16:creationId xmlns:a16="http://schemas.microsoft.com/office/drawing/2014/main" id="{28B9882A-0954-4024-9EF5-D9D5B8822970}"/>
              </a:ext>
            </a:extLst>
          </p:cNvPr>
          <p:cNvSpPr>
            <a:spLocks xmlns:a="http://schemas.openxmlformats.org/drawingml/2006/main" noGrp="1"/>
          </p:cNvSpPr>
          <p:nvPr/>
        </p:nvSpPr>
        <p:spPr>
          <a:xfrm xmlns:a="http://schemas.openxmlformats.org/drawingml/2006/main">
            <a:off x="48577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23" name="">
            <a:extLst xmlns:a="http://schemas.openxmlformats.org/drawingml/2006/main">
              <a:ext uri="{FF2B5EF4-FFF2-40B4-BE49-F238E27FC236}">
                <a16:creationId xmlns:a16="http://schemas.microsoft.com/office/drawing/2014/main" id="{82D76583-A532-4174-91C5-860E4BB83BDA}"/>
              </a:ext>
            </a:extLst>
          </p:cNvPr>
          <p:cNvSpPr>
            <a:spLocks xmlns:a="http://schemas.openxmlformats.org/drawingml/2006/main" noGrp="1"/>
          </p:cNvSpPr>
          <p:nvPr/>
        </p:nvSpPr>
        <p:spPr>
          <a:xfrm xmlns:a="http://schemas.openxmlformats.org/drawingml/2006/main">
            <a:off x="51435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24" name="">
            <a:extLst xmlns:a="http://schemas.openxmlformats.org/drawingml/2006/main">
              <a:ext uri="{FF2B5EF4-FFF2-40B4-BE49-F238E27FC236}">
                <a16:creationId xmlns:a16="http://schemas.microsoft.com/office/drawing/2014/main" id="{5D21B609-F830-4998-BF60-2282EAB1ADF4}"/>
              </a:ext>
            </a:extLst>
          </p:cNvPr>
          <p:cNvSpPr>
            <a:spLocks xmlns:a="http://schemas.openxmlformats.org/drawingml/2006/main" noGrp="1"/>
          </p:cNvSpPr>
          <p:nvPr/>
        </p:nvSpPr>
        <p:spPr>
          <a:xfrm xmlns:a="http://schemas.openxmlformats.org/drawingml/2006/main">
            <a:off x="53149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Weighted distance</a:t>
            </a:r>
          </a:p>
        </p:txBody>
      </p:sp>
      <p:sp>
        <p:nvSpPr>
          <p:cNvPr id="25" name="">
            <a:extLst xmlns:a="http://schemas.openxmlformats.org/drawingml/2006/main">
              <a:ext uri="{FF2B5EF4-FFF2-40B4-BE49-F238E27FC236}">
                <a16:creationId xmlns:a16="http://schemas.microsoft.com/office/drawing/2014/main" id="{F46A2BF5-3B5D-472B-B262-04F7C87AC649}"/>
              </a:ext>
            </a:extLst>
          </p:cNvPr>
          <p:cNvSpPr>
            <a:spLocks xmlns:a="http://schemas.openxmlformats.org/drawingml/2006/main" noGrp="1"/>
          </p:cNvSpPr>
          <p:nvPr/>
        </p:nvSpPr>
        <p:spPr>
          <a:xfrm xmlns:a="http://schemas.openxmlformats.org/drawingml/2006/main">
            <a:off x="70294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26" name="">
            <a:extLst xmlns:a="http://schemas.openxmlformats.org/drawingml/2006/main">
              <a:ext uri="{FF2B5EF4-FFF2-40B4-BE49-F238E27FC236}">
                <a16:creationId xmlns:a16="http://schemas.microsoft.com/office/drawing/2014/main" id="{0FEEF89E-D18E-448E-998F-81731C2C7753}"/>
              </a:ext>
            </a:extLst>
          </p:cNvPr>
          <p:cNvSpPr>
            <a:spLocks xmlns:a="http://schemas.openxmlformats.org/drawingml/2006/main" noGrp="1"/>
          </p:cNvSpPr>
          <p:nvPr/>
        </p:nvSpPr>
        <p:spPr>
          <a:xfrm xmlns:a="http://schemas.openxmlformats.org/drawingml/2006/main">
            <a:off x="73152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27" name="">
            <a:extLst xmlns:a="http://schemas.openxmlformats.org/drawingml/2006/main">
              <a:ext uri="{FF2B5EF4-FFF2-40B4-BE49-F238E27FC236}">
                <a16:creationId xmlns:a16="http://schemas.microsoft.com/office/drawing/2014/main" id="{E990ACCE-EB51-4D03-9A9F-52D4AA03CB15}"/>
              </a:ext>
            </a:extLst>
          </p:cNvPr>
          <p:cNvSpPr>
            <a:spLocks xmlns:a="http://schemas.openxmlformats.org/drawingml/2006/main" noGrp="1"/>
          </p:cNvSpPr>
          <p:nvPr/>
        </p:nvSpPr>
        <p:spPr>
          <a:xfrm xmlns:a="http://schemas.openxmlformats.org/drawingml/2006/main">
            <a:off x="74866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Threshold</a:t>
            </a:r>
          </a:p>
        </p:txBody>
      </p:sp>
      <p:sp>
        <p:nvSpPr>
          <p:cNvPr id="28" name="">
            <a:extLst xmlns:a="http://schemas.openxmlformats.org/drawingml/2006/main">
              <a:ext uri="{FF2B5EF4-FFF2-40B4-BE49-F238E27FC236}">
                <a16:creationId xmlns:a16="http://schemas.microsoft.com/office/drawing/2014/main" id="{86591D7B-1502-458A-B1AF-6C39969BB1A1}"/>
              </a:ext>
            </a:extLst>
          </p:cNvPr>
          <p:cNvSpPr>
            <a:spLocks xmlns:a="http://schemas.openxmlformats.org/drawingml/2006/main" noGrp="1"/>
          </p:cNvSpPr>
          <p:nvPr/>
        </p:nvSpPr>
        <p:spPr>
          <a:xfrm xmlns:a="http://schemas.openxmlformats.org/drawingml/2006/main">
            <a:off x="92011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29" name="">
            <a:extLst xmlns:a="http://schemas.openxmlformats.org/drawingml/2006/main">
              <a:ext uri="{FF2B5EF4-FFF2-40B4-BE49-F238E27FC236}">
                <a16:creationId xmlns:a16="http://schemas.microsoft.com/office/drawing/2014/main" id="{BA06AADD-205D-44B3-AAF4-D7392B26EF07}"/>
              </a:ext>
            </a:extLst>
          </p:cNvPr>
          <p:cNvSpPr>
            <a:spLocks xmlns:a="http://schemas.openxmlformats.org/drawingml/2006/main" noGrp="1"/>
          </p:cNvSpPr>
          <p:nvPr/>
        </p:nvSpPr>
        <p:spPr>
          <a:xfrm xmlns:a="http://schemas.openxmlformats.org/drawingml/2006/main">
            <a:off x="94869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30" name="">
            <a:extLst xmlns:a="http://schemas.openxmlformats.org/drawingml/2006/main">
              <a:ext uri="{FF2B5EF4-FFF2-40B4-BE49-F238E27FC236}">
                <a16:creationId xmlns:a16="http://schemas.microsoft.com/office/drawing/2014/main" id="{A5E7DC36-0200-447F-B7BD-30118E82315F}"/>
              </a:ext>
            </a:extLst>
          </p:cNvPr>
          <p:cNvSpPr>
            <a:spLocks xmlns:a="http://schemas.openxmlformats.org/drawingml/2006/main" noGrp="1"/>
          </p:cNvSpPr>
          <p:nvPr/>
        </p:nvSpPr>
        <p:spPr>
          <a:xfrm xmlns:a="http://schemas.openxmlformats.org/drawingml/2006/main">
            <a:off x="96583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same_person</a:t>
            </a:r>
          </a:p>
        </p:txBody>
      </p:sp>
      <p:sp>
        <p:nvSpPr>
          <p:cNvPr id="31" name="">
            <a:extLst xmlns:a="http://schemas.openxmlformats.org/drawingml/2006/main">
              <a:ext uri="{FF2B5EF4-FFF2-40B4-BE49-F238E27FC236}">
                <a16:creationId xmlns:a16="http://schemas.microsoft.com/office/drawing/2014/main" id="{DC8C0B8A-B32D-45DE-A159-DFB4F39548F8}"/>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04</a:t>
            </a:r>
          </a:p>
        </p:txBody>
      </p:sp>
    </p:spTree>
    <p:extLst>
      <p:ext uri="{BB962C8B-B14F-4D97-AF65-F5344CB8AC3E}">
        <p14:creationId xmlns:p14="http://schemas.microsoft.com/office/powerpoint/2010/main" val="291371088"/>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2E6558B-8CFD-4D53-B802-A67A24CFD103}"/>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Feature Vector</a:t>
            </a:r>
          </a:p>
        </p:txBody>
      </p:sp>
      <p:sp>
        <p:nvSpPr>
          <p:cNvPr id="2" name="">
            <a:extLst xmlns:a="http://schemas.openxmlformats.org/drawingml/2006/main">
              <a:ext uri="{FF2B5EF4-FFF2-40B4-BE49-F238E27FC236}">
                <a16:creationId xmlns:a16="http://schemas.microsoft.com/office/drawing/2014/main" id="{E141CE4C-BAE6-4797-ADA4-69255B25E86D}"/>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The extracted descriptor used for re-identification</a:t>
            </a:r>
          </a:p>
        </p:txBody>
      </p:sp>
      <p:sp>
        <p:nvSpPr>
          <p:cNvPr id="3" name="">
            <a:extLst xmlns:a="http://schemas.openxmlformats.org/drawingml/2006/main">
              <a:ext uri="{FF2B5EF4-FFF2-40B4-BE49-F238E27FC236}">
                <a16:creationId xmlns:a16="http://schemas.microsoft.com/office/drawing/2014/main" id="{86D7BA74-1833-4D47-B794-E4009460D237}"/>
              </a:ext>
            </a:extLst>
          </p:cNvPr>
          <p:cNvSpPr>
            <a:spLocks xmlns:a="http://schemas.openxmlformats.org/drawingml/2006/main" noGrp="1"/>
          </p:cNvSpPr>
          <p:nvPr/>
        </p:nvSpPr>
        <p:spPr>
          <a:xfrm xmlns:a="http://schemas.openxmlformats.org/drawingml/2006/main">
            <a:off x="933450" y="1524000"/>
            <a:ext cx="10325100" cy="476250"/>
          </a:xfrm>
          <a:prstGeom xmlns:a="http://schemas.openxmlformats.org/drawingml/2006/main" prst="roundRect">
            <a:avLst>
              <a:gd name="adj" fmla="val 16000"/>
            </a:avLst>
          </a:prstGeom>
          <a:solidFill xmlns:a="http://schemas.openxmlformats.org/drawingml/2006/main">
            <a:srgbClr val="F1F5F9"/>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E1DE05C4-CF09-4A07-9556-DFBA9C31C123}"/>
              </a:ext>
            </a:extLst>
          </p:cNvPr>
          <p:cNvSpPr>
            <a:spLocks xmlns:a="http://schemas.openxmlformats.org/drawingml/2006/main" noGrp="1"/>
          </p:cNvSpPr>
          <p:nvPr/>
        </p:nvSpPr>
        <p:spPr>
          <a:xfrm xmlns:a="http://schemas.openxmlformats.org/drawingml/2006/main">
            <a:off x="1181100" y="16097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2563EB"/>
                </a:solidFill>
                <a:latin typeface="Consolas"/>
                <a:ea typeface="Consolas"/>
                <a:cs typeface="Consolas"/>
              </a:defRPr>
            </a:pPr>
            <a:r>
              <a:rPr sz="1425" b="1">
                <a:solidFill>
                  <a:srgbClr val="2563EB"/>
                </a:solidFill>
                <a:latin typeface="Consolas"/>
                <a:ea typeface="Consolas"/>
                <a:cs typeface="Consolas"/>
              </a:rPr>
              <a:t>upper_max / upper_mid</a:t>
            </a:r>
          </a:p>
        </p:txBody>
      </p:sp>
      <p:sp>
        <p:nvSpPr>
          <p:cNvPr id="5" name="">
            <a:extLst xmlns:a="http://schemas.openxmlformats.org/drawingml/2006/main">
              <a:ext uri="{FF2B5EF4-FFF2-40B4-BE49-F238E27FC236}">
                <a16:creationId xmlns:a16="http://schemas.microsoft.com/office/drawing/2014/main" id="{A126A919-078A-4BA0-82F6-9A9A9F2C3FD4}"/>
              </a:ext>
            </a:extLst>
          </p:cNvPr>
          <p:cNvSpPr>
            <a:spLocks xmlns:a="http://schemas.openxmlformats.org/drawingml/2006/main" noGrp="1"/>
          </p:cNvSpPr>
          <p:nvPr/>
        </p:nvSpPr>
        <p:spPr>
          <a:xfrm xmlns:a="http://schemas.openxmlformats.org/drawingml/2006/main">
            <a:off x="4629150" y="16097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lgn="l">
              <a:defRPr sz="1500" b="0">
                <a:solidFill>
                  <a:srgbClr val="0F172A"/>
                </a:solidFill>
                <a:latin typeface="Microsoft JhengHei"/>
                <a:ea typeface="Microsoft JhengHei"/>
                <a:cs typeface="Microsoft JhengHei"/>
              </a:defRPr>
            </a:pPr>
            <a:r>
              <a:rPr sz="1500" b="0">
                <a:solidFill>
                  <a:srgbClr val="0F172A"/>
                </a:solidFill>
                <a:latin typeface="Microsoft JhengHei"/>
                <a:ea typeface="Microsoft JhengHei"/>
                <a:cs typeface="Microsoft JhengHei"/>
              </a:rPr>
              <a:t>Upper-body cone-channel color</a:t>
            </a:r>
          </a:p>
        </p:txBody>
      </p:sp>
      <p:sp>
        <p:nvSpPr>
          <p:cNvPr id="6" name="">
            <a:extLst xmlns:a="http://schemas.openxmlformats.org/drawingml/2006/main">
              <a:ext uri="{FF2B5EF4-FFF2-40B4-BE49-F238E27FC236}">
                <a16:creationId xmlns:a16="http://schemas.microsoft.com/office/drawing/2014/main" id="{8060B053-7A44-49FF-9ADD-3B8BBC78CF0F}"/>
              </a:ext>
            </a:extLst>
          </p:cNvPr>
          <p:cNvSpPr>
            <a:spLocks xmlns:a="http://schemas.openxmlformats.org/drawingml/2006/main" noGrp="1"/>
          </p:cNvSpPr>
          <p:nvPr/>
        </p:nvSpPr>
        <p:spPr>
          <a:xfrm xmlns:a="http://schemas.openxmlformats.org/drawingml/2006/main">
            <a:off x="933450" y="2171700"/>
            <a:ext cx="103251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5E1"/>
            </a:solidFill>
          </a:ln>
        </p:spPr>
      </p:sp>
      <p:sp>
        <p:nvSpPr>
          <p:cNvPr id="7" name="">
            <a:extLst xmlns:a="http://schemas.openxmlformats.org/drawingml/2006/main">
              <a:ext uri="{FF2B5EF4-FFF2-40B4-BE49-F238E27FC236}">
                <a16:creationId xmlns:a16="http://schemas.microsoft.com/office/drawing/2014/main" id="{9431A7EB-94A2-4799-B592-9D11E6B3B61D}"/>
              </a:ext>
            </a:extLst>
          </p:cNvPr>
          <p:cNvSpPr>
            <a:spLocks xmlns:a="http://schemas.openxmlformats.org/drawingml/2006/main" noGrp="1"/>
          </p:cNvSpPr>
          <p:nvPr/>
        </p:nvSpPr>
        <p:spPr>
          <a:xfrm xmlns:a="http://schemas.openxmlformats.org/drawingml/2006/main">
            <a:off x="1181100" y="22574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2563EB"/>
                </a:solidFill>
                <a:latin typeface="Consolas"/>
                <a:ea typeface="Consolas"/>
                <a:cs typeface="Consolas"/>
              </a:defRPr>
            </a:pPr>
            <a:r>
              <a:rPr sz="1425" b="1">
                <a:solidFill>
                  <a:srgbClr val="2563EB"/>
                </a:solidFill>
                <a:latin typeface="Consolas"/>
                <a:ea typeface="Consolas"/>
                <a:cs typeface="Consolas"/>
              </a:rPr>
              <a:t>lower_max / lower_mid</a:t>
            </a:r>
          </a:p>
        </p:txBody>
      </p:sp>
      <p:sp>
        <p:nvSpPr>
          <p:cNvPr id="8" name="">
            <a:extLst xmlns:a="http://schemas.openxmlformats.org/drawingml/2006/main">
              <a:ext uri="{FF2B5EF4-FFF2-40B4-BE49-F238E27FC236}">
                <a16:creationId xmlns:a16="http://schemas.microsoft.com/office/drawing/2014/main" id="{2A4B70E1-AFE9-48E6-88FB-3AB2C387DE8D}"/>
              </a:ext>
            </a:extLst>
          </p:cNvPr>
          <p:cNvSpPr>
            <a:spLocks xmlns:a="http://schemas.openxmlformats.org/drawingml/2006/main" noGrp="1"/>
          </p:cNvSpPr>
          <p:nvPr/>
        </p:nvSpPr>
        <p:spPr>
          <a:xfrm xmlns:a="http://schemas.openxmlformats.org/drawingml/2006/main">
            <a:off x="4629150" y="22574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lgn="l">
              <a:defRPr sz="1500" b="0">
                <a:solidFill>
                  <a:srgbClr val="0F172A"/>
                </a:solidFill>
                <a:latin typeface="Microsoft JhengHei"/>
                <a:ea typeface="Microsoft JhengHei"/>
                <a:cs typeface="Microsoft JhengHei"/>
              </a:defRPr>
            </a:pPr>
            <a:r>
              <a:rPr sz="1500" b="0">
                <a:solidFill>
                  <a:srgbClr val="0F172A"/>
                </a:solidFill>
                <a:latin typeface="Microsoft JhengHei"/>
                <a:ea typeface="Microsoft JhengHei"/>
                <a:cs typeface="Microsoft JhengHei"/>
              </a:rPr>
              <a:t>Lower-body cone-channel color</a:t>
            </a:r>
          </a:p>
        </p:txBody>
      </p:sp>
      <p:sp>
        <p:nvSpPr>
          <p:cNvPr id="9" name="">
            <a:extLst xmlns:a="http://schemas.openxmlformats.org/drawingml/2006/main">
              <a:ext uri="{FF2B5EF4-FFF2-40B4-BE49-F238E27FC236}">
                <a16:creationId xmlns:a16="http://schemas.microsoft.com/office/drawing/2014/main" id="{ABDD9F52-8763-4AC1-A007-062B9601F78D}"/>
              </a:ext>
            </a:extLst>
          </p:cNvPr>
          <p:cNvSpPr>
            <a:spLocks xmlns:a="http://schemas.openxmlformats.org/drawingml/2006/main" noGrp="1"/>
          </p:cNvSpPr>
          <p:nvPr/>
        </p:nvSpPr>
        <p:spPr>
          <a:xfrm xmlns:a="http://schemas.openxmlformats.org/drawingml/2006/main">
            <a:off x="933450" y="2819400"/>
            <a:ext cx="10325100" cy="476250"/>
          </a:xfrm>
          <a:prstGeom xmlns:a="http://schemas.openxmlformats.org/drawingml/2006/main" prst="roundRect">
            <a:avLst>
              <a:gd name="adj" fmla="val 16000"/>
            </a:avLst>
          </a:prstGeom>
          <a:solidFill xmlns:a="http://schemas.openxmlformats.org/drawingml/2006/main">
            <a:srgbClr val="F1F5F9"/>
          </a:solidFill>
          <a:ln xmlns:a="http://schemas.openxmlformats.org/drawingml/2006/main" w="9525">
            <a:solidFill>
              <a:srgbClr val="CBD5E1"/>
            </a:solidFill>
          </a:ln>
        </p:spPr>
      </p:sp>
      <p:sp>
        <p:nvSpPr>
          <p:cNvPr id="10" name="">
            <a:extLst xmlns:a="http://schemas.openxmlformats.org/drawingml/2006/main">
              <a:ext uri="{FF2B5EF4-FFF2-40B4-BE49-F238E27FC236}">
                <a16:creationId xmlns:a16="http://schemas.microsoft.com/office/drawing/2014/main" id="{1AF54144-A668-4E44-A5B2-B1154BAF54FD}"/>
              </a:ext>
            </a:extLst>
          </p:cNvPr>
          <p:cNvSpPr>
            <a:spLocks xmlns:a="http://schemas.openxmlformats.org/drawingml/2006/main" noGrp="1"/>
          </p:cNvSpPr>
          <p:nvPr/>
        </p:nvSpPr>
        <p:spPr>
          <a:xfrm xmlns:a="http://schemas.openxmlformats.org/drawingml/2006/main">
            <a:off x="1181100" y="29051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2563EB"/>
                </a:solidFill>
                <a:latin typeface="Consolas"/>
                <a:ea typeface="Consolas"/>
                <a:cs typeface="Consolas"/>
              </a:defRPr>
            </a:pPr>
            <a:r>
              <a:rPr sz="1425" b="1">
                <a:solidFill>
                  <a:srgbClr val="2563EB"/>
                </a:solidFill>
                <a:latin typeface="Consolas"/>
                <a:ea typeface="Consolas"/>
                <a:cs typeface="Consolas"/>
              </a:rPr>
              <a:t>rod</a:t>
            </a:r>
          </a:p>
        </p:txBody>
      </p:sp>
      <p:sp>
        <p:nvSpPr>
          <p:cNvPr id="11" name="">
            <a:extLst xmlns:a="http://schemas.openxmlformats.org/drawingml/2006/main">
              <a:ext uri="{FF2B5EF4-FFF2-40B4-BE49-F238E27FC236}">
                <a16:creationId xmlns:a16="http://schemas.microsoft.com/office/drawing/2014/main" id="{B652022C-9E3E-4DE8-B42C-1589765B39D9}"/>
              </a:ext>
            </a:extLst>
          </p:cNvPr>
          <p:cNvSpPr>
            <a:spLocks xmlns:a="http://schemas.openxmlformats.org/drawingml/2006/main" noGrp="1"/>
          </p:cNvSpPr>
          <p:nvPr/>
        </p:nvSpPr>
        <p:spPr>
          <a:xfrm xmlns:a="http://schemas.openxmlformats.org/drawingml/2006/main">
            <a:off x="4629150" y="29051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lgn="l">
              <a:defRPr sz="1500" b="0">
                <a:solidFill>
                  <a:srgbClr val="0F172A"/>
                </a:solidFill>
                <a:latin typeface="Microsoft JhengHei"/>
                <a:ea typeface="Microsoft JhengHei"/>
                <a:cs typeface="Microsoft JhengHei"/>
              </a:defRPr>
            </a:pPr>
            <a:r>
              <a:rPr sz="1500" b="0">
                <a:solidFill>
                  <a:srgbClr val="0F172A"/>
                </a:solidFill>
                <a:latin typeface="Microsoft JhengHei"/>
                <a:ea typeface="Microsoft JhengHei"/>
                <a:cs typeface="Microsoft JhengHei"/>
              </a:rPr>
              <a:t>Low-saturation grayscale appearance</a:t>
            </a:r>
          </a:p>
        </p:txBody>
      </p:sp>
      <p:sp>
        <p:nvSpPr>
          <p:cNvPr id="12" name="">
            <a:extLst xmlns:a="http://schemas.openxmlformats.org/drawingml/2006/main">
              <a:ext uri="{FF2B5EF4-FFF2-40B4-BE49-F238E27FC236}">
                <a16:creationId xmlns:a16="http://schemas.microsoft.com/office/drawing/2014/main" id="{E75B772B-4364-4CC3-BD18-06D9D62D4382}"/>
              </a:ext>
            </a:extLst>
          </p:cNvPr>
          <p:cNvSpPr>
            <a:spLocks xmlns:a="http://schemas.openxmlformats.org/drawingml/2006/main" noGrp="1"/>
          </p:cNvSpPr>
          <p:nvPr/>
        </p:nvSpPr>
        <p:spPr>
          <a:xfrm xmlns:a="http://schemas.openxmlformats.org/drawingml/2006/main">
            <a:off x="933450" y="3467100"/>
            <a:ext cx="103251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5E1"/>
            </a:solidFill>
          </a:ln>
        </p:spPr>
      </p:sp>
      <p:sp>
        <p:nvSpPr>
          <p:cNvPr id="13" name="">
            <a:extLst xmlns:a="http://schemas.openxmlformats.org/drawingml/2006/main">
              <a:ext uri="{FF2B5EF4-FFF2-40B4-BE49-F238E27FC236}">
                <a16:creationId xmlns:a16="http://schemas.microsoft.com/office/drawing/2014/main" id="{AA417FCE-AEE0-414E-BB18-956E5B00DD65}"/>
              </a:ext>
            </a:extLst>
          </p:cNvPr>
          <p:cNvSpPr>
            <a:spLocks xmlns:a="http://schemas.openxmlformats.org/drawingml/2006/main" noGrp="1"/>
          </p:cNvSpPr>
          <p:nvPr/>
        </p:nvSpPr>
        <p:spPr>
          <a:xfrm xmlns:a="http://schemas.openxmlformats.org/drawingml/2006/main">
            <a:off x="1181100" y="35528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2563EB"/>
                </a:solidFill>
                <a:latin typeface="Consolas"/>
                <a:ea typeface="Consolas"/>
                <a:cs typeface="Consolas"/>
              </a:defRPr>
            </a:pPr>
            <a:r>
              <a:rPr sz="1425" b="1">
                <a:solidFill>
                  <a:srgbClr val="2563EB"/>
                </a:solidFill>
                <a:latin typeface="Consolas"/>
                <a:ea typeface="Consolas"/>
                <a:cs typeface="Consolas"/>
              </a:rPr>
              <a:t>area</a:t>
            </a:r>
          </a:p>
        </p:txBody>
      </p:sp>
      <p:sp>
        <p:nvSpPr>
          <p:cNvPr id="14" name="">
            <a:extLst xmlns:a="http://schemas.openxmlformats.org/drawingml/2006/main">
              <a:ext uri="{FF2B5EF4-FFF2-40B4-BE49-F238E27FC236}">
                <a16:creationId xmlns:a16="http://schemas.microsoft.com/office/drawing/2014/main" id="{D70441A2-8F5D-49E1-A8EF-C82324FC13F4}"/>
              </a:ext>
            </a:extLst>
          </p:cNvPr>
          <p:cNvSpPr>
            <a:spLocks xmlns:a="http://schemas.openxmlformats.org/drawingml/2006/main" noGrp="1"/>
          </p:cNvSpPr>
          <p:nvPr/>
        </p:nvSpPr>
        <p:spPr>
          <a:xfrm xmlns:a="http://schemas.openxmlformats.org/drawingml/2006/main">
            <a:off x="4629150" y="35528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lgn="l">
              <a:defRPr sz="1500" b="0">
                <a:solidFill>
                  <a:srgbClr val="0F172A"/>
                </a:solidFill>
                <a:latin typeface="Microsoft JhengHei"/>
                <a:ea typeface="Microsoft JhengHei"/>
                <a:cs typeface="Microsoft JhengHei"/>
              </a:defRPr>
            </a:pPr>
            <a:r>
              <a:rPr sz="1500" b="0">
                <a:solidFill>
                  <a:srgbClr val="0F172A"/>
                </a:solidFill>
                <a:latin typeface="Microsoft JhengHei"/>
                <a:ea typeface="Microsoft JhengHei"/>
                <a:cs typeface="Microsoft JhengHei"/>
              </a:rPr>
              <a:t>Number of foreground pixels</a:t>
            </a:r>
          </a:p>
        </p:txBody>
      </p:sp>
      <p:sp>
        <p:nvSpPr>
          <p:cNvPr id="15" name="">
            <a:extLst xmlns:a="http://schemas.openxmlformats.org/drawingml/2006/main">
              <a:ext uri="{FF2B5EF4-FFF2-40B4-BE49-F238E27FC236}">
                <a16:creationId xmlns:a16="http://schemas.microsoft.com/office/drawing/2014/main" id="{B74098EC-64A1-4301-8B76-25EBF9DC61CB}"/>
              </a:ext>
            </a:extLst>
          </p:cNvPr>
          <p:cNvSpPr>
            <a:spLocks xmlns:a="http://schemas.openxmlformats.org/drawingml/2006/main" noGrp="1"/>
          </p:cNvSpPr>
          <p:nvPr/>
        </p:nvSpPr>
        <p:spPr>
          <a:xfrm xmlns:a="http://schemas.openxmlformats.org/drawingml/2006/main">
            <a:off x="933450" y="4114800"/>
            <a:ext cx="10325100" cy="476250"/>
          </a:xfrm>
          <a:prstGeom xmlns:a="http://schemas.openxmlformats.org/drawingml/2006/main" prst="roundRect">
            <a:avLst>
              <a:gd name="adj" fmla="val 16000"/>
            </a:avLst>
          </a:prstGeom>
          <a:solidFill xmlns:a="http://schemas.openxmlformats.org/drawingml/2006/main">
            <a:srgbClr val="F1F5F9"/>
          </a:solidFill>
          <a:ln xmlns:a="http://schemas.openxmlformats.org/drawingml/2006/main" w="9525">
            <a:solidFill>
              <a:srgbClr val="CBD5E1"/>
            </a:solidFill>
          </a:ln>
        </p:spPr>
      </p:sp>
      <p:sp>
        <p:nvSpPr>
          <p:cNvPr id="16" name="">
            <a:extLst xmlns:a="http://schemas.openxmlformats.org/drawingml/2006/main">
              <a:ext uri="{FF2B5EF4-FFF2-40B4-BE49-F238E27FC236}">
                <a16:creationId xmlns:a16="http://schemas.microsoft.com/office/drawing/2014/main" id="{10019197-F812-4DE1-A87D-D98CCB0C7670}"/>
              </a:ext>
            </a:extLst>
          </p:cNvPr>
          <p:cNvSpPr>
            <a:spLocks xmlns:a="http://schemas.openxmlformats.org/drawingml/2006/main" noGrp="1"/>
          </p:cNvSpPr>
          <p:nvPr/>
        </p:nvSpPr>
        <p:spPr>
          <a:xfrm xmlns:a="http://schemas.openxmlformats.org/drawingml/2006/main">
            <a:off x="1181100" y="42005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2563EB"/>
                </a:solidFill>
                <a:latin typeface="Consolas"/>
                <a:ea typeface="Consolas"/>
                <a:cs typeface="Consolas"/>
              </a:defRPr>
            </a:pPr>
            <a:r>
              <a:rPr sz="1425" b="1">
                <a:solidFill>
                  <a:srgbClr val="2563EB"/>
                </a:solidFill>
                <a:latin typeface="Consolas"/>
                <a:ea typeface="Consolas"/>
                <a:cs typeface="Consolas"/>
              </a:rPr>
              <a:t>center_x / center_y</a:t>
            </a:r>
          </a:p>
        </p:txBody>
      </p:sp>
      <p:sp>
        <p:nvSpPr>
          <p:cNvPr id="17" name="">
            <a:extLst xmlns:a="http://schemas.openxmlformats.org/drawingml/2006/main">
              <a:ext uri="{FF2B5EF4-FFF2-40B4-BE49-F238E27FC236}">
                <a16:creationId xmlns:a16="http://schemas.microsoft.com/office/drawing/2014/main" id="{FA3524E3-54A6-4D55-BE8B-A6093963400E}"/>
              </a:ext>
            </a:extLst>
          </p:cNvPr>
          <p:cNvSpPr>
            <a:spLocks xmlns:a="http://schemas.openxmlformats.org/drawingml/2006/main" noGrp="1"/>
          </p:cNvSpPr>
          <p:nvPr/>
        </p:nvSpPr>
        <p:spPr>
          <a:xfrm xmlns:a="http://schemas.openxmlformats.org/drawingml/2006/main">
            <a:off x="4629150" y="42005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lgn="l">
              <a:defRPr sz="1500" b="0">
                <a:solidFill>
                  <a:srgbClr val="0F172A"/>
                </a:solidFill>
                <a:latin typeface="Microsoft JhengHei"/>
                <a:ea typeface="Microsoft JhengHei"/>
                <a:cs typeface="Microsoft JhengHei"/>
              </a:defRPr>
            </a:pPr>
            <a:r>
              <a:rPr sz="1500" b="0">
                <a:solidFill>
                  <a:srgbClr val="0F172A"/>
                </a:solidFill>
                <a:latin typeface="Microsoft JhengHei"/>
                <a:ea typeface="Microsoft JhengHei"/>
                <a:cs typeface="Microsoft JhengHei"/>
              </a:rPr>
              <a:t>Rough object position</a:t>
            </a:r>
          </a:p>
        </p:txBody>
      </p:sp>
      <p:sp>
        <p:nvSpPr>
          <p:cNvPr id="18" name="">
            <a:extLst xmlns:a="http://schemas.openxmlformats.org/drawingml/2006/main">
              <a:ext uri="{FF2B5EF4-FFF2-40B4-BE49-F238E27FC236}">
                <a16:creationId xmlns:a16="http://schemas.microsoft.com/office/drawing/2014/main" id="{7587A712-01E2-46BB-8EAD-84BF8EB1C0F5}"/>
              </a:ext>
            </a:extLst>
          </p:cNvPr>
          <p:cNvSpPr>
            <a:spLocks xmlns:a="http://schemas.openxmlformats.org/drawingml/2006/main" noGrp="1"/>
          </p:cNvSpPr>
          <p:nvPr/>
        </p:nvSpPr>
        <p:spPr>
          <a:xfrm xmlns:a="http://schemas.openxmlformats.org/drawingml/2006/main">
            <a:off x="933450" y="4762500"/>
            <a:ext cx="103251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5E1"/>
            </a:solidFill>
          </a:ln>
        </p:spPr>
      </p:sp>
      <p:sp>
        <p:nvSpPr>
          <p:cNvPr id="19" name="">
            <a:extLst xmlns:a="http://schemas.openxmlformats.org/drawingml/2006/main">
              <a:ext uri="{FF2B5EF4-FFF2-40B4-BE49-F238E27FC236}">
                <a16:creationId xmlns:a16="http://schemas.microsoft.com/office/drawing/2014/main" id="{06A8D371-842F-4D74-A7BB-577AFB5943D4}"/>
              </a:ext>
            </a:extLst>
          </p:cNvPr>
          <p:cNvSpPr>
            <a:spLocks xmlns:a="http://schemas.openxmlformats.org/drawingml/2006/main" noGrp="1"/>
          </p:cNvSpPr>
          <p:nvPr/>
        </p:nvSpPr>
        <p:spPr>
          <a:xfrm xmlns:a="http://schemas.openxmlformats.org/drawingml/2006/main">
            <a:off x="1181100" y="48482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2563EB"/>
                </a:solidFill>
                <a:latin typeface="Consolas"/>
                <a:ea typeface="Consolas"/>
                <a:cs typeface="Consolas"/>
              </a:defRPr>
            </a:pPr>
            <a:r>
              <a:rPr sz="1425" b="1">
                <a:solidFill>
                  <a:srgbClr val="2563EB"/>
                </a:solidFill>
                <a:latin typeface="Consolas"/>
                <a:ea typeface="Consolas"/>
                <a:cs typeface="Consolas"/>
              </a:rPr>
              <a:t>edge_count</a:t>
            </a:r>
          </a:p>
        </p:txBody>
      </p:sp>
      <p:sp>
        <p:nvSpPr>
          <p:cNvPr id="20" name="">
            <a:extLst xmlns:a="http://schemas.openxmlformats.org/drawingml/2006/main">
              <a:ext uri="{FF2B5EF4-FFF2-40B4-BE49-F238E27FC236}">
                <a16:creationId xmlns:a16="http://schemas.microsoft.com/office/drawing/2014/main" id="{698E1710-BF74-4AC5-95E9-436E2F459058}"/>
              </a:ext>
            </a:extLst>
          </p:cNvPr>
          <p:cNvSpPr>
            <a:spLocks xmlns:a="http://schemas.openxmlformats.org/drawingml/2006/main" noGrp="1"/>
          </p:cNvSpPr>
          <p:nvPr/>
        </p:nvSpPr>
        <p:spPr>
          <a:xfrm xmlns:a="http://schemas.openxmlformats.org/drawingml/2006/main">
            <a:off x="4629150" y="48482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lgn="l">
              <a:defRPr sz="1500" b="0">
                <a:solidFill>
                  <a:srgbClr val="0F172A"/>
                </a:solidFill>
                <a:latin typeface="Microsoft JhengHei"/>
                <a:ea typeface="Microsoft JhengHei"/>
                <a:cs typeface="Microsoft JhengHei"/>
              </a:defRPr>
            </a:pPr>
            <a:r>
              <a:rPr sz="1500" b="0">
                <a:solidFill>
                  <a:srgbClr val="0F172A"/>
                </a:solidFill>
                <a:latin typeface="Microsoft JhengHei"/>
                <a:ea typeface="Microsoft JhengHei"/>
                <a:cs typeface="Microsoft JhengHei"/>
              </a:rPr>
              <a:t>Neighbor RGB difference boundary count</a:t>
            </a:r>
          </a:p>
        </p:txBody>
      </p:sp>
      <p:sp>
        <p:nvSpPr>
          <p:cNvPr id="21" name="">
            <a:extLst xmlns:a="http://schemas.openxmlformats.org/drawingml/2006/main">
              <a:ext uri="{FF2B5EF4-FFF2-40B4-BE49-F238E27FC236}">
                <a16:creationId xmlns:a16="http://schemas.microsoft.com/office/drawing/2014/main" id="{244C786E-0180-4E17-9C76-FF60ACF8C73B}"/>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05</a:t>
            </a:r>
          </a:p>
        </p:txBody>
      </p:sp>
    </p:spTree>
    <p:extLst>
      <p:ext uri="{BB962C8B-B14F-4D97-AF65-F5344CB8AC3E}">
        <p14:creationId xmlns:p14="http://schemas.microsoft.com/office/powerpoint/2010/main" val="437630878"/>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790C56-2F4A-4BEF-9AF2-A8DDD4FFB8D6}"/>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Neighbor Pixel Difference</a:t>
            </a:r>
          </a:p>
        </p:txBody>
      </p:sp>
      <p:sp>
        <p:nvSpPr>
          <p:cNvPr id="2" name="">
            <a:extLst xmlns:a="http://schemas.openxmlformats.org/drawingml/2006/main">
              <a:ext uri="{FF2B5EF4-FFF2-40B4-BE49-F238E27FC236}">
                <a16:creationId xmlns:a16="http://schemas.microsoft.com/office/drawing/2014/main" id="{1D757E7E-C9DA-4613-A620-FCB4450428A2}"/>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The object-boundary concept used in the upgrade</a:t>
            </a:r>
          </a:p>
        </p:txBody>
      </p:sp>
      <p:sp>
        <p:nvSpPr>
          <p:cNvPr id="3" name="">
            <a:extLst xmlns:a="http://schemas.openxmlformats.org/drawingml/2006/main">
              <a:ext uri="{FF2B5EF4-FFF2-40B4-BE49-F238E27FC236}">
                <a16:creationId xmlns:a16="http://schemas.microsoft.com/office/drawing/2014/main" id="{597D64A3-3C8E-4107-B0EA-FD72D919EAE0}"/>
              </a:ext>
            </a:extLst>
          </p:cNvPr>
          <p:cNvSpPr>
            <a:spLocks xmlns:a="http://schemas.openxmlformats.org/drawingml/2006/main" noGrp="1"/>
          </p:cNvSpPr>
          <p:nvPr/>
        </p:nvSpPr>
        <p:spPr>
          <a:xfrm xmlns:a="http://schemas.openxmlformats.org/drawingml/2006/main">
            <a:off x="762000" y="1600200"/>
            <a:ext cx="5143500" cy="3733800"/>
          </a:xfrm>
          <a:prstGeom xmlns:a="http://schemas.openxmlformats.org/drawingml/2006/main" prst="roundRect">
            <a:avLst>
              <a:gd name="adj" fmla="val 2041"/>
            </a:avLst>
          </a:prstGeom>
          <a:solidFill xmlns:a="http://schemas.openxmlformats.org/drawingml/2006/main">
            <a:srgbClr val="FFFF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BCFC327B-C085-441C-BF7D-613DEBE20A21}"/>
              </a:ext>
            </a:extLst>
          </p:cNvPr>
          <p:cNvSpPr>
            <a:spLocks xmlns:a="http://schemas.openxmlformats.org/drawingml/2006/main" noGrp="1"/>
          </p:cNvSpPr>
          <p:nvPr/>
        </p:nvSpPr>
        <p:spPr>
          <a:xfrm xmlns:a="http://schemas.openxmlformats.org/drawingml/2006/main">
            <a:off x="990600" y="1809750"/>
            <a:ext cx="4686300" cy="3314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For each foreground pixel, compare RGB value with the pixel on the right.</a:t>
            </a:r>
          </a:p>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Also compare RGB value with the pixel below.</a:t>
            </a:r>
          </a:p>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If the color difference exceeds the threshold, count it as an edge point.</a:t>
            </a:r>
          </a:p>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The edge count becomes one feature in the final matching score.</a:t>
            </a:r>
          </a:p>
        </p:txBody>
      </p:sp>
      <p:sp>
        <p:nvSpPr>
          <p:cNvPr id="5" name="">
            <a:extLst xmlns:a="http://schemas.openxmlformats.org/drawingml/2006/main">
              <a:ext uri="{FF2B5EF4-FFF2-40B4-BE49-F238E27FC236}">
                <a16:creationId xmlns:a16="http://schemas.microsoft.com/office/drawing/2014/main" id="{3C293B48-0B1B-4504-A263-71C9132CD793}"/>
              </a:ext>
            </a:extLst>
          </p:cNvPr>
          <p:cNvSpPr>
            <a:spLocks xmlns:a="http://schemas.openxmlformats.org/drawingml/2006/main" noGrp="1"/>
          </p:cNvSpPr>
          <p:nvPr/>
        </p:nvSpPr>
        <p:spPr>
          <a:xfrm xmlns:a="http://schemas.openxmlformats.org/drawingml/2006/main">
            <a:off x="6743700" y="2247900"/>
            <a:ext cx="37147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250" b="1">
                <a:solidFill>
                  <a:srgbClr val="DC2626"/>
                </a:solidFill>
                <a:latin typeface="Consolas"/>
                <a:ea typeface="Consolas"/>
                <a:cs typeface="Consolas"/>
              </a:defRPr>
            </a:pPr>
            <a:r>
              <a:rPr sz="2250" b="1">
                <a:solidFill>
                  <a:srgbClr val="DC2626"/>
                </a:solidFill>
                <a:latin typeface="Consolas"/>
                <a:ea typeface="Consolas"/>
                <a:cs typeface="Consolas"/>
              </a:rPr>
              <a:t>edge if</a:t>
            </a:r>
          </a:p>
          <a:p xmlns:a="http://schemas.openxmlformats.org/drawingml/2006/main">
            <a:pPr algn="ctr">
              <a:defRPr sz="2250" b="1">
                <a:solidFill>
                  <a:srgbClr val="DC2626"/>
                </a:solidFill>
                <a:latin typeface="Consolas"/>
                <a:ea typeface="Consolas"/>
                <a:cs typeface="Consolas"/>
              </a:defRPr>
            </a:pPr>
            <a:r>
              <a:rPr sz="2250" b="1">
                <a:solidFill>
                  <a:srgbClr val="DC2626"/>
                </a:solidFill>
                <a:latin typeface="Consolas"/>
                <a:ea typeface="Consolas"/>
                <a:cs typeface="Consolas"/>
              </a:rPr>
              <a:t>|R-Rn| + |G-Gn| + |B-Bn| &gt;= 96</a:t>
            </a:r>
          </a:p>
        </p:txBody>
      </p:sp>
      <p:sp>
        <p:nvSpPr>
          <p:cNvPr id="6" name="">
            <a:extLst xmlns:a="http://schemas.openxmlformats.org/drawingml/2006/main">
              <a:ext uri="{FF2B5EF4-FFF2-40B4-BE49-F238E27FC236}">
                <a16:creationId xmlns:a16="http://schemas.microsoft.com/office/drawing/2014/main" id="{84F5DF5D-4418-4F0A-A599-EE64F6C01B6C}"/>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06</a:t>
            </a:r>
          </a:p>
        </p:txBody>
      </p:sp>
    </p:spTree>
    <p:extLst>
      <p:ext uri="{BB962C8B-B14F-4D97-AF65-F5344CB8AC3E}">
        <p14:creationId xmlns:p14="http://schemas.microsoft.com/office/powerpoint/2010/main" val="1560010414"/>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28CD813-5968-4A51-9E67-E5D693269C61}"/>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Vivado Files</a:t>
            </a:r>
          </a:p>
        </p:txBody>
      </p:sp>
      <p:sp>
        <p:nvSpPr>
          <p:cNvPr id="2" name="">
            <a:extLst xmlns:a="http://schemas.openxmlformats.org/drawingml/2006/main">
              <a:ext uri="{FF2B5EF4-FFF2-40B4-BE49-F238E27FC236}">
                <a16:creationId xmlns:a16="http://schemas.microsoft.com/office/drawing/2014/main" id="{C8C96B5F-3FBF-49BE-B820-3BC685C21CC5}"/>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Files included in the current project</a:t>
            </a:r>
          </a:p>
        </p:txBody>
      </p:sp>
      <p:sp>
        <p:nvSpPr>
          <p:cNvPr id="3" name="">
            <a:extLst xmlns:a="http://schemas.openxmlformats.org/drawingml/2006/main">
              <a:ext uri="{FF2B5EF4-FFF2-40B4-BE49-F238E27FC236}">
                <a16:creationId xmlns:a16="http://schemas.microsoft.com/office/drawing/2014/main" id="{F730215C-9313-42C7-ADB1-0CD71FC02ED7}"/>
              </a:ext>
            </a:extLst>
          </p:cNvPr>
          <p:cNvSpPr>
            <a:spLocks xmlns:a="http://schemas.openxmlformats.org/drawingml/2006/main" noGrp="1"/>
          </p:cNvSpPr>
          <p:nvPr/>
        </p:nvSpPr>
        <p:spPr>
          <a:xfrm xmlns:a="http://schemas.openxmlformats.org/drawingml/2006/main">
            <a:off x="762000" y="1504950"/>
            <a:ext cx="10668000" cy="3905250"/>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8CD1A2B4-28F6-4C1D-927F-33630B56039D}"/>
              </a:ext>
            </a:extLst>
          </p:cNvPr>
          <p:cNvSpPr>
            <a:spLocks xmlns:a="http://schemas.openxmlformats.org/drawingml/2006/main" noGrp="1"/>
          </p:cNvSpPr>
          <p:nvPr/>
        </p:nvSpPr>
        <p:spPr>
          <a:xfrm xmlns:a="http://schemas.openxmlformats.org/drawingml/2006/main">
            <a:off x="990600" y="1714500"/>
            <a:ext cx="1021080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two_image_person_identifier_rgb.v: top module</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visual_channel_feature_extractor_rgb.v: RGB feature extractor</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person_reid_matcher.v: weighted feature matcher</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tb_rgb_from_mem.v: simulation entry using image_a_rgb.mem and image_b_rgb.mem</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convert_images_to_rgb_mem.ps1: converts JPG or PNG into 8x8 RGB hex data</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create_vivado_project.tcl: builds the Vivado project</a:t>
            </a:r>
          </a:p>
        </p:txBody>
      </p:sp>
      <p:sp>
        <p:nvSpPr>
          <p:cNvPr id="5" name="">
            <a:extLst xmlns:a="http://schemas.openxmlformats.org/drawingml/2006/main">
              <a:ext uri="{FF2B5EF4-FFF2-40B4-BE49-F238E27FC236}">
                <a16:creationId xmlns:a16="http://schemas.microsoft.com/office/drawing/2014/main" id="{698A382A-23D2-4CBE-B2C2-25F14CA97682}"/>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07</a:t>
            </a:r>
          </a:p>
        </p:txBody>
      </p:sp>
    </p:spTree>
    <p:extLst>
      <p:ext uri="{BB962C8B-B14F-4D97-AF65-F5344CB8AC3E}">
        <p14:creationId xmlns:p14="http://schemas.microsoft.com/office/powerpoint/2010/main" val="589999051"/>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4F16E3-FB06-478F-9C61-7B3C1799FEA6}"/>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Professor Review</a:t>
            </a:r>
          </a:p>
        </p:txBody>
      </p:sp>
      <p:sp>
        <p:nvSpPr>
          <p:cNvPr id="2" name="">
            <a:extLst xmlns:a="http://schemas.openxmlformats.org/drawingml/2006/main">
              <a:ext uri="{FF2B5EF4-FFF2-40B4-BE49-F238E27FC236}">
                <a16:creationId xmlns:a16="http://schemas.microsoft.com/office/drawing/2014/main" id="{3FBB7378-BAE0-411C-93FE-4F3AA66175DB}"/>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Self-check from a stricter viewpoint</a:t>
            </a:r>
          </a:p>
        </p:txBody>
      </p:sp>
      <p:sp>
        <p:nvSpPr>
          <p:cNvPr id="3" name="">
            <a:extLst xmlns:a="http://schemas.openxmlformats.org/drawingml/2006/main">
              <a:ext uri="{FF2B5EF4-FFF2-40B4-BE49-F238E27FC236}">
                <a16:creationId xmlns:a16="http://schemas.microsoft.com/office/drawing/2014/main" id="{8D3B7FAE-F3C0-41C3-9225-817A96148E8E}"/>
              </a:ext>
            </a:extLst>
          </p:cNvPr>
          <p:cNvSpPr>
            <a:spLocks xmlns:a="http://schemas.openxmlformats.org/drawingml/2006/main" noGrp="1"/>
          </p:cNvSpPr>
          <p:nvPr/>
        </p:nvSpPr>
        <p:spPr>
          <a:xfrm xmlns:a="http://schemas.openxmlformats.org/drawingml/2006/main">
            <a:off x="762000" y="1466850"/>
            <a:ext cx="10668000" cy="4095750"/>
          </a:xfrm>
          <a:prstGeom xmlns:a="http://schemas.openxmlformats.org/drawingml/2006/main" prst="roundRect">
            <a:avLst>
              <a:gd name="adj" fmla="val 1860"/>
            </a:avLst>
          </a:prstGeom>
          <a:solidFill xmlns:a="http://schemas.openxmlformats.org/drawingml/2006/main">
            <a:srgbClr val="FFF7ED"/>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E7098E70-C907-4021-BA68-0D9436A21B29}"/>
              </a:ext>
            </a:extLst>
          </p:cNvPr>
          <p:cNvSpPr>
            <a:spLocks xmlns:a="http://schemas.openxmlformats.org/drawingml/2006/main" noGrp="1"/>
          </p:cNvSpPr>
          <p:nvPr/>
        </p:nvSpPr>
        <p:spPr>
          <a:xfrm xmlns:a="http://schemas.openxmlformats.org/drawingml/2006/main">
            <a:off x="990600" y="1676400"/>
            <a:ext cx="10210800" cy="3676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Improvement made: replaced plain brightness with RGB visual-channel and neighbor color-difference edge features.</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Remaining weakness: the image must already be cropped around the person or object.</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Remaining weakness: 8x8 resolution loses detailed clothing patterns.</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Next improvement: add a small background model or ROI selector before feature extraction.</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Next improvement: split the body into more regions, such as head, upper body, pants, and shoes.</a:t>
            </a:r>
          </a:p>
        </p:txBody>
      </p:sp>
      <p:sp>
        <p:nvSpPr>
          <p:cNvPr id="5" name="">
            <a:extLst xmlns:a="http://schemas.openxmlformats.org/drawingml/2006/main">
              <a:ext uri="{FF2B5EF4-FFF2-40B4-BE49-F238E27FC236}">
                <a16:creationId xmlns:a16="http://schemas.microsoft.com/office/drawing/2014/main" id="{24DAEC6A-3119-4E8A-8BE8-D743AD6B1746}"/>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08</a:t>
            </a:r>
          </a:p>
        </p:txBody>
      </p:sp>
    </p:spTree>
    <p:extLst>
      <p:ext uri="{BB962C8B-B14F-4D97-AF65-F5344CB8AC3E}">
        <p14:creationId xmlns:p14="http://schemas.microsoft.com/office/powerpoint/2010/main" val="1035832196"/>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B6AC1D-2279-41B6-B261-712EBAB0E882}"/>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092C2F0C-6CC4-4F7B-B820-A365A0625585}"/>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1-18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e89f1432d6240f4"/>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1397F8C-85F6-44D3-8D6F-44C114A65A80}"/>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Define the RGB feature extractor and its image size, pixel width, foreground threshold, color-edge threshold, and minimum object area.</a:t>
            </a:r>
          </a:p>
        </p:txBody>
      </p:sp>
      <p:sp>
        <p:nvSpPr>
          <p:cNvPr id="5" name="">
            <a:extLst xmlns:a="http://schemas.openxmlformats.org/drawingml/2006/main">
              <a:ext uri="{FF2B5EF4-FFF2-40B4-BE49-F238E27FC236}">
                <a16:creationId xmlns:a16="http://schemas.microsoft.com/office/drawing/2014/main" id="{2BDEEE3F-93A4-4CAE-B850-9ACA708FE5E5}"/>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09</a:t>
            </a:r>
          </a:p>
        </p:txBody>
      </p:sp>
    </p:spTree>
    <p:extLst>
      <p:ext uri="{BB962C8B-B14F-4D97-AF65-F5344CB8AC3E}">
        <p14:creationId xmlns:p14="http://schemas.microsoft.com/office/powerpoint/2010/main" val="459832331"/>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12F429C-2B5B-4B42-A689-D3AD562EB1B7}"/>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D00E1752-BA88-4C89-BF34-09F505E8E3B1}"/>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19-36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3416fd2b48f4d30"/>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B726006-8249-4244-8AA9-D2B4A2B4E86C}"/>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Declare one flattened RGB image input and the extracted feature outputs: upper/lower color, rod brightness, area, center, edge count, and present flag.</a:t>
            </a:r>
          </a:p>
        </p:txBody>
      </p:sp>
      <p:sp>
        <p:nvSpPr>
          <p:cNvPr id="5" name="">
            <a:extLst xmlns:a="http://schemas.openxmlformats.org/drawingml/2006/main">
              <a:ext uri="{FF2B5EF4-FFF2-40B4-BE49-F238E27FC236}">
                <a16:creationId xmlns:a16="http://schemas.microsoft.com/office/drawing/2014/main" id="{B6499483-ED1E-4A23-965E-A3B41EF0850F}"/>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10</a:t>
            </a:r>
          </a:p>
        </p:txBody>
      </p:sp>
    </p:spTree>
    <p:extLst>
      <p:ext uri="{BB962C8B-B14F-4D97-AF65-F5344CB8AC3E}">
        <p14:creationId xmlns:p14="http://schemas.microsoft.com/office/powerpoint/2010/main" val="1979949472"/>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715E19-6951-41D2-9D2D-4BD1C8447EAC}"/>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193FDD53-9E98-494B-B2BB-67E8DF96C263}"/>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37-54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e2e694a9c554433"/>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E1461BD-C5A3-4859-8C82-D4E2D24A8DC3}"/>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810"/>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Declare loop indices and temporary pixel values. These registers hold RGB channels, visual-channel values, color differences, and foreground/cone decisions.</a:t>
            </a:r>
          </a:p>
        </p:txBody>
      </p:sp>
      <p:sp>
        <p:nvSpPr>
          <p:cNvPr id="5" name="">
            <a:extLst xmlns:a="http://schemas.openxmlformats.org/drawingml/2006/main">
              <a:ext uri="{FF2B5EF4-FFF2-40B4-BE49-F238E27FC236}">
                <a16:creationId xmlns:a16="http://schemas.microsoft.com/office/drawing/2014/main" id="{EB1E30D5-9D62-467F-9B99-88FC1EE4BC3C}"/>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11</a:t>
            </a:r>
          </a:p>
        </p:txBody>
      </p:sp>
    </p:spTree>
    <p:extLst>
      <p:ext uri="{BB962C8B-B14F-4D97-AF65-F5344CB8AC3E}">
        <p14:creationId xmlns:p14="http://schemas.microsoft.com/office/powerpoint/2010/main" val="334547453"/>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36CA44-E9F6-4C7B-AA45-442E240B174B}"/>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5BFD42C6-2EFC-46D5-96C1-35CEC5D3C5F0}"/>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55-72</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80b7c0c828d4f75"/>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6D20C95-3BB3-4455-BAC5-19500949183E}"/>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Declare accumulators and counters. The circuit scans the image, sums feature values, then divides by the counters to obtain compact descriptors.</a:t>
            </a:r>
          </a:p>
        </p:txBody>
      </p:sp>
      <p:sp>
        <p:nvSpPr>
          <p:cNvPr id="5" name="">
            <a:extLst xmlns:a="http://schemas.openxmlformats.org/drawingml/2006/main">
              <a:ext uri="{FF2B5EF4-FFF2-40B4-BE49-F238E27FC236}">
                <a16:creationId xmlns:a16="http://schemas.microsoft.com/office/drawing/2014/main" id="{DD4A13F4-F582-4192-8173-A9CE0EA4988D}"/>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12</a:t>
            </a:r>
          </a:p>
        </p:txBody>
      </p:sp>
    </p:spTree>
    <p:extLst>
      <p:ext uri="{BB962C8B-B14F-4D97-AF65-F5344CB8AC3E}">
        <p14:creationId xmlns:p14="http://schemas.microsoft.com/office/powerpoint/2010/main" val="1298738256"/>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735700-9270-46AD-9AB6-0DEB317BF01A}"/>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00A11CDC-A06C-454A-8A0F-7530D02581BD}"/>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73-90</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bd12ecacbe14264"/>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9FE9F19-E61B-410B-9EC9-993AFED343B7}"/>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Implement max3 and min3. These functions find the largest and smallest RGB channel for the Visual Channel Model.</a:t>
            </a:r>
          </a:p>
        </p:txBody>
      </p:sp>
      <p:sp>
        <p:nvSpPr>
          <p:cNvPr id="5" name="">
            <a:extLst xmlns:a="http://schemas.openxmlformats.org/drawingml/2006/main">
              <a:ext uri="{FF2B5EF4-FFF2-40B4-BE49-F238E27FC236}">
                <a16:creationId xmlns:a16="http://schemas.microsoft.com/office/drawing/2014/main" id="{ED82E6B5-0374-45F0-8790-32AF34CEDB73}"/>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13</a:t>
            </a:r>
          </a:p>
        </p:txBody>
      </p:sp>
    </p:spTree>
    <p:extLst>
      <p:ext uri="{BB962C8B-B14F-4D97-AF65-F5344CB8AC3E}">
        <p14:creationId xmlns:p14="http://schemas.microsoft.com/office/powerpoint/2010/main" val="303048600"/>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EF6C09-CBA4-48AF-9503-4DD77F6E3223}"/>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DC80F7FF-8D67-4C91-B95E-8CB512D9AABE}"/>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91-108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3650831f1464743"/>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7BFA5AE-A91F-4AD7-B6AF-A21A2084AEC1}"/>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Implement abs_diff. This gives absolute pixel or channel difference without signed arithmetic.</a:t>
            </a:r>
          </a:p>
        </p:txBody>
      </p:sp>
      <p:sp>
        <p:nvSpPr>
          <p:cNvPr id="5" name="">
            <a:extLst xmlns:a="http://schemas.openxmlformats.org/drawingml/2006/main">
              <a:ext uri="{FF2B5EF4-FFF2-40B4-BE49-F238E27FC236}">
                <a16:creationId xmlns:a16="http://schemas.microsoft.com/office/drawing/2014/main" id="{B1DE227B-ACDD-4FFF-9005-F331C6D11FBF}"/>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14</a:t>
            </a:r>
          </a:p>
        </p:txBody>
      </p:sp>
    </p:spTree>
    <p:extLst>
      <p:ext uri="{BB962C8B-B14F-4D97-AF65-F5344CB8AC3E}">
        <p14:creationId xmlns:p14="http://schemas.microsoft.com/office/powerpoint/2010/main" val="1442367252"/>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352FD4-FD0D-4B85-A0FF-314B41BC0D69}"/>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A9B2FBA4-84EA-4863-BA70-AB07EB7A7F1D}"/>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109-126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8f964a3c8d740e2"/>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887E7BA-2656-453D-B3C7-3297A1277E08}"/>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Implement get_r/get_g/get_b helper functions. They read a neighbor pixel from the flattened RGB image.</a:t>
            </a:r>
          </a:p>
        </p:txBody>
      </p:sp>
      <p:sp>
        <p:nvSpPr>
          <p:cNvPr id="5" name="">
            <a:extLst xmlns:a="http://schemas.openxmlformats.org/drawingml/2006/main">
              <a:ext uri="{FF2B5EF4-FFF2-40B4-BE49-F238E27FC236}">
                <a16:creationId xmlns:a16="http://schemas.microsoft.com/office/drawing/2014/main" id="{E9984341-B5AF-4635-A2C1-C5DFF69A85C8}"/>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15</a:t>
            </a:r>
          </a:p>
        </p:txBody>
      </p:sp>
    </p:spTree>
    <p:extLst>
      <p:ext uri="{BB962C8B-B14F-4D97-AF65-F5344CB8AC3E}">
        <p14:creationId xmlns:p14="http://schemas.microsoft.com/office/powerpoint/2010/main" val="637669059"/>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E36505-EF19-4EBF-85F9-E55B7A686DEC}"/>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19A6CF84-2736-4475-9348-74BD4A9EA12E}"/>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127-144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ac9b4a4b99c4361"/>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FBEA840-D921-4FC4-9962-47AC03EA8553}"/>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Start combinational logic and clear all sums and counters before scanning the image.</a:t>
            </a:r>
          </a:p>
        </p:txBody>
      </p:sp>
      <p:sp>
        <p:nvSpPr>
          <p:cNvPr id="5" name="">
            <a:extLst xmlns:a="http://schemas.openxmlformats.org/drawingml/2006/main">
              <a:ext uri="{FF2B5EF4-FFF2-40B4-BE49-F238E27FC236}">
                <a16:creationId xmlns:a16="http://schemas.microsoft.com/office/drawing/2014/main" id="{E8AFA424-A693-4FBA-AE78-2A43D416DF8D}"/>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16</a:t>
            </a:r>
          </a:p>
        </p:txBody>
      </p:sp>
    </p:spTree>
    <p:extLst>
      <p:ext uri="{BB962C8B-B14F-4D97-AF65-F5344CB8AC3E}">
        <p14:creationId xmlns:p14="http://schemas.microsoft.com/office/powerpoint/2010/main" val="998629898"/>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E09DC6-312B-4E18-A011-F63C733AF6E5}"/>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EDB2CC0E-1DB5-43FA-A083-7AB8CA95D088}"/>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145-162</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a5a0b3451464dc0"/>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9E0267E-970F-4FCD-B826-6E00DAFF9656}"/>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Scan all 64 pixels. Each pixel is split into R/G/B, then converted into max, mid, min, grayscale, saturation difference, foreground, and cone/rod state.</a:t>
            </a:r>
          </a:p>
        </p:txBody>
      </p:sp>
      <p:sp>
        <p:nvSpPr>
          <p:cNvPr id="5" name="">
            <a:extLst xmlns:a="http://schemas.openxmlformats.org/drawingml/2006/main">
              <a:ext uri="{FF2B5EF4-FFF2-40B4-BE49-F238E27FC236}">
                <a16:creationId xmlns:a16="http://schemas.microsoft.com/office/drawing/2014/main" id="{EBCD6538-E7A3-437B-AF3C-61187E348685}"/>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17</a:t>
            </a:r>
          </a:p>
        </p:txBody>
      </p:sp>
    </p:spTree>
    <p:extLst>
      <p:ext uri="{BB962C8B-B14F-4D97-AF65-F5344CB8AC3E}">
        <p14:creationId xmlns:p14="http://schemas.microsoft.com/office/powerpoint/2010/main" val="1043128606"/>
      </p:ext>
    </p:extLst>
  </p:cSld>
</p:sld>
</file>

<file path=ppt/slides/slide1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E0DF4A-6374-44E7-9FCB-77050811E90B}"/>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8C57539E-6925-42A5-825B-DB5C1BADED14}"/>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163-180</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b00089509f147cb"/>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564BB89-A479-4664-A090-B4EA209A8613}"/>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3"/>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For foreground pixels, update object area and center sums. Cone pixels contribute upper/lower color features. Rod pixels contribute grayscale brightness.</a:t>
            </a:r>
          </a:p>
        </p:txBody>
      </p:sp>
      <p:sp>
        <p:nvSpPr>
          <p:cNvPr id="5" name="">
            <a:extLst xmlns:a="http://schemas.openxmlformats.org/drawingml/2006/main">
              <a:ext uri="{FF2B5EF4-FFF2-40B4-BE49-F238E27FC236}">
                <a16:creationId xmlns:a16="http://schemas.microsoft.com/office/drawing/2014/main" id="{3B25FCEC-4B0D-4861-BCF6-481FD3432AA7}"/>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18</a:t>
            </a:r>
          </a:p>
        </p:txBody>
      </p:sp>
    </p:spTree>
    <p:extLst>
      <p:ext uri="{BB962C8B-B14F-4D97-AF65-F5344CB8AC3E}">
        <p14:creationId xmlns:p14="http://schemas.microsoft.com/office/powerpoint/2010/main" val="364391199"/>
      </p:ext>
    </p:extLst>
  </p:cSld>
</p:sld>
</file>

<file path=ppt/slides/slide1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859239-C7F4-4A42-B2DC-B47E57776A42}"/>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59F81C85-CFCC-43B5-B21D-C05E6F1E77B6}"/>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181-198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c3a1a6d334c4fc9"/>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122EDF4-3DB1-41AA-809E-A85A587E29CA}"/>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Compare the current pixel with the right and lower neighbors. The circuit uses RGB channel differences to find strong local color changes.</a:t>
            </a:r>
          </a:p>
        </p:txBody>
      </p:sp>
      <p:sp>
        <p:nvSpPr>
          <p:cNvPr id="5" name="">
            <a:extLst xmlns:a="http://schemas.openxmlformats.org/drawingml/2006/main">
              <a:ext uri="{FF2B5EF4-FFF2-40B4-BE49-F238E27FC236}">
                <a16:creationId xmlns:a16="http://schemas.microsoft.com/office/drawing/2014/main" id="{3A0FC86D-C6A9-41C0-BDE6-3356796B958A}"/>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19</a:t>
            </a:r>
          </a:p>
        </p:txBody>
      </p:sp>
    </p:spTree>
    <p:extLst>
      <p:ext uri="{BB962C8B-B14F-4D97-AF65-F5344CB8AC3E}">
        <p14:creationId xmlns:p14="http://schemas.microsoft.com/office/powerpoint/2010/main" val="420448869"/>
      </p:ext>
    </p:extLst>
  </p:cSld>
</p:sld>
</file>

<file path=ppt/slides/slide2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8E94FD-ADD6-4CB1-8EB8-37521466A7DA}"/>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1299BF8D-9395-413F-AC73-C3B34176415C}"/>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199-216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9a1f11368684f4e"/>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6C52D3C-237C-474B-9F82-85C04649CCAB}"/>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If either neighbor difference exceeds the color-edge threshold, count this pixel as an edge or object-boundary point.</a:t>
            </a:r>
          </a:p>
        </p:txBody>
      </p:sp>
      <p:sp>
        <p:nvSpPr>
          <p:cNvPr id="5" name="">
            <a:extLst xmlns:a="http://schemas.openxmlformats.org/drawingml/2006/main">
              <a:ext uri="{FF2B5EF4-FFF2-40B4-BE49-F238E27FC236}">
                <a16:creationId xmlns:a16="http://schemas.microsoft.com/office/drawing/2014/main" id="{239AB13C-6F0E-4597-863B-E6CAB146DF18}"/>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20</a:t>
            </a:r>
          </a:p>
        </p:txBody>
      </p:sp>
    </p:spTree>
    <p:extLst>
      <p:ext uri="{BB962C8B-B14F-4D97-AF65-F5344CB8AC3E}">
        <p14:creationId xmlns:p14="http://schemas.microsoft.com/office/powerpoint/2010/main" val="187690767"/>
      </p:ext>
    </p:extLst>
  </p:cSld>
</p:sld>
</file>

<file path=ppt/slides/slide2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1E9C997-E373-4ABD-8B62-A1526F39D52B}"/>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107F26AC-61C9-4C1C-950C-CEFB6F4C55D6}"/>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217-219</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7fbab8ec5dc44f4"/>
          <a:stretch xmlns:a="http://schemas.openxmlformats.org/drawingml/2006/main"/>
        </p:blipFill>
        <p:spPr>
          <a:xfrm xmlns:a="http://schemas.openxmlformats.org/drawingml/2006/main">
            <a:off x="514350" y="2857119"/>
            <a:ext cx="11163300" cy="156286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504A1CF-6585-412A-8DC9-677173E4FCC9}"/>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Close the combinational block and module.</a:t>
            </a:r>
          </a:p>
        </p:txBody>
      </p:sp>
      <p:sp>
        <p:nvSpPr>
          <p:cNvPr id="5" name="">
            <a:extLst xmlns:a="http://schemas.openxmlformats.org/drawingml/2006/main">
              <a:ext uri="{FF2B5EF4-FFF2-40B4-BE49-F238E27FC236}">
                <a16:creationId xmlns:a16="http://schemas.microsoft.com/office/drawing/2014/main" id="{7904B619-5E3C-4917-88B3-A87EA814EE41}"/>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21</a:t>
            </a:r>
          </a:p>
        </p:txBody>
      </p:sp>
    </p:spTree>
    <p:extLst>
      <p:ext uri="{BB962C8B-B14F-4D97-AF65-F5344CB8AC3E}">
        <p14:creationId xmlns:p14="http://schemas.microsoft.com/office/powerpoint/2010/main" val="9130533"/>
      </p:ext>
    </p:extLst>
  </p:cSld>
</p:sld>
</file>

<file path=ppt/slides/slide2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984A93-5907-4DA9-8E8B-E5DE10727DC7}"/>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person_reid_matcher.v</a:t>
            </a:r>
          </a:p>
        </p:txBody>
      </p:sp>
      <p:sp>
        <p:nvSpPr>
          <p:cNvPr id="2" name="">
            <a:extLst xmlns:a="http://schemas.openxmlformats.org/drawingml/2006/main">
              <a:ext uri="{FF2B5EF4-FFF2-40B4-BE49-F238E27FC236}">
                <a16:creationId xmlns:a16="http://schemas.microsoft.com/office/drawing/2014/main" id="{0A78E1D1-8F99-4C08-AD85-C3D7EF2CE492}"/>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1-18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4b283a1adf647c9"/>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813C0FD-D116-4C8A-A69F-4E86F5E9B185}"/>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Define the matcher module and the score threshold. A smaller score means two extracted feature vectors are more similar.</a:t>
            </a:r>
          </a:p>
        </p:txBody>
      </p:sp>
      <p:sp>
        <p:nvSpPr>
          <p:cNvPr id="5" name="">
            <a:extLst xmlns:a="http://schemas.openxmlformats.org/drawingml/2006/main">
              <a:ext uri="{FF2B5EF4-FFF2-40B4-BE49-F238E27FC236}">
                <a16:creationId xmlns:a16="http://schemas.microsoft.com/office/drawing/2014/main" id="{3825DD5C-CCB3-41EA-8D6A-27466C6BE98E}"/>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22</a:t>
            </a:r>
          </a:p>
        </p:txBody>
      </p:sp>
    </p:spTree>
    <p:extLst>
      <p:ext uri="{BB962C8B-B14F-4D97-AF65-F5344CB8AC3E}">
        <p14:creationId xmlns:p14="http://schemas.microsoft.com/office/powerpoint/2010/main" val="1945746159"/>
      </p:ext>
    </p:extLst>
  </p:cSld>
</p:sld>
</file>

<file path=ppt/slides/slide2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9167A34-081E-4B0D-AC6D-5137CE8DE7A0}"/>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person_reid_matcher.v</a:t>
            </a:r>
          </a:p>
        </p:txBody>
      </p:sp>
      <p:sp>
        <p:nvSpPr>
          <p:cNvPr id="2" name="">
            <a:extLst xmlns:a="http://schemas.openxmlformats.org/drawingml/2006/main">
              <a:ext uri="{FF2B5EF4-FFF2-40B4-BE49-F238E27FC236}">
                <a16:creationId xmlns:a16="http://schemas.microsoft.com/office/drawing/2014/main" id="{168E31D5-E431-4143-8EEC-BD785ADDCE50}"/>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19-36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e9c1c4a892640d4"/>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B684013-528E-4536-B70D-8967E05192D3}"/>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Receive the full feature vector from image A and image B: body color, rod brightness, object area, center position, and edge count.</a:t>
            </a:r>
          </a:p>
        </p:txBody>
      </p:sp>
      <p:sp>
        <p:nvSpPr>
          <p:cNvPr id="5" name="">
            <a:extLst xmlns:a="http://schemas.openxmlformats.org/drawingml/2006/main">
              <a:ext uri="{FF2B5EF4-FFF2-40B4-BE49-F238E27FC236}">
                <a16:creationId xmlns:a16="http://schemas.microsoft.com/office/drawing/2014/main" id="{62C5C7A1-68B0-41AD-A853-3D96031A4A1A}"/>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23</a:t>
            </a:r>
          </a:p>
        </p:txBody>
      </p:sp>
    </p:spTree>
    <p:extLst>
      <p:ext uri="{BB962C8B-B14F-4D97-AF65-F5344CB8AC3E}">
        <p14:creationId xmlns:p14="http://schemas.microsoft.com/office/powerpoint/2010/main" val="1100351077"/>
      </p:ext>
    </p:extLst>
  </p:cSld>
</p:sld>
</file>

<file path=ppt/slides/slide2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643200E-0227-4F97-8044-77A543FDD55A}"/>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person_reid_matcher.v</a:t>
            </a:r>
          </a:p>
        </p:txBody>
      </p:sp>
      <p:sp>
        <p:nvSpPr>
          <p:cNvPr id="2" name="">
            <a:extLst xmlns:a="http://schemas.openxmlformats.org/drawingml/2006/main">
              <a:ext uri="{FF2B5EF4-FFF2-40B4-BE49-F238E27FC236}">
                <a16:creationId xmlns:a16="http://schemas.microsoft.com/office/drawing/2014/main" id="{C519A5DB-0186-4E86-9E14-54BE933D4108}"/>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37-54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be3d75ef396445d"/>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2DA77A7-20D0-4D28-88B4-1FB8776A2808}"/>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Define absolute-difference helpers for 8-bit, 7-bit, and 4-bit features so each feature can be compared safely.</a:t>
            </a:r>
          </a:p>
        </p:txBody>
      </p:sp>
      <p:sp>
        <p:nvSpPr>
          <p:cNvPr id="5" name="">
            <a:extLst xmlns:a="http://schemas.openxmlformats.org/drawingml/2006/main">
              <a:ext uri="{FF2B5EF4-FFF2-40B4-BE49-F238E27FC236}">
                <a16:creationId xmlns:a16="http://schemas.microsoft.com/office/drawing/2014/main" id="{537B2BEA-9965-49CE-90BA-ECA14EB219B3}"/>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24</a:t>
            </a:r>
          </a:p>
        </p:txBody>
      </p:sp>
    </p:spTree>
    <p:extLst>
      <p:ext uri="{BB962C8B-B14F-4D97-AF65-F5344CB8AC3E}">
        <p14:creationId xmlns:p14="http://schemas.microsoft.com/office/powerpoint/2010/main" val="1531428049"/>
      </p:ext>
    </p:extLst>
  </p:cSld>
</p:sld>
</file>

<file path=ppt/slides/slide2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C36A42-85BB-458A-9BF2-A4104F355DF7}"/>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person_reid_matcher.v</a:t>
            </a:r>
          </a:p>
        </p:txBody>
      </p:sp>
      <p:sp>
        <p:nvSpPr>
          <p:cNvPr id="2" name="">
            <a:extLst xmlns:a="http://schemas.openxmlformats.org/drawingml/2006/main">
              <a:ext uri="{FF2B5EF4-FFF2-40B4-BE49-F238E27FC236}">
                <a16:creationId xmlns:a16="http://schemas.microsoft.com/office/drawing/2014/main" id="{DCCCF62F-6304-4F68-9281-671CB53FF346}"/>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55-72</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cba62cb293a4448"/>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65B2E80-AC10-41C4-BAE4-2A62386C30E6}"/>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Define absolute-difference helpers for 8-bit, 7-bit, and 4-bit features so each feature can be compared safely.</a:t>
            </a:r>
          </a:p>
        </p:txBody>
      </p:sp>
      <p:sp>
        <p:nvSpPr>
          <p:cNvPr id="5" name="">
            <a:extLst xmlns:a="http://schemas.openxmlformats.org/drawingml/2006/main">
              <a:ext uri="{FF2B5EF4-FFF2-40B4-BE49-F238E27FC236}">
                <a16:creationId xmlns:a16="http://schemas.microsoft.com/office/drawing/2014/main" id="{CB3813E1-6557-4D7A-A577-265C6EDB9CBC}"/>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25</a:t>
            </a:r>
          </a:p>
        </p:txBody>
      </p:sp>
    </p:spTree>
    <p:extLst>
      <p:ext uri="{BB962C8B-B14F-4D97-AF65-F5344CB8AC3E}">
        <p14:creationId xmlns:p14="http://schemas.microsoft.com/office/powerpoint/2010/main" val="1004305473"/>
      </p:ext>
    </p:extLst>
  </p:cSld>
</p:sld>
</file>

<file path=ppt/slides/slide2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53B20E-7849-420E-9D32-B06BF4CD6278}"/>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person_reid_matcher.v</a:t>
            </a:r>
          </a:p>
        </p:txBody>
      </p:sp>
      <p:sp>
        <p:nvSpPr>
          <p:cNvPr id="2" name="">
            <a:extLst xmlns:a="http://schemas.openxmlformats.org/drawingml/2006/main">
              <a:ext uri="{FF2B5EF4-FFF2-40B4-BE49-F238E27FC236}">
                <a16:creationId xmlns:a16="http://schemas.microsoft.com/office/drawing/2014/main" id="{1A2DFC0D-FF4F-4C8B-8E62-1A5309F45306}"/>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73-76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674aa3ddf874566"/>
          <a:stretch xmlns:a="http://schemas.openxmlformats.org/drawingml/2006/main"/>
        </p:blipFill>
        <p:spPr>
          <a:xfrm xmlns:a="http://schemas.openxmlformats.org/drawingml/2006/main">
            <a:off x="514350" y="2745486"/>
            <a:ext cx="11163300" cy="178612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699B220-8CA2-4D98-9210-59D102204F82}"/>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Compare the score with the threshold and close the module.</a:t>
            </a:r>
          </a:p>
        </p:txBody>
      </p:sp>
      <p:sp>
        <p:nvSpPr>
          <p:cNvPr id="5" name="">
            <a:extLst xmlns:a="http://schemas.openxmlformats.org/drawingml/2006/main">
              <a:ext uri="{FF2B5EF4-FFF2-40B4-BE49-F238E27FC236}">
                <a16:creationId xmlns:a16="http://schemas.microsoft.com/office/drawing/2014/main" id="{D46C9181-A449-4F7D-BF8D-93758E777FC9}"/>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26</a:t>
            </a:r>
          </a:p>
        </p:txBody>
      </p:sp>
    </p:spTree>
    <p:extLst>
      <p:ext uri="{BB962C8B-B14F-4D97-AF65-F5344CB8AC3E}">
        <p14:creationId xmlns:p14="http://schemas.microsoft.com/office/powerpoint/2010/main" val="1342978400"/>
      </p:ext>
    </p:extLst>
  </p:cSld>
</p:sld>
</file>

<file path=ppt/slides/slide2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607051-95CD-4726-8D05-6D643E1F1230}"/>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two_image_person_identifier_rgb.v</a:t>
            </a:r>
          </a:p>
        </p:txBody>
      </p:sp>
      <p:sp>
        <p:nvSpPr>
          <p:cNvPr id="2" name="">
            <a:extLst xmlns:a="http://schemas.openxmlformats.org/drawingml/2006/main">
              <a:ext uri="{FF2B5EF4-FFF2-40B4-BE49-F238E27FC236}">
                <a16:creationId xmlns:a16="http://schemas.microsoft.com/office/drawing/2014/main" id="{236A55D4-9457-4120-84D1-D5A5C16504AA}"/>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1-18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6cfd8dcb167477f"/>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8BADE93-5046-415B-B7DA-CC97689523E2}"/>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Define the top-level RGB two-image identifier with image size, pixel width, score width, and threshold parameters.</a:t>
            </a:r>
          </a:p>
        </p:txBody>
      </p:sp>
      <p:sp>
        <p:nvSpPr>
          <p:cNvPr id="5" name="">
            <a:extLst xmlns:a="http://schemas.openxmlformats.org/drawingml/2006/main">
              <a:ext uri="{FF2B5EF4-FFF2-40B4-BE49-F238E27FC236}">
                <a16:creationId xmlns:a16="http://schemas.microsoft.com/office/drawing/2014/main" id="{AA2EFBEE-1E2B-4296-B9AA-9401C2B88ECD}"/>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27</a:t>
            </a:r>
          </a:p>
        </p:txBody>
      </p:sp>
    </p:spTree>
    <p:extLst>
      <p:ext uri="{BB962C8B-B14F-4D97-AF65-F5344CB8AC3E}">
        <p14:creationId xmlns:p14="http://schemas.microsoft.com/office/powerpoint/2010/main" val="1868046856"/>
      </p:ext>
    </p:extLst>
  </p:cSld>
</p:sld>
</file>

<file path=ppt/slides/slide2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14CB0C-5E36-460B-9CFE-C4932951AA44}"/>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two_image_person_identifier_rgb.v</a:t>
            </a:r>
          </a:p>
        </p:txBody>
      </p:sp>
      <p:sp>
        <p:nvSpPr>
          <p:cNvPr id="2" name="">
            <a:extLst xmlns:a="http://schemas.openxmlformats.org/drawingml/2006/main">
              <a:ext uri="{FF2B5EF4-FFF2-40B4-BE49-F238E27FC236}">
                <a16:creationId xmlns:a16="http://schemas.microsoft.com/office/drawing/2014/main" id="{9F4A709B-1E6B-4F11-818F-3B45C82760E3}"/>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19-36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8e6c3113bb54482"/>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84BBAB5-7104-44ED-AD2E-554277AA749B}"/>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583"/>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Declare internal wires for all features extracted from image A and image B.</a:t>
            </a:r>
          </a:p>
        </p:txBody>
      </p:sp>
      <p:sp>
        <p:nvSpPr>
          <p:cNvPr id="5" name="">
            <a:extLst xmlns:a="http://schemas.openxmlformats.org/drawingml/2006/main">
              <a:ext uri="{FF2B5EF4-FFF2-40B4-BE49-F238E27FC236}">
                <a16:creationId xmlns:a16="http://schemas.microsoft.com/office/drawing/2014/main" id="{4900138D-75C2-4459-AB21-68B183E4F7ED}"/>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28</a:t>
            </a:r>
          </a:p>
        </p:txBody>
      </p:sp>
    </p:spTree>
    <p:extLst>
      <p:ext uri="{BB962C8B-B14F-4D97-AF65-F5344CB8AC3E}">
        <p14:creationId xmlns:p14="http://schemas.microsoft.com/office/powerpoint/2010/main" val="2086710661"/>
      </p:ext>
    </p:extLst>
  </p:cSld>
</p:sld>
</file>

<file path=ppt/slides/slide2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8D24014-0E17-41DA-A85C-CFECDAC2D6B5}"/>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two_image_person_identifier_rgb.v</a:t>
            </a:r>
          </a:p>
        </p:txBody>
      </p:sp>
      <p:sp>
        <p:nvSpPr>
          <p:cNvPr id="2" name="">
            <a:extLst xmlns:a="http://schemas.openxmlformats.org/drawingml/2006/main">
              <a:ext uri="{FF2B5EF4-FFF2-40B4-BE49-F238E27FC236}">
                <a16:creationId xmlns:a16="http://schemas.microsoft.com/office/drawing/2014/main" id="{C88F1875-990F-434A-921F-ACC38DB8582F}"/>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37-54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4fa6f71cad24c71"/>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043DA35-7BCF-4980-80F5-025A1FE1789A}"/>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Instantiate the first visual-channel feature extractor for image A.</a:t>
            </a:r>
          </a:p>
        </p:txBody>
      </p:sp>
      <p:sp>
        <p:nvSpPr>
          <p:cNvPr id="5" name="">
            <a:extLst xmlns:a="http://schemas.openxmlformats.org/drawingml/2006/main">
              <a:ext uri="{FF2B5EF4-FFF2-40B4-BE49-F238E27FC236}">
                <a16:creationId xmlns:a16="http://schemas.microsoft.com/office/drawing/2014/main" id="{B6B985F2-5C4C-4E1B-AEA2-C6BDBB9A3E20}"/>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29</a:t>
            </a:r>
          </a:p>
        </p:txBody>
      </p:sp>
    </p:spTree>
    <p:extLst>
      <p:ext uri="{BB962C8B-B14F-4D97-AF65-F5344CB8AC3E}">
        <p14:creationId xmlns:p14="http://schemas.microsoft.com/office/powerpoint/2010/main" val="232442685"/>
      </p:ext>
    </p:extLst>
  </p:cSld>
</p:sld>
</file>

<file path=ppt/slides/slide3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AFC0D5-43D1-4876-9B01-8EB034311A53}"/>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two_image_person_identifier_rgb.v</a:t>
            </a:r>
          </a:p>
        </p:txBody>
      </p:sp>
      <p:sp>
        <p:nvSpPr>
          <p:cNvPr id="2" name="">
            <a:extLst xmlns:a="http://schemas.openxmlformats.org/drawingml/2006/main">
              <a:ext uri="{FF2B5EF4-FFF2-40B4-BE49-F238E27FC236}">
                <a16:creationId xmlns:a16="http://schemas.microsoft.com/office/drawing/2014/main" id="{9C27FAA1-B026-4163-96EB-89DCAFCB6370}"/>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55-72</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1c03d4883354777"/>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95D83FA-C8F1-4AB1-A044-EB5500C73650}"/>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423"/>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Instantiate the second visual-channel feature extractor for image B.</a:t>
            </a:r>
          </a:p>
        </p:txBody>
      </p:sp>
      <p:sp>
        <p:nvSpPr>
          <p:cNvPr id="5" name="">
            <a:extLst xmlns:a="http://schemas.openxmlformats.org/drawingml/2006/main">
              <a:ext uri="{FF2B5EF4-FFF2-40B4-BE49-F238E27FC236}">
                <a16:creationId xmlns:a16="http://schemas.microsoft.com/office/drawing/2014/main" id="{7BE49E15-099E-44ED-B1D2-8799935391D5}"/>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30</a:t>
            </a:r>
          </a:p>
        </p:txBody>
      </p:sp>
    </p:spTree>
    <p:extLst>
      <p:ext uri="{BB962C8B-B14F-4D97-AF65-F5344CB8AC3E}">
        <p14:creationId xmlns:p14="http://schemas.microsoft.com/office/powerpoint/2010/main" val="2032605712"/>
      </p:ext>
    </p:extLst>
  </p:cSld>
</p:sld>
</file>

<file path=ppt/slides/slide3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443E3F-512B-45CA-8D12-87E3382974EB}"/>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two_image_person_identifier_rgb.v</a:t>
            </a:r>
          </a:p>
        </p:txBody>
      </p:sp>
      <p:sp>
        <p:nvSpPr>
          <p:cNvPr id="2" name="">
            <a:extLst xmlns:a="http://schemas.openxmlformats.org/drawingml/2006/main">
              <a:ext uri="{FF2B5EF4-FFF2-40B4-BE49-F238E27FC236}">
                <a16:creationId xmlns:a16="http://schemas.microsoft.com/office/drawing/2014/main" id="{3F3BE914-4678-424F-832B-027004ADAA10}"/>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73-90</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fe725e2bad24604"/>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0C15882-ED72-4317-91CC-CF16256D7A2B}"/>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Instantiate the re-identification matcher and connect both images' feature vectors into it.</a:t>
            </a:r>
          </a:p>
        </p:txBody>
      </p:sp>
      <p:sp>
        <p:nvSpPr>
          <p:cNvPr id="5" name="">
            <a:extLst xmlns:a="http://schemas.openxmlformats.org/drawingml/2006/main">
              <a:ext uri="{FF2B5EF4-FFF2-40B4-BE49-F238E27FC236}">
                <a16:creationId xmlns:a16="http://schemas.microsoft.com/office/drawing/2014/main" id="{DC01BF27-847A-4AFE-96AA-FAF3E14B1F09}"/>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31</a:t>
            </a:r>
          </a:p>
        </p:txBody>
      </p:sp>
    </p:spTree>
    <p:extLst>
      <p:ext uri="{BB962C8B-B14F-4D97-AF65-F5344CB8AC3E}">
        <p14:creationId xmlns:p14="http://schemas.microsoft.com/office/powerpoint/2010/main" val="1494577755"/>
      </p:ext>
    </p:extLst>
  </p:cSld>
</p:sld>
</file>

<file path=ppt/slides/slide3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0905FB-5027-4E4C-8DFC-867DAA49525F}"/>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two_image_person_identifier_rgb.v</a:t>
            </a:r>
          </a:p>
        </p:txBody>
      </p:sp>
      <p:sp>
        <p:nvSpPr>
          <p:cNvPr id="2" name="">
            <a:extLst xmlns:a="http://schemas.openxmlformats.org/drawingml/2006/main">
              <a:ext uri="{FF2B5EF4-FFF2-40B4-BE49-F238E27FC236}">
                <a16:creationId xmlns:a16="http://schemas.microsoft.com/office/drawing/2014/main" id="{5004D3B1-A0A0-48EA-B70E-2615D835676C}"/>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91-101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a28a4881a0e46a1"/>
          <a:stretch xmlns:a="http://schemas.openxmlformats.org/drawingml/2006/main"/>
        </p:blipFill>
        <p:spPr>
          <a:xfrm xmlns:a="http://schemas.openxmlformats.org/drawingml/2006/main">
            <a:off x="514350" y="1964055"/>
            <a:ext cx="11163300" cy="334899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8E2477D-E226-4B79-99AA-D65788F2F10A}"/>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Instantiate the re-identification matcher and connect both images' feature vectors into it.</a:t>
            </a:r>
          </a:p>
        </p:txBody>
      </p:sp>
      <p:sp>
        <p:nvSpPr>
          <p:cNvPr id="5" name="">
            <a:extLst xmlns:a="http://schemas.openxmlformats.org/drawingml/2006/main">
              <a:ext uri="{FF2B5EF4-FFF2-40B4-BE49-F238E27FC236}">
                <a16:creationId xmlns:a16="http://schemas.microsoft.com/office/drawing/2014/main" id="{F0E57DDE-76DC-48C8-A171-4BF3F53615D7}"/>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32</a:t>
            </a:r>
          </a:p>
        </p:txBody>
      </p:sp>
    </p:spTree>
    <p:extLst>
      <p:ext uri="{BB962C8B-B14F-4D97-AF65-F5344CB8AC3E}">
        <p14:creationId xmlns:p14="http://schemas.microsoft.com/office/powerpoint/2010/main" val="615537160"/>
      </p:ext>
    </p:extLst>
  </p:cSld>
</p:sld>
</file>

<file path=ppt/slides/slide3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5888B9-6815-48A6-AC07-899B7ADED523}"/>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tb_rgb_from_mem.v</a:t>
            </a:r>
          </a:p>
        </p:txBody>
      </p:sp>
      <p:sp>
        <p:nvSpPr>
          <p:cNvPr id="2" name="">
            <a:extLst xmlns:a="http://schemas.openxmlformats.org/drawingml/2006/main">
              <a:ext uri="{FF2B5EF4-FFF2-40B4-BE49-F238E27FC236}">
                <a16:creationId xmlns:a16="http://schemas.microsoft.com/office/drawing/2014/main" id="{8C3E4A82-A584-4851-AF7C-9402818509BE}"/>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1-18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8bd5631fcec47bc"/>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1FDAAEB-1B80-4E4A-B3B7-84890D638B4E}"/>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97"/>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Define the simulation testbench and the 8x8 RGB image parameters.</a:t>
            </a:r>
          </a:p>
        </p:txBody>
      </p:sp>
      <p:sp>
        <p:nvSpPr>
          <p:cNvPr id="5" name="">
            <a:extLst xmlns:a="http://schemas.openxmlformats.org/drawingml/2006/main">
              <a:ext uri="{FF2B5EF4-FFF2-40B4-BE49-F238E27FC236}">
                <a16:creationId xmlns:a16="http://schemas.microsoft.com/office/drawing/2014/main" id="{036B2325-78EF-4B83-83C8-A0BDE7E59F3C}"/>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33</a:t>
            </a:r>
          </a:p>
        </p:txBody>
      </p:sp>
    </p:spTree>
    <p:extLst>
      <p:ext uri="{BB962C8B-B14F-4D97-AF65-F5344CB8AC3E}">
        <p14:creationId xmlns:p14="http://schemas.microsoft.com/office/powerpoint/2010/main" val="441066703"/>
      </p:ext>
    </p:extLst>
  </p:cSld>
</p:sld>
</file>

<file path=ppt/slides/slide3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1DAA0A-EF81-448A-A5F7-4A48B706C518}"/>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tb_rgb_from_mem.v</a:t>
            </a:r>
          </a:p>
        </p:txBody>
      </p:sp>
      <p:sp>
        <p:nvSpPr>
          <p:cNvPr id="2" name="">
            <a:extLst xmlns:a="http://schemas.openxmlformats.org/drawingml/2006/main">
              <a:ext uri="{FF2B5EF4-FFF2-40B4-BE49-F238E27FC236}">
                <a16:creationId xmlns:a16="http://schemas.microsoft.com/office/drawing/2014/main" id="{E666D851-CB9F-435F-9957-9B2C1D21792E}"/>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19-36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f56676eb6e84cbf"/>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5ACB8FF-9297-4555-B376-55EF83C036C8}"/>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Declare memory arrays, flattened image buses, and wires for the outputs produced by the top module.</a:t>
            </a:r>
          </a:p>
        </p:txBody>
      </p:sp>
      <p:sp>
        <p:nvSpPr>
          <p:cNvPr id="5" name="">
            <a:extLst xmlns:a="http://schemas.openxmlformats.org/drawingml/2006/main">
              <a:ext uri="{FF2B5EF4-FFF2-40B4-BE49-F238E27FC236}">
                <a16:creationId xmlns:a16="http://schemas.microsoft.com/office/drawing/2014/main" id="{5D5496EB-195B-4988-B996-93836C13BD7E}"/>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34</a:t>
            </a:r>
          </a:p>
        </p:txBody>
      </p:sp>
    </p:spTree>
    <p:extLst>
      <p:ext uri="{BB962C8B-B14F-4D97-AF65-F5344CB8AC3E}">
        <p14:creationId xmlns:p14="http://schemas.microsoft.com/office/powerpoint/2010/main" val="111688304"/>
      </p:ext>
    </p:extLst>
  </p:cSld>
</p:sld>
</file>

<file path=ppt/slides/slide3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661E1C8-35D8-4427-869B-CD133E1F412C}"/>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tb_rgb_from_mem.v</a:t>
            </a:r>
          </a:p>
        </p:txBody>
      </p:sp>
      <p:sp>
        <p:nvSpPr>
          <p:cNvPr id="2" name="">
            <a:extLst xmlns:a="http://schemas.openxmlformats.org/drawingml/2006/main">
              <a:ext uri="{FF2B5EF4-FFF2-40B4-BE49-F238E27FC236}">
                <a16:creationId xmlns:a16="http://schemas.microsoft.com/office/drawing/2014/main" id="{4D8E2FB3-64F1-4E03-92DB-74B42FF1768F}"/>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37-54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962c96717b5425d"/>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6F3A588-8DE6-4F4B-B903-9D0526AA19E7}"/>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Read image_a_rgb.mem and image_b_rgb.mem. Each line in the file is one 24-bit RGB pixel.</a:t>
            </a:r>
          </a:p>
        </p:txBody>
      </p:sp>
      <p:sp>
        <p:nvSpPr>
          <p:cNvPr id="5" name="">
            <a:extLst xmlns:a="http://schemas.openxmlformats.org/drawingml/2006/main">
              <a:ext uri="{FF2B5EF4-FFF2-40B4-BE49-F238E27FC236}">
                <a16:creationId xmlns:a16="http://schemas.microsoft.com/office/drawing/2014/main" id="{E23E24B3-98E5-4133-B14D-CDD66241FD35}"/>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35</a:t>
            </a:r>
          </a:p>
        </p:txBody>
      </p:sp>
    </p:spTree>
    <p:extLst>
      <p:ext uri="{BB962C8B-B14F-4D97-AF65-F5344CB8AC3E}">
        <p14:creationId xmlns:p14="http://schemas.microsoft.com/office/powerpoint/2010/main" val="1655377403"/>
      </p:ext>
    </p:extLst>
  </p:cSld>
</p:sld>
</file>

<file path=ppt/slides/slide3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AAC4DD-336F-4416-BCAD-254E79543E6C}"/>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tb_rgb_from_mem.v</a:t>
            </a:r>
          </a:p>
        </p:txBody>
      </p:sp>
      <p:sp>
        <p:nvSpPr>
          <p:cNvPr id="2" name="">
            <a:extLst xmlns:a="http://schemas.openxmlformats.org/drawingml/2006/main">
              <a:ext uri="{FF2B5EF4-FFF2-40B4-BE49-F238E27FC236}">
                <a16:creationId xmlns:a16="http://schemas.microsoft.com/office/drawing/2014/main" id="{DE576277-6945-4EE9-9C22-7D68F0E837EC}"/>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55-69</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625899d76bc4b06"/>
          <a:stretch xmlns:a="http://schemas.openxmlformats.org/drawingml/2006/main"/>
        </p:blipFill>
        <p:spPr>
          <a:xfrm xmlns:a="http://schemas.openxmlformats.org/drawingml/2006/main">
            <a:off x="514350" y="1517523"/>
            <a:ext cx="11163300" cy="424205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0D09787-C15B-47E1-B197-DFDCD417FD50}"/>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Wait for combinational logic to settle and print score, object-present flags, and same_person.</a:t>
            </a:r>
          </a:p>
        </p:txBody>
      </p:sp>
      <p:sp>
        <p:nvSpPr>
          <p:cNvPr id="5" name="">
            <a:extLst xmlns:a="http://schemas.openxmlformats.org/drawingml/2006/main">
              <a:ext uri="{FF2B5EF4-FFF2-40B4-BE49-F238E27FC236}">
                <a16:creationId xmlns:a16="http://schemas.microsoft.com/office/drawing/2014/main" id="{034E1E24-7B74-4AEF-81D4-4F7963623E36}"/>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36</a:t>
            </a:r>
          </a:p>
        </p:txBody>
      </p:sp>
    </p:spTree>
    <p:extLst>
      <p:ext uri="{BB962C8B-B14F-4D97-AF65-F5344CB8AC3E}">
        <p14:creationId xmlns:p14="http://schemas.microsoft.com/office/powerpoint/2010/main" val="769574803"/>
      </p:ext>
    </p:extLst>
  </p:cSld>
</p:sld>
</file>

<file path=ppt/slides/slide3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459C89-E21B-43F0-B776-7DABB64CEF8D}"/>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How to Run</a:t>
            </a:r>
          </a:p>
        </p:txBody>
      </p:sp>
      <p:sp>
        <p:nvSpPr>
          <p:cNvPr id="2" name="">
            <a:extLst xmlns:a="http://schemas.openxmlformats.org/drawingml/2006/main">
              <a:ext uri="{FF2B5EF4-FFF2-40B4-BE49-F238E27FC236}">
                <a16:creationId xmlns:a16="http://schemas.microsoft.com/office/drawing/2014/main" id="{9908081C-61B3-41D2-B2C1-85C6E77ECB95}"/>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Demo steps for Vivado or simulation</a:t>
            </a:r>
          </a:p>
        </p:txBody>
      </p:sp>
      <p:sp>
        <p:nvSpPr>
          <p:cNvPr id="3" name="">
            <a:extLst xmlns:a="http://schemas.openxmlformats.org/drawingml/2006/main">
              <a:ext uri="{FF2B5EF4-FFF2-40B4-BE49-F238E27FC236}">
                <a16:creationId xmlns:a16="http://schemas.microsoft.com/office/drawing/2014/main" id="{021B26A2-EB0D-471C-8CA4-E02066397140}"/>
              </a:ext>
            </a:extLst>
          </p:cNvPr>
          <p:cNvSpPr>
            <a:spLocks xmlns:a="http://schemas.openxmlformats.org/drawingml/2006/main" noGrp="1"/>
          </p:cNvSpPr>
          <p:nvPr/>
        </p:nvSpPr>
        <p:spPr>
          <a:xfrm xmlns:a="http://schemas.openxmlformats.org/drawingml/2006/main">
            <a:off x="762000" y="1504950"/>
            <a:ext cx="106680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12707891-3392-4F6C-BC69-19246F5BE225}"/>
              </a:ext>
            </a:extLst>
          </p:cNvPr>
          <p:cNvSpPr>
            <a:spLocks xmlns:a="http://schemas.openxmlformats.org/drawingml/2006/main" noGrp="1"/>
          </p:cNvSpPr>
          <p:nvPr/>
        </p:nvSpPr>
        <p:spPr>
          <a:xfrm xmlns:a="http://schemas.openxmlformats.org/drawingml/2006/main">
            <a:off x="990600" y="1714500"/>
            <a:ext cx="10210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Put two cropped person images in verilog_demo, for example person_a.jpg and person_b.jpg.</a:t>
            </a:r>
          </a:p>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Run convert_images_to_rgb_mem.ps1 to create image_a_rgb.mem and image_b_rgb.mem.</a:t>
            </a:r>
          </a:p>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In Vivado or ModelSim, run run_rgb_from_mem.do.</a:t>
            </a:r>
          </a:p>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Read similarity_score and same_person in the simulation console.</a:t>
            </a:r>
          </a:p>
        </p:txBody>
      </p:sp>
      <p:sp>
        <p:nvSpPr>
          <p:cNvPr id="5" name="">
            <a:extLst xmlns:a="http://schemas.openxmlformats.org/drawingml/2006/main">
              <a:ext uri="{FF2B5EF4-FFF2-40B4-BE49-F238E27FC236}">
                <a16:creationId xmlns:a16="http://schemas.microsoft.com/office/drawing/2014/main" id="{D24D0EE6-2849-4603-8A9D-58C05F549031}"/>
              </a:ext>
            </a:extLst>
          </p:cNvPr>
          <p:cNvSpPr>
            <a:spLocks xmlns:a="http://schemas.openxmlformats.org/drawingml/2006/main" noGrp="1"/>
          </p:cNvSpPr>
          <p:nvPr/>
        </p:nvSpPr>
        <p:spPr>
          <a:xfrm xmlns:a="http://schemas.openxmlformats.org/drawingml/2006/main">
            <a:off x="1047750" y="5219700"/>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452"/>
          </a:bodyPr>
          <a:lstStyle xmlns:a="http://schemas.openxmlformats.org/drawingml/2006/main"/>
          <a:p xmlns:a="http://schemas.openxmlformats.org/drawingml/2006/main">
            <a:pPr algn="l">
              <a:defRPr sz="1650" b="1">
                <a:solidFill>
                  <a:srgbClr val="16A34A"/>
                </a:solidFill>
                <a:latin typeface="Microsoft JhengHei"/>
                <a:ea typeface="Microsoft JhengHei"/>
                <a:cs typeface="Microsoft JhengHei"/>
              </a:defRPr>
            </a:pPr>
            <a:r>
              <a:rPr sz="1650" b="1">
                <a:solidFill>
                  <a:srgbClr val="16A34A"/>
                </a:solidFill>
                <a:latin typeface="Microsoft JhengHei"/>
                <a:ea typeface="Microsoft JhengHei"/>
                <a:cs typeface="Microsoft JhengHei"/>
              </a:rPr>
              <a:t>same_person = 1 means the two feature vectors are close enough under the selected threshold.</a:t>
            </a:r>
          </a:p>
        </p:txBody>
      </p:sp>
      <p:sp>
        <p:nvSpPr>
          <p:cNvPr id="6" name="">
            <a:extLst xmlns:a="http://schemas.openxmlformats.org/drawingml/2006/main">
              <a:ext uri="{FF2B5EF4-FFF2-40B4-BE49-F238E27FC236}">
                <a16:creationId xmlns:a16="http://schemas.microsoft.com/office/drawing/2014/main" id="{91CE2672-D2DB-4DBE-BE9B-9C13270A5C51}"/>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37</a:t>
            </a:r>
          </a:p>
        </p:txBody>
      </p:sp>
    </p:spTree>
    <p:extLst>
      <p:ext uri="{BB962C8B-B14F-4D97-AF65-F5344CB8AC3E}">
        <p14:creationId xmlns:p14="http://schemas.microsoft.com/office/powerpoint/2010/main" val="384957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2026-09-08T00:46:09.5240000Z</dcterms:created>
  <dcterms:modified xsi:type="dcterms:W3CDTF">2026-09-08T00:46:09.5240000Z</dcterms:modified>
</coreProperties>
</file>