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464bbd074640e8" /><Relationship Type="http://schemas.openxmlformats.org/officeDocument/2006/relationships/extended-properties" Target="/docProps/app.xml" Id="Rc8b00415fcd141cc" /><Relationship Type="http://schemas.openxmlformats.org/officeDocument/2006/relationships/officeDocument" Target="/ppt/presentation.xml" Id="R12bb0203dad34171" /></Relationships>
</file>

<file path=ppt/presentation.xml><?xml version="1.0" encoding="utf-8"?>
<p:presentation xmlns:p="http://schemas.openxmlformats.org/presentationml/2006/main">
  <p:sldMasterIdLst>
    <p:sldMasterId xmlns:r="http://schemas.openxmlformats.org/officeDocument/2006/relationships" id="2147483648" r:id="Rcf130c9238624066"/>
  </p:sldMasterIdLst>
  <p:notesMasterIdLst>
    <p:notesMasterId xmlns:r="http://schemas.openxmlformats.org/officeDocument/2006/relationships" r:id="R1c298823baa64ca9"/>
  </p:notesMasterIdLst>
  <p:sldIdLst>
    <p:sldId xmlns:r="http://schemas.openxmlformats.org/officeDocument/2006/relationships" id="256" r:id="Rc65811ef47b340e7"/>
    <p:sldId xmlns:r="http://schemas.openxmlformats.org/officeDocument/2006/relationships" id="257" r:id="R5ddb7c00e3284e61"/>
    <p:sldId xmlns:r="http://schemas.openxmlformats.org/officeDocument/2006/relationships" id="258" r:id="R34edc53a5848425d"/>
    <p:sldId xmlns:r="http://schemas.openxmlformats.org/officeDocument/2006/relationships" id="259" r:id="Rbac76b83ec194480"/>
    <p:sldId xmlns:r="http://schemas.openxmlformats.org/officeDocument/2006/relationships" id="260" r:id="R99cfeae90a5345a4"/>
    <p:sldId xmlns:r="http://schemas.openxmlformats.org/officeDocument/2006/relationships" id="261" r:id="R5a6ac36b687d4b42"/>
    <p:sldId xmlns:r="http://schemas.openxmlformats.org/officeDocument/2006/relationships" id="262" r:id="R176def02a03c40c7"/>
    <p:sldId xmlns:r="http://schemas.openxmlformats.org/officeDocument/2006/relationships" id="263" r:id="Rba933d29546b4ce7"/>
    <p:sldId xmlns:r="http://schemas.openxmlformats.org/officeDocument/2006/relationships" id="264" r:id="R063564e219e9454b"/>
    <p:sldId xmlns:r="http://schemas.openxmlformats.org/officeDocument/2006/relationships" id="265" r:id="Red82216386af4676"/>
    <p:sldId xmlns:r="http://schemas.openxmlformats.org/officeDocument/2006/relationships" id="266" r:id="R08a9ff1fdafd4421"/>
    <p:sldId xmlns:r="http://schemas.openxmlformats.org/officeDocument/2006/relationships" id="267" r:id="R8abc5aa54e7f40f1"/>
    <p:sldId xmlns:r="http://schemas.openxmlformats.org/officeDocument/2006/relationships" id="268" r:id="Rbf614d4c97ee44c8"/>
    <p:sldId xmlns:r="http://schemas.openxmlformats.org/officeDocument/2006/relationships" id="269" r:id="R2c4ba3569ce64c3d"/>
    <p:sldId xmlns:r="http://schemas.openxmlformats.org/officeDocument/2006/relationships" id="270" r:id="Re8f9c41e6aba4bd5"/>
    <p:sldId xmlns:r="http://schemas.openxmlformats.org/officeDocument/2006/relationships" id="271" r:id="R1426f0ba583d4d7a"/>
    <p:sldId xmlns:r="http://schemas.openxmlformats.org/officeDocument/2006/relationships" id="272" r:id="R23da4ade3ec0422f"/>
    <p:sldId xmlns:r="http://schemas.openxmlformats.org/officeDocument/2006/relationships" id="273" r:id="R425322ea733f45a4"/>
    <p:sldId xmlns:r="http://schemas.openxmlformats.org/officeDocument/2006/relationships" id="274" r:id="R2d85d20381a34c35"/>
    <p:sldId xmlns:r="http://schemas.openxmlformats.org/officeDocument/2006/relationships" id="275" r:id="R6461e008d14b4813"/>
    <p:sldId xmlns:r="http://schemas.openxmlformats.org/officeDocument/2006/relationships" id="276" r:id="Rc2dbd58cb42543ab"/>
    <p:sldId xmlns:r="http://schemas.openxmlformats.org/officeDocument/2006/relationships" id="277" r:id="R47be8a5c120943f4"/>
    <p:sldId xmlns:r="http://schemas.openxmlformats.org/officeDocument/2006/relationships" id="278" r:id="Rfe89a6bdc94c461c"/>
    <p:sldId xmlns:r="http://schemas.openxmlformats.org/officeDocument/2006/relationships" id="279" r:id="Rba28adf151db4514"/>
    <p:sldId xmlns:r="http://schemas.openxmlformats.org/officeDocument/2006/relationships" id="280" r:id="R75d4836aa02e4ed9"/>
    <p:sldId xmlns:r="http://schemas.openxmlformats.org/officeDocument/2006/relationships" id="281" r:id="R0f1db145aac045f1"/>
    <p:sldId xmlns:r="http://schemas.openxmlformats.org/officeDocument/2006/relationships" id="282" r:id="R8261c46a99e443a8"/>
    <p:sldId xmlns:r="http://schemas.openxmlformats.org/officeDocument/2006/relationships" id="283" r:id="Rf0f5df17c1404a4a"/>
    <p:sldId xmlns:r="http://schemas.openxmlformats.org/officeDocument/2006/relationships" id="284" r:id="Rdcb1e1eae5184080"/>
    <p:sldId xmlns:r="http://schemas.openxmlformats.org/officeDocument/2006/relationships" id="285" r:id="R2d990aa3053943d2"/>
    <p:sldId xmlns:r="http://schemas.openxmlformats.org/officeDocument/2006/relationships" id="286" r:id="R63c5e2bc35bc410b"/>
    <p:sldId xmlns:r="http://schemas.openxmlformats.org/officeDocument/2006/relationships" id="287" r:id="R099cf5cc3f2f40eb"/>
    <p:sldId xmlns:r="http://schemas.openxmlformats.org/officeDocument/2006/relationships" id="288" r:id="Rfeaabd7ecddb4d39"/>
    <p:sldId xmlns:r="http://schemas.openxmlformats.org/officeDocument/2006/relationships" id="289" r:id="Rf48a336872a14bfd"/>
    <p:sldId xmlns:r="http://schemas.openxmlformats.org/officeDocument/2006/relationships" id="290" r:id="R05333395073b41ab"/>
    <p:sldId xmlns:r="http://schemas.openxmlformats.org/officeDocument/2006/relationships" id="291" r:id="R38658e037fef4ffc"/>
    <p:sldId xmlns:r="http://schemas.openxmlformats.org/officeDocument/2006/relationships" id="292" r:id="R100a3279bdd448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037b8dc53740a3" /><Relationship Type="http://schemas.openxmlformats.org/officeDocument/2006/relationships/slideMaster" Target="/ppt/slideMasters/slideMaster1.xml" Id="Rcf130c9238624066" /><Relationship Type="http://schemas.openxmlformats.org/officeDocument/2006/relationships/notesMaster" Target="/ppt/notesMasters/notesMaster1.xml" Id="R1c298823baa64ca9" /><Relationship Type="http://schemas.openxmlformats.org/officeDocument/2006/relationships/presProps" Target="/ppt/presProps.xml" Id="R2495c5333cd54b4b" /><Relationship Type="http://schemas.openxmlformats.org/officeDocument/2006/relationships/tableStyles" Target="/ppt/tableStyles.xml" Id="Re07e39086a154582" /><Relationship Type="http://schemas.openxmlformats.org/officeDocument/2006/relationships/slide" Target="/ppt/slides/slide1.xml" Id="Rc65811ef47b340e7" /><Relationship Type="http://schemas.openxmlformats.org/officeDocument/2006/relationships/slide" Target="/ppt/slides/slide2.xml" Id="R5ddb7c00e3284e61" /><Relationship Type="http://schemas.openxmlformats.org/officeDocument/2006/relationships/slide" Target="/ppt/slides/slide3.xml" Id="R34edc53a5848425d" /><Relationship Type="http://schemas.openxmlformats.org/officeDocument/2006/relationships/slide" Target="/ppt/slides/slide4.xml" Id="Rbac76b83ec194480" /><Relationship Type="http://schemas.openxmlformats.org/officeDocument/2006/relationships/slide" Target="/ppt/slides/slide5.xml" Id="R99cfeae90a5345a4" /><Relationship Type="http://schemas.openxmlformats.org/officeDocument/2006/relationships/slide" Target="/ppt/slides/slide6.xml" Id="R5a6ac36b687d4b42" /><Relationship Type="http://schemas.openxmlformats.org/officeDocument/2006/relationships/slide" Target="/ppt/slides/slide7.xml" Id="R176def02a03c40c7" /><Relationship Type="http://schemas.openxmlformats.org/officeDocument/2006/relationships/slide" Target="/ppt/slides/slide8.xml" Id="Rba933d29546b4ce7" /><Relationship Type="http://schemas.openxmlformats.org/officeDocument/2006/relationships/slide" Target="/ppt/slides/slide9.xml" Id="R063564e219e9454b" /><Relationship Type="http://schemas.openxmlformats.org/officeDocument/2006/relationships/slide" Target="/ppt/slides/slide10.xml" Id="Red82216386af4676" /><Relationship Type="http://schemas.openxmlformats.org/officeDocument/2006/relationships/slide" Target="/ppt/slides/slide11.xml" Id="R08a9ff1fdafd4421" /><Relationship Type="http://schemas.openxmlformats.org/officeDocument/2006/relationships/slide" Target="/ppt/slides/slide12.xml" Id="R8abc5aa54e7f40f1" /><Relationship Type="http://schemas.openxmlformats.org/officeDocument/2006/relationships/slide" Target="/ppt/slides/slide13.xml" Id="Rbf614d4c97ee44c8" /><Relationship Type="http://schemas.openxmlformats.org/officeDocument/2006/relationships/slide" Target="/ppt/slides/slide14.xml" Id="R2c4ba3569ce64c3d" /><Relationship Type="http://schemas.openxmlformats.org/officeDocument/2006/relationships/slide" Target="/ppt/slides/slide15.xml" Id="Re8f9c41e6aba4bd5" /><Relationship Type="http://schemas.openxmlformats.org/officeDocument/2006/relationships/slide" Target="/ppt/slides/slide16.xml" Id="R1426f0ba583d4d7a" /><Relationship Type="http://schemas.openxmlformats.org/officeDocument/2006/relationships/slide" Target="/ppt/slides/slide17.xml" Id="R23da4ade3ec0422f" /><Relationship Type="http://schemas.openxmlformats.org/officeDocument/2006/relationships/slide" Target="/ppt/slides/slide18.xml" Id="R425322ea733f45a4" /><Relationship Type="http://schemas.openxmlformats.org/officeDocument/2006/relationships/slide" Target="/ppt/slides/slide19.xml" Id="R2d85d20381a34c35" /><Relationship Type="http://schemas.openxmlformats.org/officeDocument/2006/relationships/slide" Target="/ppt/slides/slide20.xml" Id="R6461e008d14b4813" /><Relationship Type="http://schemas.openxmlformats.org/officeDocument/2006/relationships/slide" Target="/ppt/slides/slide21.xml" Id="Rc2dbd58cb42543ab" /><Relationship Type="http://schemas.openxmlformats.org/officeDocument/2006/relationships/slide" Target="/ppt/slides/slide22.xml" Id="R47be8a5c120943f4" /><Relationship Type="http://schemas.openxmlformats.org/officeDocument/2006/relationships/slide" Target="/ppt/slides/slide23.xml" Id="Rfe89a6bdc94c461c" /><Relationship Type="http://schemas.openxmlformats.org/officeDocument/2006/relationships/slide" Target="/ppt/slides/slide24.xml" Id="Rba28adf151db4514" /><Relationship Type="http://schemas.openxmlformats.org/officeDocument/2006/relationships/slide" Target="/ppt/slides/slide25.xml" Id="R75d4836aa02e4ed9" /><Relationship Type="http://schemas.openxmlformats.org/officeDocument/2006/relationships/slide" Target="/ppt/slides/slide26.xml" Id="R0f1db145aac045f1" /><Relationship Type="http://schemas.openxmlformats.org/officeDocument/2006/relationships/slide" Target="/ppt/slides/slide27.xml" Id="R8261c46a99e443a8" /><Relationship Type="http://schemas.openxmlformats.org/officeDocument/2006/relationships/slide" Target="/ppt/slides/slide28.xml" Id="Rf0f5df17c1404a4a" /><Relationship Type="http://schemas.openxmlformats.org/officeDocument/2006/relationships/slide" Target="/ppt/slides/slide29.xml" Id="Rdcb1e1eae5184080" /><Relationship Type="http://schemas.openxmlformats.org/officeDocument/2006/relationships/slide" Target="/ppt/slides/slide30.xml" Id="R2d990aa3053943d2" /><Relationship Type="http://schemas.openxmlformats.org/officeDocument/2006/relationships/slide" Target="/ppt/slides/slide31.xml" Id="R63c5e2bc35bc410b" /><Relationship Type="http://schemas.openxmlformats.org/officeDocument/2006/relationships/slide" Target="/ppt/slides/slide32.xml" Id="R099cf5cc3f2f40eb" /><Relationship Type="http://schemas.openxmlformats.org/officeDocument/2006/relationships/slide" Target="/ppt/slides/slide33.xml" Id="Rfeaabd7ecddb4d39" /><Relationship Type="http://schemas.openxmlformats.org/officeDocument/2006/relationships/slide" Target="/ppt/slides/slide34.xml" Id="Rf48a336872a14bfd" /><Relationship Type="http://schemas.openxmlformats.org/officeDocument/2006/relationships/slide" Target="/ppt/slides/slide35.xml" Id="R05333395073b41ab" /><Relationship Type="http://schemas.openxmlformats.org/officeDocument/2006/relationships/slide" Target="/ppt/slides/slide36.xml" Id="R38658e037fef4ffc" /><Relationship Type="http://schemas.openxmlformats.org/officeDocument/2006/relationships/slide" Target="/ppt/slides/slide37.xml" Id="R100a3279bdd448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89ddc16d084a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54c8646a32476e" /><Relationship Type="http://schemas.openxmlformats.org/officeDocument/2006/relationships/notesMaster" Target="/ppt/notesMasters/notesMaster1.xml" Id="R77755226e59d4a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9571b2eaf74ad8" /><Relationship Type="http://schemas.openxmlformats.org/officeDocument/2006/relationships/notesMaster" Target="/ppt/notesMasters/notesMaster1.xml" Id="Rdc6e126838a544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853137514642d7" /><Relationship Type="http://schemas.openxmlformats.org/officeDocument/2006/relationships/notesMaster" Target="/ppt/notesMasters/notesMaster1.xml" Id="Raa7ba9a4418c47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68152cd07d475d" /><Relationship Type="http://schemas.openxmlformats.org/officeDocument/2006/relationships/notesMaster" Target="/ppt/notesMasters/notesMaster1.xml" Id="R161dbc66b46f4e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80464db64a4baf" /><Relationship Type="http://schemas.openxmlformats.org/officeDocument/2006/relationships/notesMaster" Target="/ppt/notesMasters/notesMaster1.xml" Id="R18370fae50a74a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36873819274053" /><Relationship Type="http://schemas.openxmlformats.org/officeDocument/2006/relationships/notesMaster" Target="/ppt/notesMasters/notesMaster1.xml" Id="R014a9758d0904e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faad358fe045f6" /><Relationship Type="http://schemas.openxmlformats.org/officeDocument/2006/relationships/notesMaster" Target="/ppt/notesMasters/notesMaster1.xml" Id="R88ac0310c66649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608091ae214dd6" /><Relationship Type="http://schemas.openxmlformats.org/officeDocument/2006/relationships/notesMaster" Target="/ppt/notesMasters/notesMaster1.xml" Id="Re8cf29d7dd8845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d9e4acb67540b5" /><Relationship Type="http://schemas.openxmlformats.org/officeDocument/2006/relationships/notesMaster" Target="/ppt/notesMasters/notesMaster1.xml" Id="R72e812b835234e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0c970c44564953" /><Relationship Type="http://schemas.openxmlformats.org/officeDocument/2006/relationships/notesMaster" Target="/ppt/notesMasters/notesMaster1.xml" Id="Rb44cb4eadcc341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2288de3c4645cc" /><Relationship Type="http://schemas.openxmlformats.org/officeDocument/2006/relationships/notesMaster" Target="/ppt/notesMasters/notesMaster1.xml" Id="R37821fd9b56c43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efb77766bf40d5" /><Relationship Type="http://schemas.openxmlformats.org/officeDocument/2006/relationships/notesMaster" Target="/ppt/notesMasters/notesMaster1.xml" Id="R2537b10ad0e54d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33601566f24252" /><Relationship Type="http://schemas.openxmlformats.org/officeDocument/2006/relationships/notesMaster" Target="/ppt/notesMasters/notesMaster1.xml" Id="R73b0ec95576e4b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7cb333dfb314224" /><Relationship Type="http://schemas.openxmlformats.org/officeDocument/2006/relationships/notesMaster" Target="/ppt/notesMasters/notesMaster1.xml" Id="Ra1f76acd222042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fbdf57879b94a9b" /><Relationship Type="http://schemas.openxmlformats.org/officeDocument/2006/relationships/notesMaster" Target="/ppt/notesMasters/notesMaster1.xml" Id="Ra761e3f05a884df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0f97e775dd47a7" /><Relationship Type="http://schemas.openxmlformats.org/officeDocument/2006/relationships/notesMaster" Target="/ppt/notesMasters/notesMaster1.xml" Id="R86e745b180574ca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b5ca86078f4e00" /><Relationship Type="http://schemas.openxmlformats.org/officeDocument/2006/relationships/notesMaster" Target="/ppt/notesMasters/notesMaster1.xml" Id="Rc66df1d67afc40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d5339ff8969407e" /><Relationship Type="http://schemas.openxmlformats.org/officeDocument/2006/relationships/notesMaster" Target="/ppt/notesMasters/notesMaster1.xml" Id="R5b1cfbc132b84bc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efec0a67104315" /><Relationship Type="http://schemas.openxmlformats.org/officeDocument/2006/relationships/notesMaster" Target="/ppt/notesMasters/notesMaster1.xml" Id="R2400e8ff8452455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98da7792324c5f" /><Relationship Type="http://schemas.openxmlformats.org/officeDocument/2006/relationships/notesMaster" Target="/ppt/notesMasters/notesMaster1.xml" Id="Rdd48db0dd6a5403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ee2df7035fb4316" /><Relationship Type="http://schemas.openxmlformats.org/officeDocument/2006/relationships/notesMaster" Target="/ppt/notesMasters/notesMaster1.xml" Id="Rae057a70df6146a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1074f48e5b24a66" /><Relationship Type="http://schemas.openxmlformats.org/officeDocument/2006/relationships/notesMaster" Target="/ppt/notesMasters/notesMaster1.xml" Id="R8d0e477ccf114ef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7ddd23ec308430f" /><Relationship Type="http://schemas.openxmlformats.org/officeDocument/2006/relationships/notesMaster" Target="/ppt/notesMasters/notesMaster1.xml" Id="Rbaa66f3b8d5840b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12e04b339644ece" /><Relationship Type="http://schemas.openxmlformats.org/officeDocument/2006/relationships/notesMaster" Target="/ppt/notesMasters/notesMaster1.xml" Id="R68826961506a46b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f50bfa1a9b947ec" /><Relationship Type="http://schemas.openxmlformats.org/officeDocument/2006/relationships/notesMaster" Target="/ppt/notesMasters/notesMaster1.xml" Id="R4d8779f7790f414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c086f0c05ad4865" /><Relationship Type="http://schemas.openxmlformats.org/officeDocument/2006/relationships/notesMaster" Target="/ppt/notesMasters/notesMaster1.xml" Id="R4aa3e0a4fabf4c9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ffb1c421c2d45a3" /><Relationship Type="http://schemas.openxmlformats.org/officeDocument/2006/relationships/notesMaster" Target="/ppt/notesMasters/notesMaster1.xml" Id="Rff07f838448642a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23cb3341017472c" /><Relationship Type="http://schemas.openxmlformats.org/officeDocument/2006/relationships/notesMaster" Target="/ppt/notesMasters/notesMaster1.xml" Id="Rb0c5b033b3cb4de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86ebcafa0db4ff6" /><Relationship Type="http://schemas.openxmlformats.org/officeDocument/2006/relationships/notesMaster" Target="/ppt/notesMasters/notesMaster1.xml" Id="R136e7941ac75400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ed6f712b76949f8" /><Relationship Type="http://schemas.openxmlformats.org/officeDocument/2006/relationships/notesMaster" Target="/ppt/notesMasters/notesMaster1.xml" Id="R97f0fd05dec04d4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1d91b30f44e408b" /><Relationship Type="http://schemas.openxmlformats.org/officeDocument/2006/relationships/notesMaster" Target="/ppt/notesMasters/notesMaster1.xml" Id="R07bb4ded359f48c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893ffed8d0c4357" /><Relationship Type="http://schemas.openxmlformats.org/officeDocument/2006/relationships/notesMaster" Target="/ppt/notesMasters/notesMaster1.xml" Id="R38a29cb15d45414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4eed958ce1d4b16" /><Relationship Type="http://schemas.openxmlformats.org/officeDocument/2006/relationships/notesMaster" Target="/ppt/notesMasters/notesMaster1.xml" Id="Reb0f391f79eb474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0930b040f744f0a" /><Relationship Type="http://schemas.openxmlformats.org/officeDocument/2006/relationships/notesMaster" Target="/ppt/notesMasters/notesMaster1.xml" Id="R6c84f97179694ef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791eeb827a84c6c" /><Relationship Type="http://schemas.openxmlformats.org/officeDocument/2006/relationships/notesMaster" Target="/ppt/notesMasters/notesMaster1.xml" Id="R72eaef8a3a3c446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bf78759c3c244b7" /><Relationship Type="http://schemas.openxmlformats.org/officeDocument/2006/relationships/notesMaster" Target="/ppt/notesMasters/notesMaster1.xml" Id="R860a2c501c06427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f94d0ae668240da" /><Relationship Type="http://schemas.openxmlformats.org/officeDocument/2006/relationships/notesMaster" Target="/ppt/notesMasters/notesMaster1.xml" Id="R2167519b7b2244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show a small but defensible Verilog prototype. It does not claim deep-learning accuracy. It demonstrates the paper-inspired hardware path: extract compact features, compare them, and output a same-person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mapping: Paper 1 emphasizes non-overlapping multi-camera tracking, visual channels, color correction, and topology. Paper 2 gives the clearest visual-channel person re-identification formula using color, location, and area. Paper 3 contributes FPGA-friendly edge, texture, and matched-pair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professor should see that the project moved beyond plain brightness. The design now uses RGB color relations and neighboring pixel differences, which maps directly to edge and segmentation concepts from the readings.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pixel is processed in combinational logic for the prototype. In a future FPGA version, the same operations can become a sequential pipeline to reduce resource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descriptor follows the paper structure: color features, location feature, area feature, and a simplified edge feature. The terms stay integer-based so the implementation remains suitable for Verilog.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the professor's likely question: how does it decide an object boundary? The answer is simple and hardware-friendly: compare neighboring pixels. A large RGB difference indicates a boundary or a different region.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recommended top module in Vivado is two_image_person_identifier_rgb. The old grayscale files remain as a baseline, but the presentation focuses on the RGB visual-channel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to use if the professor asks what is missing. It is honest: the current system is a prototype, but the technical direction is now aligned with the reading.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RGB feature extractor and its image size, pixel width, foreground threshold, color-edge threshold, and minimum object area.</a:t>
            </a:r>
          </a:p>
          <a:p xmlns:a="http://schemas.openxmlformats.org/drawingml/2006/main">
            <a:r>
              <a:t>- Declare one flattened RGB image input and the extracted feature outputs: upper/lower color, rod brightness, area, center, edge count, and present flag.</a:t>
            </a:r>
          </a:p>
          <a:p xmlns:a="http://schemas.openxmlformats.org/drawingml/2006/main">
            <a:r>
              <a:t/>
            </a:r>
          </a:p>
          <a:p xmlns:a="http://schemas.openxmlformats.org/drawingml/2006/main">
            <a:r>
              <a:t>Code lines:</a:t>
            </a:r>
          </a:p>
          <a:p xmlns:a="http://schemas.openxmlformats.org/drawingml/2006/main">
            <a:r>
              <a:t>001: module visual_channel_feature_extractor_rgb #(</a:t>
            </a:r>
          </a:p>
          <a:p xmlns:a="http://schemas.openxmlformats.org/drawingml/2006/main">
            <a:r>
              <a:t>002:     parameter IMG_W = 8,</a:t>
            </a:r>
          </a:p>
          <a:p xmlns:a="http://schemas.openxmlformats.org/drawingml/2006/main">
            <a:r>
              <a:t>003:     parameter IMG_H = 8,</a:t>
            </a:r>
          </a:p>
          <a:p xmlns:a="http://schemas.openxmlformats.org/drawingml/2006/main">
            <a:r>
              <a:t>004:     parameter PIXEL_WIDTH = 8,</a:t>
            </a:r>
          </a:p>
          <a:p xmlns:a="http://schemas.openxmlformats.org/drawingml/2006/main">
            <a:r>
              <a:t>005:     parameter SUM_WIDTH = 16,</a:t>
            </a:r>
          </a:p>
          <a:p xmlns:a="http://schemas.openxmlformats.org/drawingml/2006/main">
            <a:r>
              <a:t>006:     parameter FG_THRESHOLD = 8'd25,</a:t>
            </a:r>
          </a:p>
          <a:p xmlns:a="http://schemas.openxmlformats.org/drawingml/2006/main">
            <a:r>
              <a:t>007:     parameter COLOR_EDGE_THRESHOLD = 10'd96,</a:t>
            </a:r>
          </a:p>
          <a:p xmlns:a="http://schemas.openxmlformats.org/drawingml/2006/main">
            <a:r>
              <a:t>008:     parameter MIN_AREA = 7'd4</a:t>
            </a:r>
          </a:p>
          <a:p xmlns:a="http://schemas.openxmlformats.org/drawingml/2006/main">
            <a:r>
              <a:t>009: ) (</a:t>
            </a:r>
          </a:p>
          <a:p xmlns:a="http://schemas.openxmlformats.org/drawingml/2006/main">
            <a:r>
              <a:t>010:     input  wire [(IMG_W*IMG_H*3*PIXEL_WIDTH)-1:0] image_rgb,</a:t>
            </a:r>
          </a:p>
          <a:p xmlns:a="http://schemas.openxmlformats.org/drawingml/2006/main">
            <a:r>
              <a:t>011:     output reg  [PIXEL_WIDTH-1:0] upper_max_feature,</a:t>
            </a:r>
          </a:p>
          <a:p xmlns:a="http://schemas.openxmlformats.org/drawingml/2006/main">
            <a:r>
              <a:t>012:     output reg  [PIXEL_WIDTH-1:0] upper_mid_feature,</a:t>
            </a:r>
          </a:p>
          <a:p xmlns:a="http://schemas.openxmlformats.org/drawingml/2006/main">
            <a:r>
              <a:t>013:     output reg  [PIXEL_WIDTH-1:0] lower_max_feature,</a:t>
            </a:r>
          </a:p>
          <a:p xmlns:a="http://schemas.openxmlformats.org/drawingml/2006/main">
            <a:r>
              <a:t>014:     output reg  [PIXEL_WIDTH-1:0] lower_mid_feature,</a:t>
            </a:r>
          </a:p>
          <a:p xmlns:a="http://schemas.openxmlformats.org/drawingml/2006/main">
            <a:r>
              <a:t>015:     output reg  [PIXEL_WIDTH-1:0] rod_feature,</a:t>
            </a:r>
          </a:p>
          <a:p xmlns:a="http://schemas.openxmlformats.org/drawingml/2006/main">
            <a:r>
              <a:t>016:     output reg  [6:0]             area_feature,</a:t>
            </a:r>
          </a:p>
          <a:p xmlns:a="http://schemas.openxmlformats.org/drawingml/2006/main">
            <a:r>
              <a:t>017:     output reg  [3:0]             center_x_feature,</a:t>
            </a:r>
          </a:p>
          <a:p xmlns:a="http://schemas.openxmlformats.org/drawingml/2006/main">
            <a:r>
              <a:t>018:     output reg  [3:0]             center_y_feature,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Declare one flattened RGB image input and the extracted feature outputs: upper/lower color, rod brightness, area, center, edge count, and present flag.</a:t>
            </a:r>
          </a:p>
          <a:p xmlns:a="http://schemas.openxmlformats.org/drawingml/2006/main">
            <a:r>
              <a:t>- Declare loop indices and temporary pixel values. These registers hold RGB channels, visual-channel values, color differences, and foreground/cone decisions.</a:t>
            </a:r>
          </a:p>
          <a:p xmlns:a="http://schemas.openxmlformats.org/drawingml/2006/main">
            <a:r>
              <a:t/>
            </a:r>
          </a:p>
          <a:p xmlns:a="http://schemas.openxmlformats.org/drawingml/2006/main">
            <a:r>
              <a:t>Code lines:</a:t>
            </a:r>
          </a:p>
          <a:p xmlns:a="http://schemas.openxmlformats.org/drawingml/2006/main">
            <a:r>
              <a:t>019:     output reg  [6:0]             edge_feature,</a:t>
            </a:r>
          </a:p>
          <a:p xmlns:a="http://schemas.openxmlformats.org/drawingml/2006/main">
            <a:r>
              <a:t>020:     output reg                    person_present</a:t>
            </a:r>
          </a:p>
          <a:p xmlns:a="http://schemas.openxmlformats.org/drawingml/2006/main">
            <a:r>
              <a:t>021: );</a:t>
            </a:r>
          </a:p>
          <a:p xmlns:a="http://schemas.openxmlformats.org/drawingml/2006/main">
            <a:r>
              <a:t>022: </a:t>
            </a:r>
          </a:p>
          <a:p xmlns:a="http://schemas.openxmlformats.org/drawingml/2006/main">
            <a:r>
              <a:t>023:     integer row;</a:t>
            </a:r>
          </a:p>
          <a:p xmlns:a="http://schemas.openxmlformats.org/drawingml/2006/main">
            <a:r>
              <a:t>024:     integer col;</a:t>
            </a:r>
          </a:p>
          <a:p xmlns:a="http://schemas.openxmlformats.org/drawingml/2006/main">
            <a:r>
              <a:t>025:     integer idx;</a:t>
            </a:r>
          </a:p>
          <a:p xmlns:a="http://schemas.openxmlformats.org/drawingml/2006/main">
            <a:r>
              <a:t>026: </a:t>
            </a:r>
          </a:p>
          <a:p xmlns:a="http://schemas.openxmlformats.org/drawingml/2006/main">
            <a:r>
              <a:t>027:     reg [PIXEL_WIDTH-1:0] r;</a:t>
            </a:r>
          </a:p>
          <a:p xmlns:a="http://schemas.openxmlformats.org/drawingml/2006/main">
            <a:r>
              <a:t>028:     reg [PIXEL_WIDTH-1:0] g;</a:t>
            </a:r>
          </a:p>
          <a:p xmlns:a="http://schemas.openxmlformats.org/drawingml/2006/main">
            <a:r>
              <a:t>029:     reg [PIXEL_WIDTH-1:0] b;</a:t>
            </a:r>
          </a:p>
          <a:p xmlns:a="http://schemas.openxmlformats.org/drawingml/2006/main">
            <a:r>
              <a:t>030:     reg [PIXEL_WIDTH-1:0] r_right;</a:t>
            </a:r>
          </a:p>
          <a:p xmlns:a="http://schemas.openxmlformats.org/drawingml/2006/main">
            <a:r>
              <a:t>031:     reg [PIXEL_WIDTH-1:0] g_right;</a:t>
            </a:r>
          </a:p>
          <a:p xmlns:a="http://schemas.openxmlformats.org/drawingml/2006/main">
            <a:r>
              <a:t>032:     reg [PIXEL_WIDTH-1:0] b_right;</a:t>
            </a:r>
          </a:p>
          <a:p xmlns:a="http://schemas.openxmlformats.org/drawingml/2006/main">
            <a:r>
              <a:t>033:     reg [PIXEL_WIDTH-1:0] r_down;</a:t>
            </a:r>
          </a:p>
          <a:p xmlns:a="http://schemas.openxmlformats.org/drawingml/2006/main">
            <a:r>
              <a:t>034:     reg [PIXEL_WIDTH-1:0] g_down;</a:t>
            </a:r>
          </a:p>
          <a:p xmlns:a="http://schemas.openxmlformats.org/drawingml/2006/main">
            <a:r>
              <a:t>035:     reg [PIXEL_WIDTH-1:0] b_down;</a:t>
            </a:r>
          </a:p>
          <a:p xmlns:a="http://schemas.openxmlformats.org/drawingml/2006/main">
            <a:r>
              <a:t>036:     reg [PIXEL_WIDTH-1:0] max_ch;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Declare loop indices and temporary pixel values. These registers hold RGB channels, visual-channel values, color differences, and foreground/cone decisions.</a:t>
            </a:r>
          </a:p>
          <a:p xmlns:a="http://schemas.openxmlformats.org/drawingml/2006/main">
            <a:r>
              <a:t>- Declare accumulators and counters. The circuit scans the image, sums feature values, then divides by the counters to obtain compact descriptors.</a:t>
            </a:r>
          </a:p>
          <a:p xmlns:a="http://schemas.openxmlformats.org/drawingml/2006/main">
            <a:r>
              <a:t/>
            </a:r>
          </a:p>
          <a:p xmlns:a="http://schemas.openxmlformats.org/drawingml/2006/main">
            <a:r>
              <a:t>Code lines:</a:t>
            </a:r>
          </a:p>
          <a:p xmlns:a="http://schemas.openxmlformats.org/drawingml/2006/main">
            <a:r>
              <a:t>037:     reg [PIXEL_WIDTH-1:0] mid_ch;</a:t>
            </a:r>
          </a:p>
          <a:p xmlns:a="http://schemas.openxmlformats.org/drawingml/2006/main">
            <a:r>
              <a:t>038:     reg [PIXEL_WIDTH-1:0] min_ch;</a:t>
            </a:r>
          </a:p>
          <a:p xmlns:a="http://schemas.openxmlformats.org/drawingml/2006/main">
            <a:r>
              <a:t>039:     reg [PIXEL_WIDTH-1:0] gray;</a:t>
            </a:r>
          </a:p>
          <a:p xmlns:a="http://schemas.openxmlformats.org/drawingml/2006/main">
            <a:r>
              <a:t>040:     reg [PIXEL_WIDTH-1:0] sat_diff;</a:t>
            </a:r>
          </a:p>
          <a:p xmlns:a="http://schemas.openxmlformats.org/drawingml/2006/main">
            <a:r>
              <a:t>041:     reg [9:0]             right_color_diff;</a:t>
            </a:r>
          </a:p>
          <a:p xmlns:a="http://schemas.openxmlformats.org/drawingml/2006/main">
            <a:r>
              <a:t>042:     reg [9:0]             down_color_diff;</a:t>
            </a:r>
          </a:p>
          <a:p xmlns:a="http://schemas.openxmlformats.org/drawingml/2006/main">
            <a:r>
              <a:t>043:     reg                   is_foreground;</a:t>
            </a:r>
          </a:p>
          <a:p xmlns:a="http://schemas.openxmlformats.org/drawingml/2006/main">
            <a:r>
              <a:t>044:     reg                   is_cone;</a:t>
            </a:r>
          </a:p>
          <a:p xmlns:a="http://schemas.openxmlformats.org/drawingml/2006/main">
            <a:r>
              <a:t>045: </a:t>
            </a:r>
          </a:p>
          <a:p xmlns:a="http://schemas.openxmlformats.org/drawingml/2006/main">
            <a:r>
              <a:t>046:     reg [SUM_WIDTH-1:0] upper_max_sum;</a:t>
            </a:r>
          </a:p>
          <a:p xmlns:a="http://schemas.openxmlformats.org/drawingml/2006/main">
            <a:r>
              <a:t>047:     reg [SUM_WIDTH-1:0] upper_mid_sum;</a:t>
            </a:r>
          </a:p>
          <a:p xmlns:a="http://schemas.openxmlformats.org/drawingml/2006/main">
            <a:r>
              <a:t>048:     reg [SUM_WIDTH-1:0] lower_max_sum;</a:t>
            </a:r>
          </a:p>
          <a:p xmlns:a="http://schemas.openxmlformats.org/drawingml/2006/main">
            <a:r>
              <a:t>049:     reg [SUM_WIDTH-1:0] lower_mid_sum;</a:t>
            </a:r>
          </a:p>
          <a:p xmlns:a="http://schemas.openxmlformats.org/drawingml/2006/main">
            <a:r>
              <a:t>050:     reg [SUM_WIDTH-1:0] rod_sum;</a:t>
            </a:r>
          </a:p>
          <a:p xmlns:a="http://schemas.openxmlformats.org/drawingml/2006/main">
            <a:r>
              <a:t>051:     reg [SUM_WIDTH-1:0] x_sum;</a:t>
            </a:r>
          </a:p>
          <a:p xmlns:a="http://schemas.openxmlformats.org/drawingml/2006/main">
            <a:r>
              <a:t>052:     reg [SUM_WIDTH-1:0] y_sum;</a:t>
            </a:r>
          </a:p>
          <a:p xmlns:a="http://schemas.openxmlformats.org/drawingml/2006/main">
            <a:r>
              <a:t>053:     reg [6:0] upper_count;</a:t>
            </a:r>
          </a:p>
          <a:p xmlns:a="http://schemas.openxmlformats.org/drawingml/2006/main">
            <a:r>
              <a:t>054:     reg [6:0] lower_count;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55-72</a:t>
            </a:r>
          </a:p>
          <a:p xmlns:a="http://schemas.openxmlformats.org/drawingml/2006/main">
            <a:r>
              <a:t/>
            </a:r>
          </a:p>
          <a:p xmlns:a="http://schemas.openxmlformats.org/drawingml/2006/main">
            <a:r>
              <a:t>Explanation:</a:t>
            </a:r>
          </a:p>
          <a:p xmlns:a="http://schemas.openxmlformats.org/drawingml/2006/main">
            <a:r>
              <a:t>- Declare accumulators and counters. The circuit scans the image, sums feature values, then divides by the counters to obtain compact descriptors.</a:t>
            </a:r>
          </a:p>
          <a:p xmlns:a="http://schemas.openxmlformats.org/drawingml/2006/main">
            <a:r>
              <a:t>- Implement max3 and min3. These functions find the largest and smallest RGB channel for the Visual Channel Model.</a:t>
            </a:r>
          </a:p>
          <a:p xmlns:a="http://schemas.openxmlformats.org/drawingml/2006/main">
            <a:r>
              <a:t/>
            </a:r>
          </a:p>
          <a:p xmlns:a="http://schemas.openxmlformats.org/drawingml/2006/main">
            <a:r>
              <a:t>Code lines:</a:t>
            </a:r>
          </a:p>
          <a:p xmlns:a="http://schemas.openxmlformats.org/drawingml/2006/main">
            <a:r>
              <a:t>055:     reg [6:0] rod_count;</a:t>
            </a:r>
          </a:p>
          <a:p xmlns:a="http://schemas.openxmlformats.org/drawingml/2006/main">
            <a:r>
              <a:t>056:     reg [6:0] area_count;</a:t>
            </a:r>
          </a:p>
          <a:p xmlns:a="http://schemas.openxmlformats.org/drawingml/2006/main">
            <a:r>
              <a:t>057:     reg [6:0] edge_count;</a:t>
            </a:r>
          </a:p>
          <a:p xmlns:a="http://schemas.openxmlformats.org/drawingml/2006/main">
            <a:r>
              <a:t>058: </a:t>
            </a:r>
          </a:p>
          <a:p xmlns:a="http://schemas.openxmlformats.org/drawingml/2006/main">
            <a:r>
              <a:t>059:     function [PIXEL_WIDTH-1:0] max3;</a:t>
            </a:r>
          </a:p>
          <a:p xmlns:a="http://schemas.openxmlformats.org/drawingml/2006/main">
            <a:r>
              <a:t>060:         input [PIXEL_WIDTH-1:0] a;</a:t>
            </a:r>
          </a:p>
          <a:p xmlns:a="http://schemas.openxmlformats.org/drawingml/2006/main">
            <a:r>
              <a:t>061:         input [PIXEL_WIDTH-1:0] b_in;</a:t>
            </a:r>
          </a:p>
          <a:p xmlns:a="http://schemas.openxmlformats.org/drawingml/2006/main">
            <a:r>
              <a:t>062:         input [PIXEL_WIDTH-1:0] c;</a:t>
            </a:r>
          </a:p>
          <a:p xmlns:a="http://schemas.openxmlformats.org/drawingml/2006/main">
            <a:r>
              <a:t>063:         begin</a:t>
            </a:r>
          </a:p>
          <a:p xmlns:a="http://schemas.openxmlformats.org/drawingml/2006/main">
            <a:r>
              <a:t>064:             max3 = (a &gt;= b_in) ? ((a &gt;= c) ? a : c) : ((b_in &gt;= c) ? b_in : c);</a:t>
            </a:r>
          </a:p>
          <a:p xmlns:a="http://schemas.openxmlformats.org/drawingml/2006/main">
            <a:r>
              <a:t>065:         end</a:t>
            </a:r>
          </a:p>
          <a:p xmlns:a="http://schemas.openxmlformats.org/drawingml/2006/main">
            <a:r>
              <a:t>066:     endfunction</a:t>
            </a:r>
          </a:p>
          <a:p xmlns:a="http://schemas.openxmlformats.org/drawingml/2006/main">
            <a:r>
              <a:t>067: </a:t>
            </a:r>
          </a:p>
          <a:p xmlns:a="http://schemas.openxmlformats.org/drawingml/2006/main">
            <a:r>
              <a:t>068:     function [PIXEL_WIDTH-1:0] min3;</a:t>
            </a:r>
          </a:p>
          <a:p xmlns:a="http://schemas.openxmlformats.org/drawingml/2006/main">
            <a:r>
              <a:t>069:         input [PIXEL_WIDTH-1:0] a;</a:t>
            </a:r>
          </a:p>
          <a:p xmlns:a="http://schemas.openxmlformats.org/drawingml/2006/main">
            <a:r>
              <a:t>070:         input [PIXEL_WIDTH-1:0] b_in;</a:t>
            </a:r>
          </a:p>
          <a:p xmlns:a="http://schemas.openxmlformats.org/drawingml/2006/main">
            <a:r>
              <a:t>071:         input [PIXEL_WIDTH-1:0] c;</a:t>
            </a:r>
          </a:p>
          <a:p xmlns:a="http://schemas.openxmlformats.org/drawingml/2006/main">
            <a:r>
              <a:t>072:         begin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73-90</a:t>
            </a:r>
          </a:p>
          <a:p xmlns:a="http://schemas.openxmlformats.org/drawingml/2006/main">
            <a:r>
              <a:t/>
            </a:r>
          </a:p>
          <a:p xmlns:a="http://schemas.openxmlformats.org/drawingml/2006/main">
            <a:r>
              <a:t>Explanation:</a:t>
            </a:r>
          </a:p>
          <a:p xmlns:a="http://schemas.openxmlformats.org/drawingml/2006/main">
            <a:r>
              <a:t>- Implement max3 and min3. These functions find the largest and smallest RGB channel for the Visual Channel Model.</a:t>
            </a:r>
          </a:p>
          <a:p xmlns:a="http://schemas.openxmlformats.org/drawingml/2006/main">
            <a:r>
              <a:t>- Implement mid3. It calculates the middle RGB channel using a widened sum so the arithmetic does not overflow.</a:t>
            </a:r>
          </a:p>
          <a:p xmlns:a="http://schemas.openxmlformats.org/drawingml/2006/main">
            <a:r>
              <a:t>- Implement abs_diff. This gives absolute pixel or channel difference without signed arithmetic.</a:t>
            </a:r>
          </a:p>
          <a:p xmlns:a="http://schemas.openxmlformats.org/drawingml/2006/main">
            <a:r>
              <a:t/>
            </a:r>
          </a:p>
          <a:p xmlns:a="http://schemas.openxmlformats.org/drawingml/2006/main">
            <a:r>
              <a:t>Code lines:</a:t>
            </a:r>
          </a:p>
          <a:p xmlns:a="http://schemas.openxmlformats.org/drawingml/2006/main">
            <a:r>
              <a:t>073:             min3 = (a &lt;= b_in) ? ((a &lt;= c) ? a : c) : ((b_in &lt;= c) ? b_in : c);</a:t>
            </a:r>
          </a:p>
          <a:p xmlns:a="http://schemas.openxmlformats.org/drawingml/2006/main">
            <a:r>
              <a:t>074:         end</a:t>
            </a:r>
          </a:p>
          <a:p xmlns:a="http://schemas.openxmlformats.org/drawingml/2006/main">
            <a:r>
              <a:t>075:     endfunction</a:t>
            </a:r>
          </a:p>
          <a:p xmlns:a="http://schemas.openxmlformats.org/drawingml/2006/main">
            <a:r>
              <a:t>076: </a:t>
            </a:r>
          </a:p>
          <a:p xmlns:a="http://schemas.openxmlformats.org/drawingml/2006/main">
            <a:r>
              <a:t>077:     function [PIXEL_WIDTH-1:0] mid3;</a:t>
            </a:r>
          </a:p>
          <a:p xmlns:a="http://schemas.openxmlformats.org/drawingml/2006/main">
            <a:r>
              <a:t>078:         input [PIXEL_WIDTH-1:0] a;</a:t>
            </a:r>
          </a:p>
          <a:p xmlns:a="http://schemas.openxmlformats.org/drawingml/2006/main">
            <a:r>
              <a:t>079:         input [PIXEL_WIDTH-1:0] b_in;</a:t>
            </a:r>
          </a:p>
          <a:p xmlns:a="http://schemas.openxmlformats.org/drawingml/2006/main">
            <a:r>
              <a:t>080:         input [PIXEL_WIDTH-1:0] c;</a:t>
            </a:r>
          </a:p>
          <a:p xmlns:a="http://schemas.openxmlformats.org/drawingml/2006/main">
            <a:r>
              <a:t>081:         reg [9:0] total;</a:t>
            </a:r>
          </a:p>
          <a:p xmlns:a="http://schemas.openxmlformats.org/drawingml/2006/main">
            <a:r>
              <a:t>082:         begin</a:t>
            </a:r>
          </a:p>
          <a:p xmlns:a="http://schemas.openxmlformats.org/drawingml/2006/main">
            <a:r>
              <a:t>083:             total = {2'b0, a} + {2'b0, b_in} + {2'b0, c};</a:t>
            </a:r>
          </a:p>
          <a:p xmlns:a="http://schemas.openxmlformats.org/drawingml/2006/main">
            <a:r>
              <a:t>084:             mid3 = total - max3(a, b_in, c) - min3(a, b_in, c);</a:t>
            </a:r>
          </a:p>
          <a:p xmlns:a="http://schemas.openxmlformats.org/drawingml/2006/main">
            <a:r>
              <a:t>085:         end</a:t>
            </a:r>
          </a:p>
          <a:p xmlns:a="http://schemas.openxmlformats.org/drawingml/2006/main">
            <a:r>
              <a:t>086:     endfunction</a:t>
            </a:r>
          </a:p>
          <a:p xmlns:a="http://schemas.openxmlformats.org/drawingml/2006/main">
            <a:r>
              <a:t>087: </a:t>
            </a:r>
          </a:p>
          <a:p xmlns:a="http://schemas.openxmlformats.org/drawingml/2006/main">
            <a:r>
              <a:t>088:     function [PIXEL_WIDTH-1:0] abs_diff;</a:t>
            </a:r>
          </a:p>
          <a:p xmlns:a="http://schemas.openxmlformats.org/drawingml/2006/main">
            <a:r>
              <a:t>089:         input [PIXEL_WIDTH-1:0] a;</a:t>
            </a:r>
          </a:p>
          <a:p xmlns:a="http://schemas.openxmlformats.org/drawingml/2006/main">
            <a:r>
              <a:t>090:         input [PIXEL_WIDTH-1:0] b_in;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91-108</a:t>
            </a:r>
          </a:p>
          <a:p xmlns:a="http://schemas.openxmlformats.org/drawingml/2006/main">
            <a:r>
              <a:t/>
            </a:r>
          </a:p>
          <a:p xmlns:a="http://schemas.openxmlformats.org/drawingml/2006/main">
            <a:r>
              <a:t>Explanation:</a:t>
            </a:r>
          </a:p>
          <a:p xmlns:a="http://schemas.openxmlformats.org/drawingml/2006/main">
            <a:r>
              <a:t>- Implement abs_diff. This gives absolute pixel or channel difference without signed arithmetic.</a:t>
            </a:r>
          </a:p>
          <a:p xmlns:a="http://schemas.openxmlformats.org/drawingml/2006/main">
            <a:r>
              <a:t>- Implement get_r/get_g/get_b helper functions. They read a neighbor pixel from the flattened RGB image.</a:t>
            </a:r>
          </a:p>
          <a:p xmlns:a="http://schemas.openxmlformats.org/drawingml/2006/main">
            <a:r>
              <a:t/>
            </a:r>
          </a:p>
          <a:p xmlns:a="http://schemas.openxmlformats.org/drawingml/2006/main">
            <a:r>
              <a:t>Code lines:</a:t>
            </a:r>
          </a:p>
          <a:p xmlns:a="http://schemas.openxmlformats.org/drawingml/2006/main">
            <a:r>
              <a:t>091:         begin</a:t>
            </a:r>
          </a:p>
          <a:p xmlns:a="http://schemas.openxmlformats.org/drawingml/2006/main">
            <a:r>
              <a:t>092:             abs_diff = (a &gt;= b_in) ? (a - b_in) : (b_in - a);</a:t>
            </a:r>
          </a:p>
          <a:p xmlns:a="http://schemas.openxmlformats.org/drawingml/2006/main">
            <a:r>
              <a:t>093:         end</a:t>
            </a:r>
          </a:p>
          <a:p xmlns:a="http://schemas.openxmlformats.org/drawingml/2006/main">
            <a:r>
              <a:t>094:     endfunction</a:t>
            </a:r>
          </a:p>
          <a:p xmlns:a="http://schemas.openxmlformats.org/drawingml/2006/main">
            <a:r>
              <a:t>095: </a:t>
            </a:r>
          </a:p>
          <a:p xmlns:a="http://schemas.openxmlformats.org/drawingml/2006/main">
            <a:r>
              <a:t>096:     function [PIXEL_WIDTH-1:0] get_r;</a:t>
            </a:r>
          </a:p>
          <a:p xmlns:a="http://schemas.openxmlformats.org/drawingml/2006/main">
            <a:r>
              <a:t>097:         input integer row_in;</a:t>
            </a:r>
          </a:p>
          <a:p xmlns:a="http://schemas.openxmlformats.org/drawingml/2006/main">
            <a:r>
              <a:t>098:         input integer col_in;</a:t>
            </a:r>
          </a:p>
          <a:p xmlns:a="http://schemas.openxmlformats.org/drawingml/2006/main">
            <a:r>
              <a:t>099:         integer pix_idx;</a:t>
            </a:r>
          </a:p>
          <a:p xmlns:a="http://schemas.openxmlformats.org/drawingml/2006/main">
            <a:r>
              <a:t>100:         begin</a:t>
            </a:r>
          </a:p>
          <a:p xmlns:a="http://schemas.openxmlformats.org/drawingml/2006/main">
            <a:r>
              <a:t>101:             pix_idx = (row_in * IMG_W + col_in) * 3 * PIXEL_WIDTH;</a:t>
            </a:r>
          </a:p>
          <a:p xmlns:a="http://schemas.openxmlformats.org/drawingml/2006/main">
            <a:r>
              <a:t>102:             get_r = image_rgb[pix_idx +: PIXEL_WIDTH];</a:t>
            </a:r>
          </a:p>
          <a:p xmlns:a="http://schemas.openxmlformats.org/drawingml/2006/main">
            <a:r>
              <a:t>103:         end</a:t>
            </a:r>
          </a:p>
          <a:p xmlns:a="http://schemas.openxmlformats.org/drawingml/2006/main">
            <a:r>
              <a:t>104:     endfunction</a:t>
            </a:r>
          </a:p>
          <a:p xmlns:a="http://schemas.openxmlformats.org/drawingml/2006/main">
            <a:r>
              <a:t>105: </a:t>
            </a:r>
          </a:p>
          <a:p xmlns:a="http://schemas.openxmlformats.org/drawingml/2006/main">
            <a:r>
              <a:t>106:     function [PIXEL_WIDTH-1:0] get_g;</a:t>
            </a:r>
          </a:p>
          <a:p xmlns:a="http://schemas.openxmlformats.org/drawingml/2006/main">
            <a:r>
              <a:t>107:         input integer row_in;</a:t>
            </a:r>
          </a:p>
          <a:p xmlns:a="http://schemas.openxmlformats.org/drawingml/2006/main">
            <a:r>
              <a:t>108:         input integer col_in;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109-126</a:t>
            </a:r>
          </a:p>
          <a:p xmlns:a="http://schemas.openxmlformats.org/drawingml/2006/main">
            <a:r>
              <a:t/>
            </a:r>
          </a:p>
          <a:p xmlns:a="http://schemas.openxmlformats.org/drawingml/2006/main">
            <a:r>
              <a:t>Explanation:</a:t>
            </a:r>
          </a:p>
          <a:p xmlns:a="http://schemas.openxmlformats.org/drawingml/2006/main">
            <a:r>
              <a:t>- Implement get_r/get_g/get_b helper functions. They read a neighbor pixel from the flattened RGB image.</a:t>
            </a:r>
          </a:p>
          <a:p xmlns:a="http://schemas.openxmlformats.org/drawingml/2006/main">
            <a:r>
              <a:t>- Start combinational logic and clear all sums and counters before scanning the image.</a:t>
            </a:r>
          </a:p>
          <a:p xmlns:a="http://schemas.openxmlformats.org/drawingml/2006/main">
            <a:r>
              <a:t/>
            </a:r>
          </a:p>
          <a:p xmlns:a="http://schemas.openxmlformats.org/drawingml/2006/main">
            <a:r>
              <a:t>Code lines:</a:t>
            </a:r>
          </a:p>
          <a:p xmlns:a="http://schemas.openxmlformats.org/drawingml/2006/main">
            <a:r>
              <a:t>109:         integer pix_idx;</a:t>
            </a:r>
          </a:p>
          <a:p xmlns:a="http://schemas.openxmlformats.org/drawingml/2006/main">
            <a:r>
              <a:t>110:         begin</a:t>
            </a:r>
          </a:p>
          <a:p xmlns:a="http://schemas.openxmlformats.org/drawingml/2006/main">
            <a:r>
              <a:t>111:             pix_idx = (row_in * IMG_W + col_in) * 3 * PIXEL_WIDTH;</a:t>
            </a:r>
          </a:p>
          <a:p xmlns:a="http://schemas.openxmlformats.org/drawingml/2006/main">
            <a:r>
              <a:t>112:             get_g = image_rgb[pix_idx + PIXEL_WIDTH +: PIXEL_WIDTH];</a:t>
            </a:r>
          </a:p>
          <a:p xmlns:a="http://schemas.openxmlformats.org/drawingml/2006/main">
            <a:r>
              <a:t>113:         end</a:t>
            </a:r>
          </a:p>
          <a:p xmlns:a="http://schemas.openxmlformats.org/drawingml/2006/main">
            <a:r>
              <a:t>114:     endfunction</a:t>
            </a:r>
          </a:p>
          <a:p xmlns:a="http://schemas.openxmlformats.org/drawingml/2006/main">
            <a:r>
              <a:t>115: </a:t>
            </a:r>
          </a:p>
          <a:p xmlns:a="http://schemas.openxmlformats.org/drawingml/2006/main">
            <a:r>
              <a:t>116:     function [PIXEL_WIDTH-1:0] get_b;</a:t>
            </a:r>
          </a:p>
          <a:p xmlns:a="http://schemas.openxmlformats.org/drawingml/2006/main">
            <a:r>
              <a:t>117:         input integer row_in;</a:t>
            </a:r>
          </a:p>
          <a:p xmlns:a="http://schemas.openxmlformats.org/drawingml/2006/main">
            <a:r>
              <a:t>118:         input integer col_in;</a:t>
            </a:r>
          </a:p>
          <a:p xmlns:a="http://schemas.openxmlformats.org/drawingml/2006/main">
            <a:r>
              <a:t>119:         integer pix_idx;</a:t>
            </a:r>
          </a:p>
          <a:p xmlns:a="http://schemas.openxmlformats.org/drawingml/2006/main">
            <a:r>
              <a:t>120:         begin</a:t>
            </a:r>
          </a:p>
          <a:p xmlns:a="http://schemas.openxmlformats.org/drawingml/2006/main">
            <a:r>
              <a:t>121:             pix_idx = (row_in * IMG_W + col_in) * 3 * PIXEL_WIDTH;</a:t>
            </a:r>
          </a:p>
          <a:p xmlns:a="http://schemas.openxmlformats.org/drawingml/2006/main">
            <a:r>
              <a:t>122:             get_b = image_rgb[pix_idx + 2*PIXEL_WIDTH +: PIXEL_WIDTH];</a:t>
            </a:r>
          </a:p>
          <a:p xmlns:a="http://schemas.openxmlformats.org/drawingml/2006/main">
            <a:r>
              <a:t>123:         end</a:t>
            </a:r>
          </a:p>
          <a:p xmlns:a="http://schemas.openxmlformats.org/drawingml/2006/main">
            <a:r>
              <a:t>124:     endfunction</a:t>
            </a:r>
          </a:p>
          <a:p xmlns:a="http://schemas.openxmlformats.org/drawingml/2006/main">
            <a:r>
              <a:t>125: </a:t>
            </a:r>
          </a:p>
          <a:p xmlns:a="http://schemas.openxmlformats.org/drawingml/2006/main">
            <a:r>
              <a:t>126:     always @* begin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127-144</a:t>
            </a:r>
          </a:p>
          <a:p xmlns:a="http://schemas.openxmlformats.org/drawingml/2006/main">
            <a:r>
              <a:t/>
            </a:r>
          </a:p>
          <a:p xmlns:a="http://schemas.openxmlformats.org/drawingml/2006/main">
            <a:r>
              <a:t>Explanation:</a:t>
            </a:r>
          </a:p>
          <a:p xmlns:a="http://schemas.openxmlformats.org/drawingml/2006/main">
            <a:r>
              <a:t>- Start combinational logic and clear all sums and counters before scanning the image.</a:t>
            </a:r>
          </a:p>
          <a:p xmlns:a="http://schemas.openxmlformats.org/drawingml/2006/main">
            <a:r>
              <a:t>- Scan all 64 pixels. Each pixel is split into R/G/B, then converted into max, mid, min, grayscale, saturation difference, foreground, and cone/rod state.</a:t>
            </a:r>
          </a:p>
          <a:p xmlns:a="http://schemas.openxmlformats.org/drawingml/2006/main">
            <a:r>
              <a:t/>
            </a:r>
          </a:p>
          <a:p xmlns:a="http://schemas.openxmlformats.org/drawingml/2006/main">
            <a:r>
              <a:t>Code lines:</a:t>
            </a:r>
          </a:p>
          <a:p xmlns:a="http://schemas.openxmlformats.org/drawingml/2006/main">
            <a:r>
              <a:t>127:         upper_max_sum = {SUM_WIDTH{1'b0}};</a:t>
            </a:r>
          </a:p>
          <a:p xmlns:a="http://schemas.openxmlformats.org/drawingml/2006/main">
            <a:r>
              <a:t>128:         upper_mid_sum = {SUM_WIDTH{1'b0}};</a:t>
            </a:r>
          </a:p>
          <a:p xmlns:a="http://schemas.openxmlformats.org/drawingml/2006/main">
            <a:r>
              <a:t>129:         lower_max_sum = {SUM_WIDTH{1'b0}};</a:t>
            </a:r>
          </a:p>
          <a:p xmlns:a="http://schemas.openxmlformats.org/drawingml/2006/main">
            <a:r>
              <a:t>130:         lower_mid_sum = {SUM_WIDTH{1'b0}};</a:t>
            </a:r>
          </a:p>
          <a:p xmlns:a="http://schemas.openxmlformats.org/drawingml/2006/main">
            <a:r>
              <a:t>131:         rod_sum = {SUM_WIDTH{1'b0}};</a:t>
            </a:r>
          </a:p>
          <a:p xmlns:a="http://schemas.openxmlformats.org/drawingml/2006/main">
            <a:r>
              <a:t>132:         x_sum = {SUM_WIDTH{1'b0}};</a:t>
            </a:r>
          </a:p>
          <a:p xmlns:a="http://schemas.openxmlformats.org/drawingml/2006/main">
            <a:r>
              <a:t>133:         y_sum = {SUM_WIDTH{1'b0}};</a:t>
            </a:r>
          </a:p>
          <a:p xmlns:a="http://schemas.openxmlformats.org/drawingml/2006/main">
            <a:r>
              <a:t>134:         upper_count = 7'd0;</a:t>
            </a:r>
          </a:p>
          <a:p xmlns:a="http://schemas.openxmlformats.org/drawingml/2006/main">
            <a:r>
              <a:t>135:         lower_count = 7'd0;</a:t>
            </a:r>
          </a:p>
          <a:p xmlns:a="http://schemas.openxmlformats.org/drawingml/2006/main">
            <a:r>
              <a:t>136:         rod_count = 7'd0;</a:t>
            </a:r>
          </a:p>
          <a:p xmlns:a="http://schemas.openxmlformats.org/drawingml/2006/main">
            <a:r>
              <a:t>137:         area_count = 7'd0;</a:t>
            </a:r>
          </a:p>
          <a:p xmlns:a="http://schemas.openxmlformats.org/drawingml/2006/main">
            <a:r>
              <a:t>138:         edge_count = 7'd0;</a:t>
            </a:r>
          </a:p>
          <a:p xmlns:a="http://schemas.openxmlformats.org/drawingml/2006/main">
            <a:r>
              <a:t>139: </a:t>
            </a:r>
          </a:p>
          <a:p xmlns:a="http://schemas.openxmlformats.org/drawingml/2006/main">
            <a:r>
              <a:t>140:         for (row = 0; row &lt; IMG_H; row = row + 1) begin</a:t>
            </a:r>
          </a:p>
          <a:p xmlns:a="http://schemas.openxmlformats.org/drawingml/2006/main">
            <a:r>
              <a:t>141:             for (col = 0; col &lt; IMG_W; col = col + 1) begin</a:t>
            </a:r>
          </a:p>
          <a:p xmlns:a="http://schemas.openxmlformats.org/drawingml/2006/main">
            <a:r>
              <a:t>142:                 idx = (row * IMG_W + col) * 3 * PIXEL_WIDTH;</a:t>
            </a:r>
          </a:p>
          <a:p xmlns:a="http://schemas.openxmlformats.org/drawingml/2006/main">
            <a:r>
              <a:t>143:                 r = image_rgb[idx +: PIXEL_WIDTH];</a:t>
            </a:r>
          </a:p>
          <a:p xmlns:a="http://schemas.openxmlformats.org/drawingml/2006/main">
            <a:r>
              <a:t>144:                 g = image_rgb[idx + PIXEL_WIDTH +: PIXEL_WIDTH];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145-162</a:t>
            </a:r>
          </a:p>
          <a:p xmlns:a="http://schemas.openxmlformats.org/drawingml/2006/main">
            <a:r>
              <a:t/>
            </a:r>
          </a:p>
          <a:p xmlns:a="http://schemas.openxmlformats.org/drawingml/2006/main">
            <a:r>
              <a:t>Explanation:</a:t>
            </a:r>
          </a:p>
          <a:p xmlns:a="http://schemas.openxmlformats.org/drawingml/2006/main">
            <a:r>
              <a:t>- Scan all 64 pixels. Each pixel is split into R/G/B, then converted into max, mid, min, grayscale, saturation difference, foreground, and cone/rod state.</a:t>
            </a:r>
          </a:p>
          <a:p xmlns:a="http://schemas.openxmlformats.org/drawingml/2006/main">
            <a:r>
              <a:t>- For foreground pixels, update object area and center sums. Cone pixels contribute upper/lower color features. Rod pixels contribute grayscale brightness.</a:t>
            </a:r>
          </a:p>
          <a:p xmlns:a="http://schemas.openxmlformats.org/drawingml/2006/main">
            <a:r>
              <a:t/>
            </a:r>
          </a:p>
          <a:p xmlns:a="http://schemas.openxmlformats.org/drawingml/2006/main">
            <a:r>
              <a:t>Code lines:</a:t>
            </a:r>
          </a:p>
          <a:p xmlns:a="http://schemas.openxmlformats.org/drawingml/2006/main">
            <a:r>
              <a:t>145:                 b = image_rgb[idx + 2*PIXEL_WIDTH +: PIXEL_WIDTH];</a:t>
            </a:r>
          </a:p>
          <a:p xmlns:a="http://schemas.openxmlformats.org/drawingml/2006/main">
            <a:r>
              <a:t>146: </a:t>
            </a:r>
          </a:p>
          <a:p xmlns:a="http://schemas.openxmlformats.org/drawingml/2006/main">
            <a:r>
              <a:t>147:                 max_ch = max3(r, g, b);</a:t>
            </a:r>
          </a:p>
          <a:p xmlns:a="http://schemas.openxmlformats.org/drawingml/2006/main">
            <a:r>
              <a:t>148:                 mid_ch = mid3(r, g, b);</a:t>
            </a:r>
          </a:p>
          <a:p xmlns:a="http://schemas.openxmlformats.org/drawingml/2006/main">
            <a:r>
              <a:t>149:                 min_ch = min3(r, g, b);</a:t>
            </a:r>
          </a:p>
          <a:p xmlns:a="http://schemas.openxmlformats.org/drawingml/2006/main">
            <a:r>
              <a:t>150:                 gray = (r &gt;&gt; 2) + (g &gt;&gt; 1) + (b &gt;&gt; 2);</a:t>
            </a:r>
          </a:p>
          <a:p xmlns:a="http://schemas.openxmlformats.org/drawingml/2006/main">
            <a:r>
              <a:t>151:                 sat_diff = max_ch - min_ch;</a:t>
            </a:r>
          </a:p>
          <a:p xmlns:a="http://schemas.openxmlformats.org/drawingml/2006/main">
            <a:r>
              <a:t>152:                 is_foreground = max_ch &gt;= FG_THRESHOLD;</a:t>
            </a:r>
          </a:p>
          <a:p xmlns:a="http://schemas.openxmlformats.org/drawingml/2006/main">
            <a:r>
              <a:t>153:                 is_cone = is_foreground &amp;&amp; (sat_diff &gt;= (max_ch &gt;&gt; 2));</a:t>
            </a:r>
          </a:p>
          <a:p xmlns:a="http://schemas.openxmlformats.org/drawingml/2006/main">
            <a:r>
              <a:t>154: </a:t>
            </a:r>
          </a:p>
          <a:p xmlns:a="http://schemas.openxmlformats.org/drawingml/2006/main">
            <a:r>
              <a:t>155:                 if (is_foreground) begin</a:t>
            </a:r>
          </a:p>
          <a:p xmlns:a="http://schemas.openxmlformats.org/drawingml/2006/main">
            <a:r>
              <a:t>156:                     area_count = area_count + 7'd1;</a:t>
            </a:r>
          </a:p>
          <a:p xmlns:a="http://schemas.openxmlformats.org/drawingml/2006/main">
            <a:r>
              <a:t>157:                     x_sum = x_sum + col;</a:t>
            </a:r>
          </a:p>
          <a:p xmlns:a="http://schemas.openxmlformats.org/drawingml/2006/main">
            <a:r>
              <a:t>158:                     y_sum = y_sum + row;</a:t>
            </a:r>
          </a:p>
          <a:p xmlns:a="http://schemas.openxmlformats.org/drawingml/2006/main">
            <a:r>
              <a:t>159: </a:t>
            </a:r>
          </a:p>
          <a:p xmlns:a="http://schemas.openxmlformats.org/drawingml/2006/main">
            <a:r>
              <a:t>160:                     if (is_cone) begin</a:t>
            </a:r>
          </a:p>
          <a:p xmlns:a="http://schemas.openxmlformats.org/drawingml/2006/main">
            <a:r>
              <a:t>161:                         if (row &lt; (IMG_H / 2)) begin</a:t>
            </a:r>
          </a:p>
          <a:p xmlns:a="http://schemas.openxmlformats.org/drawingml/2006/main">
            <a:r>
              <a:t>162:                             upper_max_sum = upper_max_sum + max_ch;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163-180</a:t>
            </a:r>
          </a:p>
          <a:p xmlns:a="http://schemas.openxmlformats.org/drawingml/2006/main">
            <a:r>
              <a:t/>
            </a:r>
          </a:p>
          <a:p xmlns:a="http://schemas.openxmlformats.org/drawingml/2006/main">
            <a:r>
              <a:t>Explanation:</a:t>
            </a:r>
          </a:p>
          <a:p xmlns:a="http://schemas.openxmlformats.org/drawingml/2006/main">
            <a:r>
              <a:t>- For foreground pixels, update object area and center sums. Cone pixels contribute upper/lower color features. Rod pixels contribute grayscale brightness.</a:t>
            </a:r>
          </a:p>
          <a:p xmlns:a="http://schemas.openxmlformats.org/drawingml/2006/main">
            <a:r>
              <a:t>- Compare the current pixel with the right and lower neighbors. The circuit uses RGB channel differences to find strong local color changes.</a:t>
            </a:r>
          </a:p>
          <a:p xmlns:a="http://schemas.openxmlformats.org/drawingml/2006/main">
            <a:r>
              <a:t/>
            </a:r>
          </a:p>
          <a:p xmlns:a="http://schemas.openxmlformats.org/drawingml/2006/main">
            <a:r>
              <a:t>Code lines:</a:t>
            </a:r>
          </a:p>
          <a:p xmlns:a="http://schemas.openxmlformats.org/drawingml/2006/main">
            <a:r>
              <a:t>163:                             upper_mid_sum = upper_mid_sum + mid_ch;</a:t>
            </a:r>
          </a:p>
          <a:p xmlns:a="http://schemas.openxmlformats.org/drawingml/2006/main">
            <a:r>
              <a:t>164:                             upper_count = upper_count + 7'd1;</a:t>
            </a:r>
          </a:p>
          <a:p xmlns:a="http://schemas.openxmlformats.org/drawingml/2006/main">
            <a:r>
              <a:t>165:                         end else begin</a:t>
            </a:r>
          </a:p>
          <a:p xmlns:a="http://schemas.openxmlformats.org/drawingml/2006/main">
            <a:r>
              <a:t>166:                             lower_max_sum = lower_max_sum + max_ch;</a:t>
            </a:r>
          </a:p>
          <a:p xmlns:a="http://schemas.openxmlformats.org/drawingml/2006/main">
            <a:r>
              <a:t>167:                             lower_mid_sum = lower_mid_sum + mid_ch;</a:t>
            </a:r>
          </a:p>
          <a:p xmlns:a="http://schemas.openxmlformats.org/drawingml/2006/main">
            <a:r>
              <a:t>168:                             lower_count = lower_count + 7'd1;</a:t>
            </a:r>
          </a:p>
          <a:p xmlns:a="http://schemas.openxmlformats.org/drawingml/2006/main">
            <a:r>
              <a:t>169:                         end</a:t>
            </a:r>
          </a:p>
          <a:p xmlns:a="http://schemas.openxmlformats.org/drawingml/2006/main">
            <a:r>
              <a:t>170:                     end else begin</a:t>
            </a:r>
          </a:p>
          <a:p xmlns:a="http://schemas.openxmlformats.org/drawingml/2006/main">
            <a:r>
              <a:t>171:                         rod_sum = rod_sum + gray;</a:t>
            </a:r>
          </a:p>
          <a:p xmlns:a="http://schemas.openxmlformats.org/drawingml/2006/main">
            <a:r>
              <a:t>172:                         rod_count = rod_count + 7'd1;</a:t>
            </a:r>
          </a:p>
          <a:p xmlns:a="http://schemas.openxmlformats.org/drawingml/2006/main">
            <a:r>
              <a:t>173:                     end</a:t>
            </a:r>
          </a:p>
          <a:p xmlns:a="http://schemas.openxmlformats.org/drawingml/2006/main">
            <a:r>
              <a:t>174: </a:t>
            </a:r>
          </a:p>
          <a:p xmlns:a="http://schemas.openxmlformats.org/drawingml/2006/main">
            <a:r>
              <a:t>175:                     if (col &lt; IMG_W-1) begin</a:t>
            </a:r>
          </a:p>
          <a:p xmlns:a="http://schemas.openxmlformats.org/drawingml/2006/main">
            <a:r>
              <a:t>176:                         r_right = get_r(row, col + 1);</a:t>
            </a:r>
          </a:p>
          <a:p xmlns:a="http://schemas.openxmlformats.org/drawingml/2006/main">
            <a:r>
              <a:t>177:                         g_right = get_g(row, col + 1);</a:t>
            </a:r>
          </a:p>
          <a:p xmlns:a="http://schemas.openxmlformats.org/drawingml/2006/main">
            <a:r>
              <a:t>178:                         b_right = get_b(row, col + 1);</a:t>
            </a:r>
          </a:p>
          <a:p xmlns:a="http://schemas.openxmlformats.org/drawingml/2006/main">
            <a:r>
              <a:t>179:                         right_color_diff =</a:t>
            </a:r>
          </a:p>
          <a:p xmlns:a="http://schemas.openxmlformats.org/drawingml/2006/main">
            <a:r>
              <a:t>180:                             {2'b0, abs_diff(r, r_right)}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181-198</a:t>
            </a:r>
          </a:p>
          <a:p xmlns:a="http://schemas.openxmlformats.org/drawingml/2006/main">
            <a:r>
              <a:t/>
            </a:r>
          </a:p>
          <a:p xmlns:a="http://schemas.openxmlformats.org/drawingml/2006/main">
            <a:r>
              <a:t>Explanation:</a:t>
            </a:r>
          </a:p>
          <a:p xmlns:a="http://schemas.openxmlformats.org/drawingml/2006/main">
            <a:r>
              <a:t>- Compare the current pixel with the right and lower neighbors. The circuit uses RGB channel differences to find strong local color changes.</a:t>
            </a:r>
          </a:p>
          <a:p xmlns:a="http://schemas.openxmlformats.org/drawingml/2006/main">
            <a:r>
              <a:t/>
            </a:r>
          </a:p>
          <a:p xmlns:a="http://schemas.openxmlformats.org/drawingml/2006/main">
            <a:r>
              <a:t>Code lines:</a:t>
            </a:r>
          </a:p>
          <a:p xmlns:a="http://schemas.openxmlformats.org/drawingml/2006/main">
            <a:r>
              <a:t>181:                             {2'b0, abs_diff(g, g_right)} +</a:t>
            </a:r>
          </a:p>
          <a:p xmlns:a="http://schemas.openxmlformats.org/drawingml/2006/main">
            <a:r>
              <a:t>182:                             {2'b0, abs_diff(b, b_right)};</a:t>
            </a:r>
          </a:p>
          <a:p xmlns:a="http://schemas.openxmlformats.org/drawingml/2006/main">
            <a:r>
              <a:t>183:                     end else begin</a:t>
            </a:r>
          </a:p>
          <a:p xmlns:a="http://schemas.openxmlformats.org/drawingml/2006/main">
            <a:r>
              <a:t>184:                         right_color_diff = 10'd0;</a:t>
            </a:r>
          </a:p>
          <a:p xmlns:a="http://schemas.openxmlformats.org/drawingml/2006/main">
            <a:r>
              <a:t>185:                     end</a:t>
            </a:r>
          </a:p>
          <a:p xmlns:a="http://schemas.openxmlformats.org/drawingml/2006/main">
            <a:r>
              <a:t>186: </a:t>
            </a:r>
          </a:p>
          <a:p xmlns:a="http://schemas.openxmlformats.org/drawingml/2006/main">
            <a:r>
              <a:t>187:                     if (row &lt; IMG_H-1) begin</a:t>
            </a:r>
          </a:p>
          <a:p xmlns:a="http://schemas.openxmlformats.org/drawingml/2006/main">
            <a:r>
              <a:t>188:                         r_down = get_r(row + 1, col);</a:t>
            </a:r>
          </a:p>
          <a:p xmlns:a="http://schemas.openxmlformats.org/drawingml/2006/main">
            <a:r>
              <a:t>189:                         g_down = get_g(row + 1, col);</a:t>
            </a:r>
          </a:p>
          <a:p xmlns:a="http://schemas.openxmlformats.org/drawingml/2006/main">
            <a:r>
              <a:t>190:                         b_down = get_b(row + 1, col);</a:t>
            </a:r>
          </a:p>
          <a:p xmlns:a="http://schemas.openxmlformats.org/drawingml/2006/main">
            <a:r>
              <a:t>191:                         down_color_diff =</a:t>
            </a:r>
          </a:p>
          <a:p xmlns:a="http://schemas.openxmlformats.org/drawingml/2006/main">
            <a:r>
              <a:t>192:                             {2'b0, abs_diff(r, r_down)} +</a:t>
            </a:r>
          </a:p>
          <a:p xmlns:a="http://schemas.openxmlformats.org/drawingml/2006/main">
            <a:r>
              <a:t>193:                             {2'b0, abs_diff(g, g_down)} +</a:t>
            </a:r>
          </a:p>
          <a:p xmlns:a="http://schemas.openxmlformats.org/drawingml/2006/main">
            <a:r>
              <a:t>194:                             {2'b0, abs_diff(b, b_down)};</a:t>
            </a:r>
          </a:p>
          <a:p xmlns:a="http://schemas.openxmlformats.org/drawingml/2006/main">
            <a:r>
              <a:t>195:                     end else begin</a:t>
            </a:r>
          </a:p>
          <a:p xmlns:a="http://schemas.openxmlformats.org/drawingml/2006/main">
            <a:r>
              <a:t>196:                         down_color_diff = 10'd0;</a:t>
            </a:r>
          </a:p>
          <a:p xmlns:a="http://schemas.openxmlformats.org/drawingml/2006/main">
            <a:r>
              <a:t>197:                     end</a:t>
            </a:r>
          </a:p>
          <a:p xmlns:a="http://schemas.openxmlformats.org/drawingml/2006/main">
            <a:r>
              <a:t>198: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199-216</a:t>
            </a:r>
          </a:p>
          <a:p xmlns:a="http://schemas.openxmlformats.org/drawingml/2006/main">
            <a:r>
              <a:t/>
            </a:r>
          </a:p>
          <a:p xmlns:a="http://schemas.openxmlformats.org/drawingml/2006/main">
            <a:r>
              <a:t>Explanation:</a:t>
            </a:r>
          </a:p>
          <a:p xmlns:a="http://schemas.openxmlformats.org/drawingml/2006/main">
            <a:r>
              <a:t>- If either neighbor difference exceeds the color-edge threshold, count this pixel as an edge or object-boundary point.</a:t>
            </a:r>
          </a:p>
          <a:p xmlns:a="http://schemas.openxmlformats.org/drawingml/2006/main">
            <a:r>
              <a:t>- Convert accumulated sums into final compact features and set person_present when enough foreground pixels exist.</a:t>
            </a:r>
          </a:p>
          <a:p xmlns:a="http://schemas.openxmlformats.org/drawingml/2006/main">
            <a:r>
              <a:t/>
            </a:r>
          </a:p>
          <a:p xmlns:a="http://schemas.openxmlformats.org/drawingml/2006/main">
            <a:r>
              <a:t>Code lines:</a:t>
            </a:r>
          </a:p>
          <a:p xmlns:a="http://schemas.openxmlformats.org/drawingml/2006/main">
            <a:r>
              <a:t>199:                     if ((right_color_diff &gt;= COLOR_EDGE_THRESHOLD) ||</a:t>
            </a:r>
          </a:p>
          <a:p xmlns:a="http://schemas.openxmlformats.org/drawingml/2006/main">
            <a:r>
              <a:t>200:                         (down_color_diff &gt;= COLOR_EDGE_THRESHOLD)) begin</a:t>
            </a:r>
          </a:p>
          <a:p xmlns:a="http://schemas.openxmlformats.org/drawingml/2006/main">
            <a:r>
              <a:t>201:                         edge_count = edge_count + 7'd1;</a:t>
            </a:r>
          </a:p>
          <a:p xmlns:a="http://schemas.openxmlformats.org/drawingml/2006/main">
            <a:r>
              <a:t>202:                     end</a:t>
            </a:r>
          </a:p>
          <a:p xmlns:a="http://schemas.openxmlformats.org/drawingml/2006/main">
            <a:r>
              <a:t>203:                 end</a:t>
            </a:r>
          </a:p>
          <a:p xmlns:a="http://schemas.openxmlformats.org/drawingml/2006/main">
            <a:r>
              <a:t>204:             end</a:t>
            </a:r>
          </a:p>
          <a:p xmlns:a="http://schemas.openxmlformats.org/drawingml/2006/main">
            <a:r>
              <a:t>205:         end</a:t>
            </a:r>
          </a:p>
          <a:p xmlns:a="http://schemas.openxmlformats.org/drawingml/2006/main">
            <a:r>
              <a:t>206: </a:t>
            </a:r>
          </a:p>
          <a:p xmlns:a="http://schemas.openxmlformats.org/drawingml/2006/main">
            <a:r>
              <a:t>207:         upper_max_feature = (upper_count == 0) ? 8'd0 : upper_max_sum / upper_count;</a:t>
            </a:r>
          </a:p>
          <a:p xmlns:a="http://schemas.openxmlformats.org/drawingml/2006/main">
            <a:r>
              <a:t>208:         upper_mid_feature = (upper_count == 0) ? 8'd0 : upper_mid_sum / upper_count;</a:t>
            </a:r>
          </a:p>
          <a:p xmlns:a="http://schemas.openxmlformats.org/drawingml/2006/main">
            <a:r>
              <a:t>209:         lower_max_feature = (lower_count == 0) ? 8'd0 : lower_max_sum / lower_count;</a:t>
            </a:r>
          </a:p>
          <a:p xmlns:a="http://schemas.openxmlformats.org/drawingml/2006/main">
            <a:r>
              <a:t>210:         lower_mid_feature = (lower_count == 0) ? 8'd0 : lower_mid_sum / lower_count;</a:t>
            </a:r>
          </a:p>
          <a:p xmlns:a="http://schemas.openxmlformats.org/drawingml/2006/main">
            <a:r>
              <a:t>211:         rod_feature = (rod_count == 0) ? 8'd0 : rod_sum / rod_count;</a:t>
            </a:r>
          </a:p>
          <a:p xmlns:a="http://schemas.openxmlformats.org/drawingml/2006/main">
            <a:r>
              <a:t>212:         area_feature = area_count;</a:t>
            </a:r>
          </a:p>
          <a:p xmlns:a="http://schemas.openxmlformats.org/drawingml/2006/main">
            <a:r>
              <a:t>213:         center_x_feature = (area_count == 0) ? 4'd0 : x_sum / area_count;</a:t>
            </a:r>
          </a:p>
          <a:p xmlns:a="http://schemas.openxmlformats.org/drawingml/2006/main">
            <a:r>
              <a:t>214:         center_y_feature = (area_count == 0) ? 4'd0 : y_sum / area_count;</a:t>
            </a:r>
          </a:p>
          <a:p xmlns:a="http://schemas.openxmlformats.org/drawingml/2006/main">
            <a:r>
              <a:t>215:         edge_feature = edge_count;</a:t>
            </a:r>
          </a:p>
          <a:p xmlns:a="http://schemas.openxmlformats.org/drawingml/2006/main">
            <a:r>
              <a:t>216:         person_present = area_count &gt;= MIN_AREA;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217-219</a:t>
            </a:r>
          </a:p>
          <a:p xmlns:a="http://schemas.openxmlformats.org/drawingml/2006/main">
            <a:r>
              <a:t/>
            </a:r>
          </a:p>
          <a:p xmlns:a="http://schemas.openxmlformats.org/drawingml/2006/main">
            <a:r>
              <a:t>Explanation:</a:t>
            </a:r>
          </a:p>
          <a:p xmlns:a="http://schemas.openxmlformats.org/drawingml/2006/main">
            <a:r>
              <a:t>- Close the combinational block and module.</a:t>
            </a:r>
          </a:p>
          <a:p xmlns:a="http://schemas.openxmlformats.org/drawingml/2006/main">
            <a:r>
              <a:t/>
            </a:r>
          </a:p>
          <a:p xmlns:a="http://schemas.openxmlformats.org/drawingml/2006/main">
            <a:r>
              <a:t>Code lines:</a:t>
            </a:r>
          </a:p>
          <a:p xmlns:a="http://schemas.openxmlformats.org/drawingml/2006/main">
            <a:r>
              <a:t>217:     end</a:t>
            </a:r>
          </a:p>
          <a:p xmlns:a="http://schemas.openxmlformats.org/drawingml/2006/main">
            <a:r>
              <a:t>218: </a:t>
            </a:r>
          </a:p>
          <a:p xmlns:a="http://schemas.openxmlformats.org/drawingml/2006/main">
            <a:r>
              <a:t>219: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matcher module and the score threshold. A smaller score means two extracted feature vectors are more similar.</a:t>
            </a:r>
          </a:p>
          <a:p xmlns:a="http://schemas.openxmlformats.org/drawingml/2006/main">
            <a:r>
              <a:t>- Receive the full feature vector from image A and image B: body color, rod brightness, object area, center position, and edge count.</a:t>
            </a:r>
          </a:p>
          <a:p xmlns:a="http://schemas.openxmlformats.org/drawingml/2006/main">
            <a:r>
              <a:t/>
            </a:r>
          </a:p>
          <a:p xmlns:a="http://schemas.openxmlformats.org/drawingml/2006/main">
            <a:r>
              <a:t>Code lines:</a:t>
            </a:r>
          </a:p>
          <a:p xmlns:a="http://schemas.openxmlformats.org/drawingml/2006/main">
            <a:r>
              <a:t>001: module person_reid_matcher #(</a:t>
            </a:r>
          </a:p>
          <a:p xmlns:a="http://schemas.openxmlformats.org/drawingml/2006/main">
            <a:r>
              <a:t>002:     parameter SCORE_WIDTH = 16,</a:t>
            </a:r>
          </a:p>
          <a:p xmlns:a="http://schemas.openxmlformats.org/drawingml/2006/main">
            <a:r>
              <a:t>003:     parameter THRESHOLD = 16'd160</a:t>
            </a:r>
          </a:p>
          <a:p xmlns:a="http://schemas.openxmlformats.org/drawingml/2006/main">
            <a:r>
              <a:t>004: ) (</a:t>
            </a:r>
          </a:p>
          <a:p xmlns:a="http://schemas.openxmlformats.org/drawingml/2006/main">
            <a:r>
              <a:t>005:     input  wire [7:0] a_upper_max,</a:t>
            </a:r>
          </a:p>
          <a:p xmlns:a="http://schemas.openxmlformats.org/drawingml/2006/main">
            <a:r>
              <a:t>006:     input  wire [7:0] a_upper_mid,</a:t>
            </a:r>
          </a:p>
          <a:p xmlns:a="http://schemas.openxmlformats.org/drawingml/2006/main">
            <a:r>
              <a:t>007:     input  wire [7:0] a_lower_max,</a:t>
            </a:r>
          </a:p>
          <a:p xmlns:a="http://schemas.openxmlformats.org/drawingml/2006/main">
            <a:r>
              <a:t>008:     input  wire [7:0] a_lower_mid,</a:t>
            </a:r>
          </a:p>
          <a:p xmlns:a="http://schemas.openxmlformats.org/drawingml/2006/main">
            <a:r>
              <a:t>009:     input  wire [7:0] a_rod,</a:t>
            </a:r>
          </a:p>
          <a:p xmlns:a="http://schemas.openxmlformats.org/drawingml/2006/main">
            <a:r>
              <a:t>010:     input  wire [6:0] a_area,</a:t>
            </a:r>
          </a:p>
          <a:p xmlns:a="http://schemas.openxmlformats.org/drawingml/2006/main">
            <a:r>
              <a:t>011:     input  wire [3:0] a_center_x,</a:t>
            </a:r>
          </a:p>
          <a:p xmlns:a="http://schemas.openxmlformats.org/drawingml/2006/main">
            <a:r>
              <a:t>012:     input  wire [3:0] a_center_y,</a:t>
            </a:r>
          </a:p>
          <a:p xmlns:a="http://schemas.openxmlformats.org/drawingml/2006/main">
            <a:r>
              <a:t>013:     input  wire [6:0] a_edge,</a:t>
            </a:r>
          </a:p>
          <a:p xmlns:a="http://schemas.openxmlformats.org/drawingml/2006/main">
            <a:r>
              <a:t>014: </a:t>
            </a:r>
          </a:p>
          <a:p xmlns:a="http://schemas.openxmlformats.org/drawingml/2006/main">
            <a:r>
              <a:t>015:     input  wire [7:0] b_upper_max,</a:t>
            </a:r>
          </a:p>
          <a:p xmlns:a="http://schemas.openxmlformats.org/drawingml/2006/main">
            <a:r>
              <a:t>016:     input  wire [7:0] b_upper_mid,</a:t>
            </a:r>
          </a:p>
          <a:p xmlns:a="http://schemas.openxmlformats.org/drawingml/2006/main">
            <a:r>
              <a:t>017:     input  wire [7:0] b_lower_max,</a:t>
            </a:r>
          </a:p>
          <a:p xmlns:a="http://schemas.openxmlformats.org/drawingml/2006/main">
            <a:r>
              <a:t>018:     input  wire [7:0] b_lower_mid,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Receive the full feature vector from image A and image B: body color, rod brightness, object area, center position, and edge count.</a:t>
            </a:r>
          </a:p>
          <a:p xmlns:a="http://schemas.openxmlformats.org/drawingml/2006/main">
            <a:r>
              <a:t>- Expose similarity_score and same_person. These are the final comparison outputs from this module.</a:t>
            </a:r>
          </a:p>
          <a:p xmlns:a="http://schemas.openxmlformats.org/drawingml/2006/main">
            <a:r>
              <a:t>- Define absolute-difference helpers for 8-bit, 7-bit, and 4-bit features so each feature can be compared safely.</a:t>
            </a:r>
          </a:p>
          <a:p xmlns:a="http://schemas.openxmlformats.org/drawingml/2006/main">
            <a:r>
              <a:t/>
            </a:r>
          </a:p>
          <a:p xmlns:a="http://schemas.openxmlformats.org/drawingml/2006/main">
            <a:r>
              <a:t>Code lines:</a:t>
            </a:r>
          </a:p>
          <a:p xmlns:a="http://schemas.openxmlformats.org/drawingml/2006/main">
            <a:r>
              <a:t>019:     input  wire [7:0] b_rod,</a:t>
            </a:r>
          </a:p>
          <a:p xmlns:a="http://schemas.openxmlformats.org/drawingml/2006/main">
            <a:r>
              <a:t>020:     input  wire [6:0] b_area,</a:t>
            </a:r>
          </a:p>
          <a:p xmlns:a="http://schemas.openxmlformats.org/drawingml/2006/main">
            <a:r>
              <a:t>021:     input  wire [3:0] b_center_x,</a:t>
            </a:r>
          </a:p>
          <a:p xmlns:a="http://schemas.openxmlformats.org/drawingml/2006/main">
            <a:r>
              <a:t>022:     input  wire [3:0] b_center_y,</a:t>
            </a:r>
          </a:p>
          <a:p xmlns:a="http://schemas.openxmlformats.org/drawingml/2006/main">
            <a:r>
              <a:t>023:     input  wire [6:0] b_edge,</a:t>
            </a:r>
          </a:p>
          <a:p xmlns:a="http://schemas.openxmlformats.org/drawingml/2006/main">
            <a:r>
              <a:t>024: </a:t>
            </a:r>
          </a:p>
          <a:p xmlns:a="http://schemas.openxmlformats.org/drawingml/2006/main">
            <a:r>
              <a:t>025:     output wire [SCORE_WIDTH-1:0] similarity_score,</a:t>
            </a:r>
          </a:p>
          <a:p xmlns:a="http://schemas.openxmlformats.org/drawingml/2006/main">
            <a:r>
              <a:t>026:     output wire                   same_person</a:t>
            </a:r>
          </a:p>
          <a:p xmlns:a="http://schemas.openxmlformats.org/drawingml/2006/main">
            <a:r>
              <a:t>027: );</a:t>
            </a:r>
          </a:p>
          <a:p xmlns:a="http://schemas.openxmlformats.org/drawingml/2006/main">
            <a:r>
              <a:t>028: </a:t>
            </a:r>
          </a:p>
          <a:p xmlns:a="http://schemas.openxmlformats.org/drawingml/2006/main">
            <a:r>
              <a:t>029:     function [7:0] abs8;</a:t>
            </a:r>
          </a:p>
          <a:p xmlns:a="http://schemas.openxmlformats.org/drawingml/2006/main">
            <a:r>
              <a:t>030:         input [7:0] a;</a:t>
            </a:r>
          </a:p>
          <a:p xmlns:a="http://schemas.openxmlformats.org/drawingml/2006/main">
            <a:r>
              <a:t>031:         input [7:0] b_in;</a:t>
            </a:r>
          </a:p>
          <a:p xmlns:a="http://schemas.openxmlformats.org/drawingml/2006/main">
            <a:r>
              <a:t>032:         begin</a:t>
            </a:r>
          </a:p>
          <a:p xmlns:a="http://schemas.openxmlformats.org/drawingml/2006/main">
            <a:r>
              <a:t>033:             abs8 = (a &gt;= b_in) ? (a - b_in) : (b_in - a);</a:t>
            </a:r>
          </a:p>
          <a:p xmlns:a="http://schemas.openxmlformats.org/drawingml/2006/main">
            <a:r>
              <a:t>034:         end</a:t>
            </a:r>
          </a:p>
          <a:p xmlns:a="http://schemas.openxmlformats.org/drawingml/2006/main">
            <a:r>
              <a:t>035:     endfunction</a:t>
            </a:r>
          </a:p>
          <a:p xmlns:a="http://schemas.openxmlformats.org/drawingml/2006/main">
            <a:r>
              <a:t>036: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Define absolute-difference helpers for 8-bit, 7-bit, and 4-bit features so each feature can be compared safely.</a:t>
            </a:r>
          </a:p>
          <a:p xmlns:a="http://schemas.openxmlformats.org/drawingml/2006/main">
            <a:r>
              <a:t/>
            </a:r>
          </a:p>
          <a:p xmlns:a="http://schemas.openxmlformats.org/drawingml/2006/main">
            <a:r>
              <a:t>Code lines:</a:t>
            </a:r>
          </a:p>
          <a:p xmlns:a="http://schemas.openxmlformats.org/drawingml/2006/main">
            <a:r>
              <a:t>037:     function [6:0] abs7;</a:t>
            </a:r>
          </a:p>
          <a:p xmlns:a="http://schemas.openxmlformats.org/drawingml/2006/main">
            <a:r>
              <a:t>038:         input [6:0] a;</a:t>
            </a:r>
          </a:p>
          <a:p xmlns:a="http://schemas.openxmlformats.org/drawingml/2006/main">
            <a:r>
              <a:t>039:         input [6:0] b_in;</a:t>
            </a:r>
          </a:p>
          <a:p xmlns:a="http://schemas.openxmlformats.org/drawingml/2006/main">
            <a:r>
              <a:t>040:         begin</a:t>
            </a:r>
          </a:p>
          <a:p xmlns:a="http://schemas.openxmlformats.org/drawingml/2006/main">
            <a:r>
              <a:t>041:             abs7 = (a &gt;= b_in) ? (a - b_in) : (b_in - a);</a:t>
            </a:r>
          </a:p>
          <a:p xmlns:a="http://schemas.openxmlformats.org/drawingml/2006/main">
            <a:r>
              <a:t>042:         end</a:t>
            </a:r>
          </a:p>
          <a:p xmlns:a="http://schemas.openxmlformats.org/drawingml/2006/main">
            <a:r>
              <a:t>043:     endfunction</a:t>
            </a:r>
          </a:p>
          <a:p xmlns:a="http://schemas.openxmlformats.org/drawingml/2006/main">
            <a:r>
              <a:t>044: </a:t>
            </a:r>
          </a:p>
          <a:p xmlns:a="http://schemas.openxmlformats.org/drawingml/2006/main">
            <a:r>
              <a:t>045:     function [3:0] abs4;</a:t>
            </a:r>
          </a:p>
          <a:p xmlns:a="http://schemas.openxmlformats.org/drawingml/2006/main">
            <a:r>
              <a:t>046:         input [3:0] a;</a:t>
            </a:r>
          </a:p>
          <a:p xmlns:a="http://schemas.openxmlformats.org/drawingml/2006/main">
            <a:r>
              <a:t>047:         input [3:0] b_in;</a:t>
            </a:r>
          </a:p>
          <a:p xmlns:a="http://schemas.openxmlformats.org/drawingml/2006/main">
            <a:r>
              <a:t>048:         begin</a:t>
            </a:r>
          </a:p>
          <a:p xmlns:a="http://schemas.openxmlformats.org/drawingml/2006/main">
            <a:r>
              <a:t>049:             abs4 = (a &gt;= b_in) ? (a - b_in) : (b_in - a);</a:t>
            </a:r>
          </a:p>
          <a:p xmlns:a="http://schemas.openxmlformats.org/drawingml/2006/main">
            <a:r>
              <a:t>050:         end</a:t>
            </a:r>
          </a:p>
          <a:p xmlns:a="http://schemas.openxmlformats.org/drawingml/2006/main">
            <a:r>
              <a:t>051:     endfunction</a:t>
            </a:r>
          </a:p>
          <a:p xmlns:a="http://schemas.openxmlformats.org/drawingml/2006/main">
            <a:r>
              <a:t>052: </a:t>
            </a:r>
          </a:p>
          <a:p xmlns:a="http://schemas.openxmlformats.org/drawingml/2006/main">
            <a:r>
              <a:t>053:     wire [7:0] d_upper_max = abs8(a_upper_max, b_upper_max);</a:t>
            </a:r>
          </a:p>
          <a:p xmlns:a="http://schemas.openxmlformats.org/drawingml/2006/main">
            <a:r>
              <a:t>054:     wire [7:0] d_upper_mid = abs8(a_upper_mid, b_upper_mid);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55-72</a:t>
            </a:r>
          </a:p>
          <a:p xmlns:a="http://schemas.openxmlformats.org/drawingml/2006/main">
            <a:r>
              <a:t/>
            </a:r>
          </a:p>
          <a:p xmlns:a="http://schemas.openxmlformats.org/drawingml/2006/main">
            <a:r>
              <a:t>Explanation:</a:t>
            </a:r>
          </a:p>
          <a:p xmlns:a="http://schemas.openxmlformats.org/drawingml/2006/main">
            <a:r>
              <a:t>- Define absolute-difference helpers for 8-bit, 7-bit, and 4-bit features so each feature can be compared safely.</a:t>
            </a:r>
          </a:p>
          <a:p xmlns:a="http://schemas.openxmlformats.org/drawingml/2006/main">
            <a:r>
              <a:t>- Calculate each feature distance separately. This keeps the result explainable and matches the paper idea of combining color, location, and area terms.</a:t>
            </a:r>
          </a:p>
          <a:p xmlns:a="http://schemas.openxmlformats.org/drawingml/2006/main">
            <a:r>
              <a:t>- Build the weighted score. Color features receive higher weight, while area, center, rod brightness, and edge count provide extra evidence.</a:t>
            </a:r>
          </a:p>
          <a:p xmlns:a="http://schemas.openxmlformats.org/drawingml/2006/main">
            <a:r>
              <a:t/>
            </a:r>
          </a:p>
          <a:p xmlns:a="http://schemas.openxmlformats.org/drawingml/2006/main">
            <a:r>
              <a:t>Code lines:</a:t>
            </a:r>
          </a:p>
          <a:p xmlns:a="http://schemas.openxmlformats.org/drawingml/2006/main">
            <a:r>
              <a:t>055:     wire [7:0] d_lower_max = abs8(a_lower_max, b_lower_max);</a:t>
            </a:r>
          </a:p>
          <a:p xmlns:a="http://schemas.openxmlformats.org/drawingml/2006/main">
            <a:r>
              <a:t>056:     wire [7:0] d_lower_mid = abs8(a_lower_mid, b_lower_mid);</a:t>
            </a:r>
          </a:p>
          <a:p xmlns:a="http://schemas.openxmlformats.org/drawingml/2006/main">
            <a:r>
              <a:t>057:     wire [7:0] d_rod       = abs8(a_rod, b_rod);</a:t>
            </a:r>
          </a:p>
          <a:p xmlns:a="http://schemas.openxmlformats.org/drawingml/2006/main">
            <a:r>
              <a:t>058:     wire [6:0] d_area      = abs7(a_area, b_area);</a:t>
            </a:r>
          </a:p>
          <a:p xmlns:a="http://schemas.openxmlformats.org/drawingml/2006/main">
            <a:r>
              <a:t>059:     wire [3:0] d_center_x  = abs4(a_center_x, b_center_x);</a:t>
            </a:r>
          </a:p>
          <a:p xmlns:a="http://schemas.openxmlformats.org/drawingml/2006/main">
            <a:r>
              <a:t>060:     wire [3:0] d_center_y  = abs4(a_center_y, b_center_y);</a:t>
            </a:r>
          </a:p>
          <a:p xmlns:a="http://schemas.openxmlformats.org/drawingml/2006/main">
            <a:r>
              <a:t>061:     wire [6:0] d_edge      = abs7(a_edge, b_edge);</a:t>
            </a:r>
          </a:p>
          <a:p xmlns:a="http://schemas.openxmlformats.org/drawingml/2006/main">
            <a:r>
              <a:t>062: </a:t>
            </a:r>
          </a:p>
          <a:p xmlns:a="http://schemas.openxmlformats.org/drawingml/2006/main">
            <a:r>
              <a:t>063:     assign similarity_score =</a:t>
            </a:r>
          </a:p>
          <a:p xmlns:a="http://schemas.openxmlformats.org/drawingml/2006/main">
            <a:r>
              <a:t>064:         {{(SCORE_WIDTH-8){1'b0}}, d_upper_max} * 3 +</a:t>
            </a:r>
          </a:p>
          <a:p xmlns:a="http://schemas.openxmlformats.org/drawingml/2006/main">
            <a:r>
              <a:t>065:         {{(SCORE_WIDTH-8){1'b0}}, d_upper_mid} * 2 +</a:t>
            </a:r>
          </a:p>
          <a:p xmlns:a="http://schemas.openxmlformats.org/drawingml/2006/main">
            <a:r>
              <a:t>066:         {{(SCORE_WIDTH-8){1'b0}}, d_lower_max} * 3 +</a:t>
            </a:r>
          </a:p>
          <a:p xmlns:a="http://schemas.openxmlformats.org/drawingml/2006/main">
            <a:r>
              <a:t>067:         {{(SCORE_WIDTH-8){1'b0}}, d_lower_mid} * 2 +</a:t>
            </a:r>
          </a:p>
          <a:p xmlns:a="http://schemas.openxmlformats.org/drawingml/2006/main">
            <a:r>
              <a:t>068:         {{(SCORE_WIDTH-8){1'b0}}, d_rod} +</a:t>
            </a:r>
          </a:p>
          <a:p xmlns:a="http://schemas.openxmlformats.org/drawingml/2006/main">
            <a:r>
              <a:t>069:         {{(SCORE_WIDTH-7){1'b0}}, d_area} * 2 +</a:t>
            </a:r>
          </a:p>
          <a:p xmlns:a="http://schemas.openxmlformats.org/drawingml/2006/main">
            <a:r>
              <a:t>070:         {{(SCORE_WIDTH-4){1'b0}}, d_center_x} * 4 +</a:t>
            </a:r>
          </a:p>
          <a:p xmlns:a="http://schemas.openxmlformats.org/drawingml/2006/main">
            <a:r>
              <a:t>071:         {{(SCORE_WIDTH-4){1'b0}}, d_center_y} * 4 +</a:t>
            </a:r>
          </a:p>
          <a:p xmlns:a="http://schemas.openxmlformats.org/drawingml/2006/main">
            <a:r>
              <a:t>072:         {{(SCORE_WIDTH-7){1'b0}}, d_edge} *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73-76</a:t>
            </a:r>
          </a:p>
          <a:p xmlns:a="http://schemas.openxmlformats.org/drawingml/2006/main">
            <a:r>
              <a:t/>
            </a:r>
          </a:p>
          <a:p xmlns:a="http://schemas.openxmlformats.org/drawingml/2006/main">
            <a:r>
              <a:t>Explanation:</a:t>
            </a:r>
          </a:p>
          <a:p xmlns:a="http://schemas.openxmlformats.org/drawingml/2006/main">
            <a:r>
              <a:t>- Compare the score with the threshold and close the module.</a:t>
            </a:r>
          </a:p>
          <a:p xmlns:a="http://schemas.openxmlformats.org/drawingml/2006/main">
            <a:r>
              <a:t/>
            </a:r>
          </a:p>
          <a:p xmlns:a="http://schemas.openxmlformats.org/drawingml/2006/main">
            <a:r>
              <a:t>Code lines:</a:t>
            </a:r>
          </a:p>
          <a:p xmlns:a="http://schemas.openxmlformats.org/drawingml/2006/main">
            <a:r>
              <a:t>073: </a:t>
            </a:r>
          </a:p>
          <a:p xmlns:a="http://schemas.openxmlformats.org/drawingml/2006/main">
            <a:r>
              <a:t>074:     assign same_person = similarity_score &lt;= THRESHOLD;</a:t>
            </a:r>
          </a:p>
          <a:p xmlns:a="http://schemas.openxmlformats.org/drawingml/2006/main">
            <a:r>
              <a:t>075: </a:t>
            </a:r>
          </a:p>
          <a:p xmlns:a="http://schemas.openxmlformats.org/drawingml/2006/main">
            <a:r>
              <a:t>076: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top-level RGB two-image identifier with image size, pixel width, score width, and threshold parameters.</a:t>
            </a:r>
          </a:p>
          <a:p xmlns:a="http://schemas.openxmlformats.org/drawingml/2006/main">
            <a:r>
              <a:t>- Receive two flattened RGB images and expose score, person-present flags, and the final same_person output.</a:t>
            </a:r>
          </a:p>
          <a:p xmlns:a="http://schemas.openxmlformats.org/drawingml/2006/main">
            <a:r>
              <a:t>- Declare internal wires for all features extracted from image A and image B.</a:t>
            </a:r>
          </a:p>
          <a:p xmlns:a="http://schemas.openxmlformats.org/drawingml/2006/main">
            <a:r>
              <a:t/>
            </a:r>
          </a:p>
          <a:p xmlns:a="http://schemas.openxmlformats.org/drawingml/2006/main">
            <a:r>
              <a:t>Code lines:</a:t>
            </a:r>
          </a:p>
          <a:p xmlns:a="http://schemas.openxmlformats.org/drawingml/2006/main">
            <a:r>
              <a:t>001: module two_image_person_identifier_rgb #(</a:t>
            </a:r>
          </a:p>
          <a:p xmlns:a="http://schemas.openxmlformats.org/drawingml/2006/main">
            <a:r>
              <a:t>002:     parameter IMG_W = 8,</a:t>
            </a:r>
          </a:p>
          <a:p xmlns:a="http://schemas.openxmlformats.org/drawingml/2006/main">
            <a:r>
              <a:t>003:     parameter IMG_H = 8,</a:t>
            </a:r>
          </a:p>
          <a:p xmlns:a="http://schemas.openxmlformats.org/drawingml/2006/main">
            <a:r>
              <a:t>004:     parameter PIXEL_WIDTH = 8,</a:t>
            </a:r>
          </a:p>
          <a:p xmlns:a="http://schemas.openxmlformats.org/drawingml/2006/main">
            <a:r>
              <a:t>005:     parameter SCORE_WIDTH = 16,</a:t>
            </a:r>
          </a:p>
          <a:p xmlns:a="http://schemas.openxmlformats.org/drawingml/2006/main">
            <a:r>
              <a:t>006:     parameter THRESHOLD = 16'd160</a:t>
            </a:r>
          </a:p>
          <a:p xmlns:a="http://schemas.openxmlformats.org/drawingml/2006/main">
            <a:r>
              <a:t>007: ) (</a:t>
            </a:r>
          </a:p>
          <a:p xmlns:a="http://schemas.openxmlformats.org/drawingml/2006/main">
            <a:r>
              <a:t>008:     input  wire [(IMG_W*IMG_H*3*PIXEL_WIDTH)-1:0] image_a_rgb,</a:t>
            </a:r>
          </a:p>
          <a:p xmlns:a="http://schemas.openxmlformats.org/drawingml/2006/main">
            <a:r>
              <a:t>009:     input  wire [(IMG_W*IMG_H*3*PIXEL_WIDTH)-1:0] image_b_rgb,</a:t>
            </a:r>
          </a:p>
          <a:p xmlns:a="http://schemas.openxmlformats.org/drawingml/2006/main">
            <a:r>
              <a:t>010:     output wire [SCORE_WIDTH-1:0] similarity_score,</a:t>
            </a:r>
          </a:p>
          <a:p xmlns:a="http://schemas.openxmlformats.org/drawingml/2006/main">
            <a:r>
              <a:t>011:     output wire                    image_a_has_person,</a:t>
            </a:r>
          </a:p>
          <a:p xmlns:a="http://schemas.openxmlformats.org/drawingml/2006/main">
            <a:r>
              <a:t>012:     output wire                    image_b_has_person,</a:t>
            </a:r>
          </a:p>
          <a:p xmlns:a="http://schemas.openxmlformats.org/drawingml/2006/main">
            <a:r>
              <a:t>013:     output wire                    same_person</a:t>
            </a:r>
          </a:p>
          <a:p xmlns:a="http://schemas.openxmlformats.org/drawingml/2006/main">
            <a:r>
              <a:t>014: );</a:t>
            </a:r>
          </a:p>
          <a:p xmlns:a="http://schemas.openxmlformats.org/drawingml/2006/main">
            <a:r>
              <a:t>015: </a:t>
            </a:r>
          </a:p>
          <a:p xmlns:a="http://schemas.openxmlformats.org/drawingml/2006/main">
            <a:r>
              <a:t>016:     wire [7:0] a_upper_max;</a:t>
            </a:r>
          </a:p>
          <a:p xmlns:a="http://schemas.openxmlformats.org/drawingml/2006/main">
            <a:r>
              <a:t>017:     wire [7:0] a_upper_mid;</a:t>
            </a:r>
          </a:p>
          <a:p xmlns:a="http://schemas.openxmlformats.org/drawingml/2006/main">
            <a:r>
              <a:t>018:     wire [7:0] a_lower_max;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Declare internal wires for all features extracted from image A and image B.</a:t>
            </a:r>
          </a:p>
          <a:p xmlns:a="http://schemas.openxmlformats.org/drawingml/2006/main">
            <a:r>
              <a:t>- Instantiate the first visual-channel feature extractor for image A.</a:t>
            </a:r>
          </a:p>
          <a:p xmlns:a="http://schemas.openxmlformats.org/drawingml/2006/main">
            <a:r>
              <a:t/>
            </a:r>
          </a:p>
          <a:p xmlns:a="http://schemas.openxmlformats.org/drawingml/2006/main">
            <a:r>
              <a:t>Code lines:</a:t>
            </a:r>
          </a:p>
          <a:p xmlns:a="http://schemas.openxmlformats.org/drawingml/2006/main">
            <a:r>
              <a:t>019:     wire [7:0] a_lower_mid;</a:t>
            </a:r>
          </a:p>
          <a:p xmlns:a="http://schemas.openxmlformats.org/drawingml/2006/main">
            <a:r>
              <a:t>020:     wire [7:0] a_rod;</a:t>
            </a:r>
          </a:p>
          <a:p xmlns:a="http://schemas.openxmlformats.org/drawingml/2006/main">
            <a:r>
              <a:t>021:     wire [6:0] a_area;</a:t>
            </a:r>
          </a:p>
          <a:p xmlns:a="http://schemas.openxmlformats.org/drawingml/2006/main">
            <a:r>
              <a:t>022:     wire [3:0] a_center_x;</a:t>
            </a:r>
          </a:p>
          <a:p xmlns:a="http://schemas.openxmlformats.org/drawingml/2006/main">
            <a:r>
              <a:t>023:     wire [3:0] a_center_y;</a:t>
            </a:r>
          </a:p>
          <a:p xmlns:a="http://schemas.openxmlformats.org/drawingml/2006/main">
            <a:r>
              <a:t>024:     wire [6:0] a_edge;</a:t>
            </a:r>
          </a:p>
          <a:p xmlns:a="http://schemas.openxmlformats.org/drawingml/2006/main">
            <a:r>
              <a:t>025: </a:t>
            </a:r>
          </a:p>
          <a:p xmlns:a="http://schemas.openxmlformats.org/drawingml/2006/main">
            <a:r>
              <a:t>026:     wire [7:0] b_upper_max;</a:t>
            </a:r>
          </a:p>
          <a:p xmlns:a="http://schemas.openxmlformats.org/drawingml/2006/main">
            <a:r>
              <a:t>027:     wire [7:0] b_upper_mid;</a:t>
            </a:r>
          </a:p>
          <a:p xmlns:a="http://schemas.openxmlformats.org/drawingml/2006/main">
            <a:r>
              <a:t>028:     wire [7:0] b_lower_max;</a:t>
            </a:r>
          </a:p>
          <a:p xmlns:a="http://schemas.openxmlformats.org/drawingml/2006/main">
            <a:r>
              <a:t>029:     wire [7:0] b_lower_mid;</a:t>
            </a:r>
          </a:p>
          <a:p xmlns:a="http://schemas.openxmlformats.org/drawingml/2006/main">
            <a:r>
              <a:t>030:     wire [7:0] b_rod;</a:t>
            </a:r>
          </a:p>
          <a:p xmlns:a="http://schemas.openxmlformats.org/drawingml/2006/main">
            <a:r>
              <a:t>031:     wire [6:0] b_area;</a:t>
            </a:r>
          </a:p>
          <a:p xmlns:a="http://schemas.openxmlformats.org/drawingml/2006/main">
            <a:r>
              <a:t>032:     wire [3:0] b_center_x;</a:t>
            </a:r>
          </a:p>
          <a:p xmlns:a="http://schemas.openxmlformats.org/drawingml/2006/main">
            <a:r>
              <a:t>033:     wire [3:0] b_center_y;</a:t>
            </a:r>
          </a:p>
          <a:p xmlns:a="http://schemas.openxmlformats.org/drawingml/2006/main">
            <a:r>
              <a:t>034:     wire [6:0] b_edge;</a:t>
            </a:r>
          </a:p>
          <a:p xmlns:a="http://schemas.openxmlformats.org/drawingml/2006/main">
            <a:r>
              <a:t>035:     wire       raw_same_person;</a:t>
            </a:r>
          </a:p>
          <a:p xmlns:a="http://schemas.openxmlformats.org/drawingml/2006/main">
            <a:r>
              <a:t>036: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Instantiate the first visual-channel feature extractor for image A.</a:t>
            </a:r>
          </a:p>
          <a:p xmlns:a="http://schemas.openxmlformats.org/drawingml/2006/main">
            <a:r>
              <a:t/>
            </a:r>
          </a:p>
          <a:p xmlns:a="http://schemas.openxmlformats.org/drawingml/2006/main">
            <a:r>
              <a:t>Code lines:</a:t>
            </a:r>
          </a:p>
          <a:p xmlns:a="http://schemas.openxmlformats.org/drawingml/2006/main">
            <a:r>
              <a:t>037:     visual_channel_feature_extractor_rgb #(</a:t>
            </a:r>
          </a:p>
          <a:p xmlns:a="http://schemas.openxmlformats.org/drawingml/2006/main">
            <a:r>
              <a:t>038:         .IMG_W(IMG_W),</a:t>
            </a:r>
          </a:p>
          <a:p xmlns:a="http://schemas.openxmlformats.org/drawingml/2006/main">
            <a:r>
              <a:t>039:         .IMG_H(IMG_H),</a:t>
            </a:r>
          </a:p>
          <a:p xmlns:a="http://schemas.openxmlformats.org/drawingml/2006/main">
            <a:r>
              <a:t>040:         .PIXEL_WIDTH(PIXEL_WIDTH)</a:t>
            </a:r>
          </a:p>
          <a:p xmlns:a="http://schemas.openxmlformats.org/drawingml/2006/main">
            <a:r>
              <a:t>041:     ) extractor_a (</a:t>
            </a:r>
          </a:p>
          <a:p xmlns:a="http://schemas.openxmlformats.org/drawingml/2006/main">
            <a:r>
              <a:t>042:         .image_rgb(image_a_rgb),</a:t>
            </a:r>
          </a:p>
          <a:p xmlns:a="http://schemas.openxmlformats.org/drawingml/2006/main">
            <a:r>
              <a:t>043:         .upper_max_feature(a_upper_max),</a:t>
            </a:r>
          </a:p>
          <a:p xmlns:a="http://schemas.openxmlformats.org/drawingml/2006/main">
            <a:r>
              <a:t>044:         .upper_mid_feature(a_upper_mid),</a:t>
            </a:r>
          </a:p>
          <a:p xmlns:a="http://schemas.openxmlformats.org/drawingml/2006/main">
            <a:r>
              <a:t>045:         .lower_max_feature(a_lower_max),</a:t>
            </a:r>
          </a:p>
          <a:p xmlns:a="http://schemas.openxmlformats.org/drawingml/2006/main">
            <a:r>
              <a:t>046:         .lower_mid_feature(a_lower_mid),</a:t>
            </a:r>
          </a:p>
          <a:p xmlns:a="http://schemas.openxmlformats.org/drawingml/2006/main">
            <a:r>
              <a:t>047:         .rod_feature(a_rod),</a:t>
            </a:r>
          </a:p>
          <a:p xmlns:a="http://schemas.openxmlformats.org/drawingml/2006/main">
            <a:r>
              <a:t>048:         .area_feature(a_area),</a:t>
            </a:r>
          </a:p>
          <a:p xmlns:a="http://schemas.openxmlformats.org/drawingml/2006/main">
            <a:r>
              <a:t>049:         .center_x_feature(a_center_x),</a:t>
            </a:r>
          </a:p>
          <a:p xmlns:a="http://schemas.openxmlformats.org/drawingml/2006/main">
            <a:r>
              <a:t>050:         .center_y_feature(a_center_y),</a:t>
            </a:r>
          </a:p>
          <a:p xmlns:a="http://schemas.openxmlformats.org/drawingml/2006/main">
            <a:r>
              <a:t>051:         .edge_feature(a_edge),</a:t>
            </a:r>
          </a:p>
          <a:p xmlns:a="http://schemas.openxmlformats.org/drawingml/2006/main">
            <a:r>
              <a:t>052:         .person_present(image_a_has_person)</a:t>
            </a:r>
          </a:p>
          <a:p xmlns:a="http://schemas.openxmlformats.org/drawingml/2006/main">
            <a:r>
              <a:t>053:     );</a:t>
            </a:r>
          </a:p>
          <a:p xmlns:a="http://schemas.openxmlformats.org/drawingml/2006/main">
            <a:r>
              <a:t>054: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55-72</a:t>
            </a:r>
          </a:p>
          <a:p xmlns:a="http://schemas.openxmlformats.org/drawingml/2006/main">
            <a:r>
              <a:t/>
            </a:r>
          </a:p>
          <a:p xmlns:a="http://schemas.openxmlformats.org/drawingml/2006/main">
            <a:r>
              <a:t>Explanation:</a:t>
            </a:r>
          </a:p>
          <a:p xmlns:a="http://schemas.openxmlformats.org/drawingml/2006/main">
            <a:r>
              <a:t>- Instantiate the second visual-channel feature extractor for image B.</a:t>
            </a:r>
          </a:p>
          <a:p xmlns:a="http://schemas.openxmlformats.org/drawingml/2006/main">
            <a:r>
              <a:t/>
            </a:r>
          </a:p>
          <a:p xmlns:a="http://schemas.openxmlformats.org/drawingml/2006/main">
            <a:r>
              <a:t>Code lines:</a:t>
            </a:r>
          </a:p>
          <a:p xmlns:a="http://schemas.openxmlformats.org/drawingml/2006/main">
            <a:r>
              <a:t>055:     visual_channel_feature_extractor_rgb #(</a:t>
            </a:r>
          </a:p>
          <a:p xmlns:a="http://schemas.openxmlformats.org/drawingml/2006/main">
            <a:r>
              <a:t>056:         .IMG_W(IMG_W),</a:t>
            </a:r>
          </a:p>
          <a:p xmlns:a="http://schemas.openxmlformats.org/drawingml/2006/main">
            <a:r>
              <a:t>057:         .IMG_H(IMG_H),</a:t>
            </a:r>
          </a:p>
          <a:p xmlns:a="http://schemas.openxmlformats.org/drawingml/2006/main">
            <a:r>
              <a:t>058:         .PIXEL_WIDTH(PIXEL_WIDTH)</a:t>
            </a:r>
          </a:p>
          <a:p xmlns:a="http://schemas.openxmlformats.org/drawingml/2006/main">
            <a:r>
              <a:t>059:     ) extractor_b (</a:t>
            </a:r>
          </a:p>
          <a:p xmlns:a="http://schemas.openxmlformats.org/drawingml/2006/main">
            <a:r>
              <a:t>060:         .image_rgb(image_b_rgb),</a:t>
            </a:r>
          </a:p>
          <a:p xmlns:a="http://schemas.openxmlformats.org/drawingml/2006/main">
            <a:r>
              <a:t>061:         .upper_max_feature(b_upper_max),</a:t>
            </a:r>
          </a:p>
          <a:p xmlns:a="http://schemas.openxmlformats.org/drawingml/2006/main">
            <a:r>
              <a:t>062:         .upper_mid_feature(b_upper_mid),</a:t>
            </a:r>
          </a:p>
          <a:p xmlns:a="http://schemas.openxmlformats.org/drawingml/2006/main">
            <a:r>
              <a:t>063:         .lower_max_feature(b_lower_max),</a:t>
            </a:r>
          </a:p>
          <a:p xmlns:a="http://schemas.openxmlformats.org/drawingml/2006/main">
            <a:r>
              <a:t>064:         .lower_mid_feature(b_lower_mid),</a:t>
            </a:r>
          </a:p>
          <a:p xmlns:a="http://schemas.openxmlformats.org/drawingml/2006/main">
            <a:r>
              <a:t>065:         .rod_feature(b_rod),</a:t>
            </a:r>
          </a:p>
          <a:p xmlns:a="http://schemas.openxmlformats.org/drawingml/2006/main">
            <a:r>
              <a:t>066:         .area_feature(b_area),</a:t>
            </a:r>
          </a:p>
          <a:p xmlns:a="http://schemas.openxmlformats.org/drawingml/2006/main">
            <a:r>
              <a:t>067:         .center_x_feature(b_center_x),</a:t>
            </a:r>
          </a:p>
          <a:p xmlns:a="http://schemas.openxmlformats.org/drawingml/2006/main">
            <a:r>
              <a:t>068:         .center_y_feature(b_center_y),</a:t>
            </a:r>
          </a:p>
          <a:p xmlns:a="http://schemas.openxmlformats.org/drawingml/2006/main">
            <a:r>
              <a:t>069:         .edge_feature(b_edge),</a:t>
            </a:r>
          </a:p>
          <a:p xmlns:a="http://schemas.openxmlformats.org/drawingml/2006/main">
            <a:r>
              <a:t>070:         .person_present(image_b_has_person)</a:t>
            </a:r>
          </a:p>
          <a:p xmlns:a="http://schemas.openxmlformats.org/drawingml/2006/main">
            <a:r>
              <a:t>071:     );</a:t>
            </a:r>
          </a:p>
          <a:p xmlns:a="http://schemas.openxmlformats.org/drawingml/2006/main">
            <a:r>
              <a:t>072: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73-90</a:t>
            </a:r>
          </a:p>
          <a:p xmlns:a="http://schemas.openxmlformats.org/drawingml/2006/main">
            <a:r>
              <a:t/>
            </a:r>
          </a:p>
          <a:p xmlns:a="http://schemas.openxmlformats.org/drawingml/2006/main">
            <a:r>
              <a:t>Explanation:</a:t>
            </a:r>
          </a:p>
          <a:p xmlns:a="http://schemas.openxmlformats.org/drawingml/2006/main">
            <a:r>
              <a:t>- Instantiate the re-identification matcher and connect both images' feature vectors into it.</a:t>
            </a:r>
          </a:p>
          <a:p xmlns:a="http://schemas.openxmlformats.org/drawingml/2006/main">
            <a:r>
              <a:t/>
            </a:r>
          </a:p>
          <a:p xmlns:a="http://schemas.openxmlformats.org/drawingml/2006/main">
            <a:r>
              <a:t>Code lines:</a:t>
            </a:r>
          </a:p>
          <a:p xmlns:a="http://schemas.openxmlformats.org/drawingml/2006/main">
            <a:r>
              <a:t>073:     person_reid_matcher #(</a:t>
            </a:r>
          </a:p>
          <a:p xmlns:a="http://schemas.openxmlformats.org/drawingml/2006/main">
            <a:r>
              <a:t>074:         .SCORE_WIDTH(SCORE_WIDTH),</a:t>
            </a:r>
          </a:p>
          <a:p xmlns:a="http://schemas.openxmlformats.org/drawingml/2006/main">
            <a:r>
              <a:t>075:         .THRESHOLD(THRESHOLD)</a:t>
            </a:r>
          </a:p>
          <a:p xmlns:a="http://schemas.openxmlformats.org/drawingml/2006/main">
            <a:r>
              <a:t>076:     ) matcher (</a:t>
            </a:r>
          </a:p>
          <a:p xmlns:a="http://schemas.openxmlformats.org/drawingml/2006/main">
            <a:r>
              <a:t>077:         .a_upper_max(a_upper_max),</a:t>
            </a:r>
          </a:p>
          <a:p xmlns:a="http://schemas.openxmlformats.org/drawingml/2006/main">
            <a:r>
              <a:t>078:         .a_upper_mid(a_upper_mid),</a:t>
            </a:r>
          </a:p>
          <a:p xmlns:a="http://schemas.openxmlformats.org/drawingml/2006/main">
            <a:r>
              <a:t>079:         .a_lower_max(a_lower_max),</a:t>
            </a:r>
          </a:p>
          <a:p xmlns:a="http://schemas.openxmlformats.org/drawingml/2006/main">
            <a:r>
              <a:t>080:         .a_lower_mid(a_lower_mid),</a:t>
            </a:r>
          </a:p>
          <a:p xmlns:a="http://schemas.openxmlformats.org/drawingml/2006/main">
            <a:r>
              <a:t>081:         .a_rod(a_rod),</a:t>
            </a:r>
          </a:p>
          <a:p xmlns:a="http://schemas.openxmlformats.org/drawingml/2006/main">
            <a:r>
              <a:t>082:         .a_area(a_area),</a:t>
            </a:r>
          </a:p>
          <a:p xmlns:a="http://schemas.openxmlformats.org/drawingml/2006/main">
            <a:r>
              <a:t>083:         .a_center_x(a_center_x),</a:t>
            </a:r>
          </a:p>
          <a:p xmlns:a="http://schemas.openxmlformats.org/drawingml/2006/main">
            <a:r>
              <a:t>084:         .a_center_y(a_center_y),</a:t>
            </a:r>
          </a:p>
          <a:p xmlns:a="http://schemas.openxmlformats.org/drawingml/2006/main">
            <a:r>
              <a:t>085:         .a_edge(a_edge),</a:t>
            </a:r>
          </a:p>
          <a:p xmlns:a="http://schemas.openxmlformats.org/drawingml/2006/main">
            <a:r>
              <a:t>086:         .b_upper_max(b_upper_max),</a:t>
            </a:r>
          </a:p>
          <a:p xmlns:a="http://schemas.openxmlformats.org/drawingml/2006/main">
            <a:r>
              <a:t>087:         .b_upper_mid(b_upper_mid),</a:t>
            </a:r>
          </a:p>
          <a:p xmlns:a="http://schemas.openxmlformats.org/drawingml/2006/main">
            <a:r>
              <a:t>088:         .b_lower_max(b_lower_max),</a:t>
            </a:r>
          </a:p>
          <a:p xmlns:a="http://schemas.openxmlformats.org/drawingml/2006/main">
            <a:r>
              <a:t>089:         .b_lower_mid(b_lower_mid),</a:t>
            </a:r>
          </a:p>
          <a:p xmlns:a="http://schemas.openxmlformats.org/drawingml/2006/main">
            <a:r>
              <a:t>090:         .b_rod(b_rod),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91-101</a:t>
            </a:r>
          </a:p>
          <a:p xmlns:a="http://schemas.openxmlformats.org/drawingml/2006/main">
            <a:r>
              <a:t/>
            </a:r>
          </a:p>
          <a:p xmlns:a="http://schemas.openxmlformats.org/drawingml/2006/main">
            <a:r>
              <a:t>Explanation:</a:t>
            </a:r>
          </a:p>
          <a:p xmlns:a="http://schemas.openxmlformats.org/drawingml/2006/main">
            <a:r>
              <a:t>- Instantiate the re-identification matcher and connect both images' feature vectors into it.</a:t>
            </a:r>
          </a:p>
          <a:p xmlns:a="http://schemas.openxmlformats.org/drawingml/2006/main">
            <a:r>
              <a:t>- Accept the match only when both images contain an object and the feature score passes the threshold.</a:t>
            </a:r>
          </a:p>
          <a:p xmlns:a="http://schemas.openxmlformats.org/drawingml/2006/main">
            <a:r>
              <a:t/>
            </a:r>
          </a:p>
          <a:p xmlns:a="http://schemas.openxmlformats.org/drawingml/2006/main">
            <a:r>
              <a:t>Code lines:</a:t>
            </a:r>
          </a:p>
          <a:p xmlns:a="http://schemas.openxmlformats.org/drawingml/2006/main">
            <a:r>
              <a:t>091:         .b_area(b_area),</a:t>
            </a:r>
          </a:p>
          <a:p xmlns:a="http://schemas.openxmlformats.org/drawingml/2006/main">
            <a:r>
              <a:t>092:         .b_center_x(b_center_x),</a:t>
            </a:r>
          </a:p>
          <a:p xmlns:a="http://schemas.openxmlformats.org/drawingml/2006/main">
            <a:r>
              <a:t>093:         .b_center_y(b_center_y),</a:t>
            </a:r>
          </a:p>
          <a:p xmlns:a="http://schemas.openxmlformats.org/drawingml/2006/main">
            <a:r>
              <a:t>094:         .b_edge(b_edge),</a:t>
            </a:r>
          </a:p>
          <a:p xmlns:a="http://schemas.openxmlformats.org/drawingml/2006/main">
            <a:r>
              <a:t>095:         .similarity_score(similarity_score),</a:t>
            </a:r>
          </a:p>
          <a:p xmlns:a="http://schemas.openxmlformats.org/drawingml/2006/main">
            <a:r>
              <a:t>096:         .same_person(raw_same_person)</a:t>
            </a:r>
          </a:p>
          <a:p xmlns:a="http://schemas.openxmlformats.org/drawingml/2006/main">
            <a:r>
              <a:t>097:     );</a:t>
            </a:r>
          </a:p>
          <a:p xmlns:a="http://schemas.openxmlformats.org/drawingml/2006/main">
            <a:r>
              <a:t>098: </a:t>
            </a:r>
          </a:p>
          <a:p xmlns:a="http://schemas.openxmlformats.org/drawingml/2006/main">
            <a:r>
              <a:t>099:     assign same_person = image_a_has_person &amp; image_b_has_person &amp; raw_same_person;</a:t>
            </a:r>
          </a:p>
          <a:p xmlns:a="http://schemas.openxmlformats.org/drawingml/2006/main">
            <a:r>
              <a:t>100: </a:t>
            </a:r>
          </a:p>
          <a:p xmlns:a="http://schemas.openxmlformats.org/drawingml/2006/main">
            <a:r>
              <a:t>101: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simulation testbench and the 8x8 RGB image parameters.</a:t>
            </a:r>
          </a:p>
          <a:p xmlns:a="http://schemas.openxmlformats.org/drawingml/2006/main">
            <a:r>
              <a:t>- Declare memory arrays, flattened image buses, and wires for the outputs produced by the top module.</a:t>
            </a:r>
          </a:p>
          <a:p xmlns:a="http://schemas.openxmlformats.org/drawingml/2006/main">
            <a:r>
              <a:t/>
            </a:r>
          </a:p>
          <a:p xmlns:a="http://schemas.openxmlformats.org/drawingml/2006/main">
            <a:r>
              <a:t>Code lines:</a:t>
            </a:r>
          </a:p>
          <a:p xmlns:a="http://schemas.openxmlformats.org/drawingml/2006/main">
            <a:r>
              <a:t>001: `timescale 1ns/1ps</a:t>
            </a:r>
          </a:p>
          <a:p xmlns:a="http://schemas.openxmlformats.org/drawingml/2006/main">
            <a:r>
              <a:t>002: </a:t>
            </a:r>
          </a:p>
          <a:p xmlns:a="http://schemas.openxmlformats.org/drawingml/2006/main">
            <a:r>
              <a:t>003: module tb_rgb_from_mem;</a:t>
            </a:r>
          </a:p>
          <a:p xmlns:a="http://schemas.openxmlformats.org/drawingml/2006/main">
            <a:r>
              <a:t>004: </a:t>
            </a:r>
          </a:p>
          <a:p xmlns:a="http://schemas.openxmlformats.org/drawingml/2006/main">
            <a:r>
              <a:t>005:     localparam IMG_W = 8;</a:t>
            </a:r>
          </a:p>
          <a:p xmlns:a="http://schemas.openxmlformats.org/drawingml/2006/main">
            <a:r>
              <a:t>006:     localparam IMG_H = 8;</a:t>
            </a:r>
          </a:p>
          <a:p xmlns:a="http://schemas.openxmlformats.org/drawingml/2006/main">
            <a:r>
              <a:t>007:     localparam PIXEL_WIDTH = 8;</a:t>
            </a:r>
          </a:p>
          <a:p xmlns:a="http://schemas.openxmlformats.org/drawingml/2006/main">
            <a:r>
              <a:t>008:     localparam IMAGE_PIXELS = IMG_W * IMG_H;</a:t>
            </a:r>
          </a:p>
          <a:p xmlns:a="http://schemas.openxmlformats.org/drawingml/2006/main">
            <a:r>
              <a:t>009:     localparam RGB_PIXEL_WIDTH = 3 * PIXEL_WIDTH;</a:t>
            </a:r>
          </a:p>
          <a:p xmlns:a="http://schemas.openxmlformats.org/drawingml/2006/main">
            <a:r>
              <a:t>010:     localparam IMAGE_BITS = IMAGE_PIXELS * RGB_PIXEL_WIDTH;</a:t>
            </a:r>
          </a:p>
          <a:p xmlns:a="http://schemas.openxmlformats.org/drawingml/2006/main">
            <a:r>
              <a:t>011: </a:t>
            </a:r>
          </a:p>
          <a:p xmlns:a="http://schemas.openxmlformats.org/drawingml/2006/main">
            <a:r>
              <a:t>012:     reg [23:0] mem_a [0:IMAGE_PIXELS-1];</a:t>
            </a:r>
          </a:p>
          <a:p xmlns:a="http://schemas.openxmlformats.org/drawingml/2006/main">
            <a:r>
              <a:t>013:     reg [23:0] mem_b [0:IMAGE_PIXELS-1];</a:t>
            </a:r>
          </a:p>
          <a:p xmlns:a="http://schemas.openxmlformats.org/drawingml/2006/main">
            <a:r>
              <a:t>014:     reg [IMAGE_BITS-1:0] image_a_rgb;</a:t>
            </a:r>
          </a:p>
          <a:p xmlns:a="http://schemas.openxmlformats.org/drawingml/2006/main">
            <a:r>
              <a:t>015:     reg [IMAGE_BITS-1:0] image_b_rgb;</a:t>
            </a:r>
          </a:p>
          <a:p xmlns:a="http://schemas.openxmlformats.org/drawingml/2006/main">
            <a:r>
              <a:t>016: </a:t>
            </a:r>
          </a:p>
          <a:p xmlns:a="http://schemas.openxmlformats.org/drawingml/2006/main">
            <a:r>
              <a:t>017:     wire [15:0] similarity_score;</a:t>
            </a:r>
          </a:p>
          <a:p xmlns:a="http://schemas.openxmlformats.org/drawingml/2006/main">
            <a:r>
              <a:t>018:     wire        image_a_has_person;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Declare memory arrays, flattened image buses, and wires for the outputs produced by the top module.</a:t>
            </a:r>
          </a:p>
          <a:p xmlns:a="http://schemas.openxmlformats.org/drawingml/2006/main">
            <a:r>
              <a:t>- Instantiate the RGB top module as the design under test.</a:t>
            </a:r>
          </a:p>
          <a:p xmlns:a="http://schemas.openxmlformats.org/drawingml/2006/main">
            <a:r>
              <a:t/>
            </a:r>
          </a:p>
          <a:p xmlns:a="http://schemas.openxmlformats.org/drawingml/2006/main">
            <a:r>
              <a:t>Code lines:</a:t>
            </a:r>
          </a:p>
          <a:p xmlns:a="http://schemas.openxmlformats.org/drawingml/2006/main">
            <a:r>
              <a:t>019:     wire        image_b_has_person;</a:t>
            </a:r>
          </a:p>
          <a:p xmlns:a="http://schemas.openxmlformats.org/drawingml/2006/main">
            <a:r>
              <a:t>020:     wire        same_person;</a:t>
            </a:r>
          </a:p>
          <a:p xmlns:a="http://schemas.openxmlformats.org/drawingml/2006/main">
            <a:r>
              <a:t>021: </a:t>
            </a:r>
          </a:p>
          <a:p xmlns:a="http://schemas.openxmlformats.org/drawingml/2006/main">
            <a:r>
              <a:t>022:     integer i;</a:t>
            </a:r>
          </a:p>
          <a:p xmlns:a="http://schemas.openxmlformats.org/drawingml/2006/main">
            <a:r>
              <a:t>023: </a:t>
            </a:r>
          </a:p>
          <a:p xmlns:a="http://schemas.openxmlformats.org/drawingml/2006/main">
            <a:r>
              <a:t>024:     two_image_person_identifier_rgb #(</a:t>
            </a:r>
          </a:p>
          <a:p xmlns:a="http://schemas.openxmlformats.org/drawingml/2006/main">
            <a:r>
              <a:t>025:         .IMG_W(IMG_W),</a:t>
            </a:r>
          </a:p>
          <a:p xmlns:a="http://schemas.openxmlformats.org/drawingml/2006/main">
            <a:r>
              <a:t>026:         .IMG_H(IMG_H),</a:t>
            </a:r>
          </a:p>
          <a:p xmlns:a="http://schemas.openxmlformats.org/drawingml/2006/main">
            <a:r>
              <a:t>027:         .PIXEL_WIDTH(PIXEL_WIDTH),</a:t>
            </a:r>
          </a:p>
          <a:p xmlns:a="http://schemas.openxmlformats.org/drawingml/2006/main">
            <a:r>
              <a:t>028:         .SCORE_WIDTH(16),</a:t>
            </a:r>
          </a:p>
          <a:p xmlns:a="http://schemas.openxmlformats.org/drawingml/2006/main">
            <a:r>
              <a:t>029:         .THRESHOLD(16'd160)</a:t>
            </a:r>
          </a:p>
          <a:p xmlns:a="http://schemas.openxmlformats.org/drawingml/2006/main">
            <a:r>
              <a:t>030:     ) dut (</a:t>
            </a:r>
          </a:p>
          <a:p xmlns:a="http://schemas.openxmlformats.org/drawingml/2006/main">
            <a:r>
              <a:t>031:         .image_a_rgb(image_a_rgb),</a:t>
            </a:r>
          </a:p>
          <a:p xmlns:a="http://schemas.openxmlformats.org/drawingml/2006/main">
            <a:r>
              <a:t>032:         .image_b_rgb(image_b_rgb),</a:t>
            </a:r>
          </a:p>
          <a:p xmlns:a="http://schemas.openxmlformats.org/drawingml/2006/main">
            <a:r>
              <a:t>033:         .similarity_score(similarity_score),</a:t>
            </a:r>
          </a:p>
          <a:p xmlns:a="http://schemas.openxmlformats.org/drawingml/2006/main">
            <a:r>
              <a:t>034:         .image_a_has_person(image_a_has_person),</a:t>
            </a:r>
          </a:p>
          <a:p xmlns:a="http://schemas.openxmlformats.org/drawingml/2006/main">
            <a:r>
              <a:t>035:         .image_b_has_person(image_b_has_person),</a:t>
            </a:r>
          </a:p>
          <a:p xmlns:a="http://schemas.openxmlformats.org/drawingml/2006/main">
            <a:r>
              <a:t>036:         .same_person(same_person)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Read image_a_rgb.mem and image_b_rgb.mem. Each line in the file is one 24-bit RGB pixel.</a:t>
            </a:r>
          </a:p>
          <a:p xmlns:a="http://schemas.openxmlformats.org/drawingml/2006/main">
            <a:r>
              <a:t>- Pack the 64 RGB pixels into the flattened image buses expected by the top module.</a:t>
            </a:r>
          </a:p>
          <a:p xmlns:a="http://schemas.openxmlformats.org/drawingml/2006/main">
            <a:r>
              <a:t>- Wait for combinational logic to settle and print score, object-present flags, and same_person.</a:t>
            </a:r>
          </a:p>
          <a:p xmlns:a="http://schemas.openxmlformats.org/drawingml/2006/main">
            <a:r>
              <a:t/>
            </a:r>
          </a:p>
          <a:p xmlns:a="http://schemas.openxmlformats.org/drawingml/2006/main">
            <a:r>
              <a:t>Code lines:</a:t>
            </a:r>
          </a:p>
          <a:p xmlns:a="http://schemas.openxmlformats.org/drawingml/2006/main">
            <a:r>
              <a:t>037:     );</a:t>
            </a:r>
          </a:p>
          <a:p xmlns:a="http://schemas.openxmlformats.org/drawingml/2006/main">
            <a:r>
              <a:t>038: </a:t>
            </a:r>
          </a:p>
          <a:p xmlns:a="http://schemas.openxmlformats.org/drawingml/2006/main">
            <a:r>
              <a:t>039:     initial begin</a:t>
            </a:r>
          </a:p>
          <a:p xmlns:a="http://schemas.openxmlformats.org/drawingml/2006/main">
            <a:r>
              <a:t>040:         $readmemh("image_a_rgb.mem", mem_a);</a:t>
            </a:r>
          </a:p>
          <a:p xmlns:a="http://schemas.openxmlformats.org/drawingml/2006/main">
            <a:r>
              <a:t>041:         $readmemh("image_b_rgb.mem", mem_b);</a:t>
            </a:r>
          </a:p>
          <a:p xmlns:a="http://schemas.openxmlformats.org/drawingml/2006/main">
            <a:r>
              <a:t>042: </a:t>
            </a:r>
          </a:p>
          <a:p xmlns:a="http://schemas.openxmlformats.org/drawingml/2006/main">
            <a:r>
              <a:t>043:         for (i = 0; i &lt; IMAGE_PIXELS; i = i + 1) begin</a:t>
            </a:r>
          </a:p>
          <a:p xmlns:a="http://schemas.openxmlformats.org/drawingml/2006/main">
            <a:r>
              <a:t>044:             image_a_rgb[i*RGB_PIXEL_WIDTH +: PIXEL_WIDTH] = mem_a[i][23:16];</a:t>
            </a:r>
          </a:p>
          <a:p xmlns:a="http://schemas.openxmlformats.org/drawingml/2006/main">
            <a:r>
              <a:t>045:             image_a_rgb[i*RGB_PIXEL_WIDTH + PIXEL_WIDTH +: PIXEL_WIDTH] = mem_a[i][15:8];</a:t>
            </a:r>
          </a:p>
          <a:p xmlns:a="http://schemas.openxmlformats.org/drawingml/2006/main">
            <a:r>
              <a:t>046:             image_a_rgb[i*RGB_PIXEL_WIDTH + 2*PIXEL_WIDTH +: PIXEL_WIDTH] = mem_a[i][7:0];</a:t>
            </a:r>
          </a:p>
          <a:p xmlns:a="http://schemas.openxmlformats.org/drawingml/2006/main">
            <a:r>
              <a:t>047: </a:t>
            </a:r>
          </a:p>
          <a:p xmlns:a="http://schemas.openxmlformats.org/drawingml/2006/main">
            <a:r>
              <a:t>048:             image_b_rgb[i*RGB_PIXEL_WIDTH +: PIXEL_WIDTH] = mem_b[i][23:16];</a:t>
            </a:r>
          </a:p>
          <a:p xmlns:a="http://schemas.openxmlformats.org/drawingml/2006/main">
            <a:r>
              <a:t>049:             image_b_rgb[i*RGB_PIXEL_WIDTH + PIXEL_WIDTH +: PIXEL_WIDTH] = mem_b[i][15:8];</a:t>
            </a:r>
          </a:p>
          <a:p xmlns:a="http://schemas.openxmlformats.org/drawingml/2006/main">
            <a:r>
              <a:t>050:             image_b_rgb[i*RGB_PIXEL_WIDTH + 2*PIXEL_WIDTH +: PIXEL_WIDTH] = mem_b[i][7:0];</a:t>
            </a:r>
          </a:p>
          <a:p xmlns:a="http://schemas.openxmlformats.org/drawingml/2006/main">
            <a:r>
              <a:t>051:         end</a:t>
            </a:r>
          </a:p>
          <a:p xmlns:a="http://schemas.openxmlformats.org/drawingml/2006/main">
            <a:r>
              <a:t>052: </a:t>
            </a:r>
          </a:p>
          <a:p xmlns:a="http://schemas.openxmlformats.org/drawingml/2006/main">
            <a:r>
              <a:t>053:         #10;</a:t>
            </a:r>
          </a:p>
          <a:p xmlns:a="http://schemas.openxmlformats.org/drawingml/2006/main">
            <a:r>
              <a:t>054: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55-69</a:t>
            </a:r>
          </a:p>
          <a:p xmlns:a="http://schemas.openxmlformats.org/drawingml/2006/main">
            <a:r>
              <a:t/>
            </a:r>
          </a:p>
          <a:p xmlns:a="http://schemas.openxmlformats.org/drawingml/2006/main">
            <a:r>
              <a:t>Explanation:</a:t>
            </a:r>
          </a:p>
          <a:p xmlns:a="http://schemas.openxmlformats.org/drawingml/2006/main">
            <a:r>
              <a:t>- Wait for combinational logic to settle and print score, object-present flags, and same_person.</a:t>
            </a:r>
          </a:p>
          <a:p xmlns:a="http://schemas.openxmlformats.org/drawingml/2006/main">
            <a:r>
              <a:t>- Print a plain-language result and end the simulation.</a:t>
            </a:r>
          </a:p>
          <a:p xmlns:a="http://schemas.openxmlformats.org/drawingml/2006/main">
            <a:r>
              <a:t/>
            </a:r>
          </a:p>
          <a:p xmlns:a="http://schemas.openxmlformats.org/drawingml/2006/main">
            <a:r>
              <a:t>Code lines:</a:t>
            </a:r>
          </a:p>
          <a:p xmlns:a="http://schemas.openxmlformats.org/drawingml/2006/main">
            <a:r>
              <a:t>055:         $display("Loaded image_a_rgb.mem and image_b_rgb.mem");</a:t>
            </a:r>
          </a:p>
          <a:p xmlns:a="http://schemas.openxmlformats.org/drawingml/2006/main">
            <a:r>
              <a:t>056:         $display("similarity_score=%0d", similarity_score);</a:t>
            </a:r>
          </a:p>
          <a:p xmlns:a="http://schemas.openxmlformats.org/drawingml/2006/main">
            <a:r>
              <a:t>057:         $display("image_a_has_person=%0b", image_a_has_person);</a:t>
            </a:r>
          </a:p>
          <a:p xmlns:a="http://schemas.openxmlformats.org/drawingml/2006/main">
            <a:r>
              <a:t>058:         $display("image_b_has_person=%0b", image_b_has_person);</a:t>
            </a:r>
          </a:p>
          <a:p xmlns:a="http://schemas.openxmlformats.org/drawingml/2006/main">
            <a:r>
              <a:t>059:         $display("same_person=%0b", same_person);</a:t>
            </a:r>
          </a:p>
          <a:p xmlns:a="http://schemas.openxmlformats.org/drawingml/2006/main">
            <a:r>
              <a:t>060: </a:t>
            </a:r>
          </a:p>
          <a:p xmlns:a="http://schemas.openxmlformats.org/drawingml/2006/main">
            <a:r>
              <a:t>061:         if (same_person)</a:t>
            </a:r>
          </a:p>
          <a:p xmlns:a="http://schemas.openxmlformats.org/drawingml/2006/main">
            <a:r>
              <a:t>062:             $display("RESULT: probably the same person");</a:t>
            </a:r>
          </a:p>
          <a:p xmlns:a="http://schemas.openxmlformats.org/drawingml/2006/main">
            <a:r>
              <a:t>063:         else</a:t>
            </a:r>
          </a:p>
          <a:p xmlns:a="http://schemas.openxmlformats.org/drawingml/2006/main">
            <a:r>
              <a:t>064:             $display("RESULT: probably different people or no person detected");</a:t>
            </a:r>
          </a:p>
          <a:p xmlns:a="http://schemas.openxmlformats.org/drawingml/2006/main">
            <a:r>
              <a:t>065: </a:t>
            </a:r>
          </a:p>
          <a:p xmlns:a="http://schemas.openxmlformats.org/drawingml/2006/main">
            <a:r>
              <a:t>066:         $finish;</a:t>
            </a:r>
          </a:p>
          <a:p xmlns:a="http://schemas.openxmlformats.org/drawingml/2006/main">
            <a:r>
              <a:t>067:     end</a:t>
            </a:r>
          </a:p>
          <a:p xmlns:a="http://schemas.openxmlformats.org/drawingml/2006/main">
            <a:r>
              <a:t>068: </a:t>
            </a:r>
          </a:p>
          <a:p xmlns:a="http://schemas.openxmlformats.org/drawingml/2006/main">
            <a:r>
              <a:t>069: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command: powershell -ExecutionPolicy Bypass -File .\convert_images_to_rgb_mem.ps1 -ImageA .\person_a.jpg -ImageB .\person_b.jpg. Then run do run_rgb_from_mem.do.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81eb927e3240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c271b9dedd41b0" /><Relationship Type="http://schemas.openxmlformats.org/officeDocument/2006/relationships/slideLayout" Target="/ppt/slideLayouts/slideLayout1.xml" Id="R019e535935b24a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9e535935b24a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e9fbe0d0b14969" /><Relationship Type="http://schemas.openxmlformats.org/officeDocument/2006/relationships/notesSlide" Target="/ppt/notesSlides/notesSlide1.xml" Id="R7e53021116624e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a0380b36c940df" /><Relationship Type="http://schemas.openxmlformats.org/officeDocument/2006/relationships/notesSlide" Target="/ppt/notesSlides/notesSlide2.xml" Id="Rb1fdad6d71ae45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4ed8d1952d4f2d" /><Relationship Type="http://schemas.openxmlformats.org/officeDocument/2006/relationships/notesSlide" Target="/ppt/notesSlides/notesSlide3.xml" Id="R32fd8ad1f72140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db6fabb5164fa6" /><Relationship Type="http://schemas.openxmlformats.org/officeDocument/2006/relationships/notesSlide" Target="/ppt/notesSlides/notesSlide4.xml" Id="R7169bc2ba5fc49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998d44948049c1" /><Relationship Type="http://schemas.openxmlformats.org/officeDocument/2006/relationships/notesSlide" Target="/ppt/notesSlides/notesSlide5.xml" Id="Re88f7846756842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25d0b6c41064118" /><Relationship Type="http://schemas.openxmlformats.org/officeDocument/2006/relationships/notesSlide" Target="/ppt/notesSlides/notesSlide6.xml" Id="R0a96796365734e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131038156e4db5" /><Relationship Type="http://schemas.openxmlformats.org/officeDocument/2006/relationships/notesSlide" Target="/ppt/notesSlides/notesSlide7.xml" Id="Rf6c8d1c9526b4a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1cc295bbf7c4d23" /><Relationship Type="http://schemas.openxmlformats.org/officeDocument/2006/relationships/notesSlide" Target="/ppt/notesSlides/notesSlide8.xml" Id="Rdf00a611e4f649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fa95e5a8ff74f1e" /><Relationship Type="http://schemas.openxmlformats.org/officeDocument/2006/relationships/image" Target="/ppt/media/image.png" Id="R2567104efc6f4e32" /><Relationship Type="http://schemas.openxmlformats.org/officeDocument/2006/relationships/notesSlide" Target="/ppt/notesSlides/notesSlide9.xml" Id="R814183bb777e46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752ff82a39646eb" /><Relationship Type="http://schemas.openxmlformats.org/officeDocument/2006/relationships/image" Target="/ppt/media/image2.png" Id="R911c4b963d8a4b72" /><Relationship Type="http://schemas.openxmlformats.org/officeDocument/2006/relationships/notesSlide" Target="/ppt/notesSlides/notesSlide10.xml" Id="R65c7264892ab48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e25a5a0ee348a9" /><Relationship Type="http://schemas.openxmlformats.org/officeDocument/2006/relationships/image" Target="/ppt/media/image3.png" Id="Re708efa2d83849d4" /><Relationship Type="http://schemas.openxmlformats.org/officeDocument/2006/relationships/notesSlide" Target="/ppt/notesSlides/notesSlide11.xml" Id="R42835585211940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8cb8b56ef4476b" /><Relationship Type="http://schemas.openxmlformats.org/officeDocument/2006/relationships/image" Target="/ppt/media/image4.png" Id="R6388b61879d34797" /><Relationship Type="http://schemas.openxmlformats.org/officeDocument/2006/relationships/notesSlide" Target="/ppt/notesSlides/notesSlide12.xml" Id="R85d9614d280947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602f45ee5a424d" /><Relationship Type="http://schemas.openxmlformats.org/officeDocument/2006/relationships/image" Target="/ppt/media/image5.png" Id="R32e63cf1d7684fec" /><Relationship Type="http://schemas.openxmlformats.org/officeDocument/2006/relationships/notesSlide" Target="/ppt/notesSlides/notesSlide13.xml" Id="Rf4dde58a60d14b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5be9cd1300049b8" /><Relationship Type="http://schemas.openxmlformats.org/officeDocument/2006/relationships/image" Target="/ppt/media/image6.png" Id="R18f51a6319044bcb" /><Relationship Type="http://schemas.openxmlformats.org/officeDocument/2006/relationships/notesSlide" Target="/ppt/notesSlides/notesSlide14.xml" Id="R4eb47074161146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0e71b315c094a9b" /><Relationship Type="http://schemas.openxmlformats.org/officeDocument/2006/relationships/image" Target="/ppt/media/image7.png" Id="Rf3d152412cac4fba" /><Relationship Type="http://schemas.openxmlformats.org/officeDocument/2006/relationships/notesSlide" Target="/ppt/notesSlides/notesSlide15.xml" Id="R43cc86c3066b43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1fcf4a2ba4448fd" /><Relationship Type="http://schemas.openxmlformats.org/officeDocument/2006/relationships/image" Target="/ppt/media/image8.png" Id="R0bca116a2a8c4674" /><Relationship Type="http://schemas.openxmlformats.org/officeDocument/2006/relationships/notesSlide" Target="/ppt/notesSlides/notesSlide16.xml" Id="Ra6cde15fa8f14a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6b0c82b62ae470e" /><Relationship Type="http://schemas.openxmlformats.org/officeDocument/2006/relationships/image" Target="/ppt/media/image9.png" Id="R6e66b00dc92a4442" /><Relationship Type="http://schemas.openxmlformats.org/officeDocument/2006/relationships/notesSlide" Target="/ppt/notesSlides/notesSlide17.xml" Id="Rf57649bbaf1047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d1eaf048f24bb4" /><Relationship Type="http://schemas.openxmlformats.org/officeDocument/2006/relationships/image" Target="/ppt/media/image10.png" Id="Rde085e70741a4fd9" /><Relationship Type="http://schemas.openxmlformats.org/officeDocument/2006/relationships/notesSlide" Target="/ppt/notesSlides/notesSlide18.xml" Id="R7f6311594dad48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bdd99a140914638" /><Relationship Type="http://schemas.openxmlformats.org/officeDocument/2006/relationships/image" Target="/ppt/media/image11.png" Id="R5a44bc8e7f964e32" /><Relationship Type="http://schemas.openxmlformats.org/officeDocument/2006/relationships/notesSlide" Target="/ppt/notesSlides/notesSlide19.xml" Id="R0b818f69228f4d2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d89344ca9764596" /><Relationship Type="http://schemas.openxmlformats.org/officeDocument/2006/relationships/image" Target="/ppt/media/image12.png" Id="Rf91eae8aca25426d" /><Relationship Type="http://schemas.openxmlformats.org/officeDocument/2006/relationships/notesSlide" Target="/ppt/notesSlides/notesSlide20.xml" Id="R6313c7b98a3f475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f66159822c748cb" /><Relationship Type="http://schemas.openxmlformats.org/officeDocument/2006/relationships/image" Target="/ppt/media/image13.png" Id="R0e9c16acff374654" /><Relationship Type="http://schemas.openxmlformats.org/officeDocument/2006/relationships/notesSlide" Target="/ppt/notesSlides/notesSlide21.xml" Id="R9b09e82c8ed643a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c5d44950ca34f6f" /><Relationship Type="http://schemas.openxmlformats.org/officeDocument/2006/relationships/image" Target="/ppt/media/image14.png" Id="Rfe42aa3c7218465b" /><Relationship Type="http://schemas.openxmlformats.org/officeDocument/2006/relationships/notesSlide" Target="/ppt/notesSlides/notesSlide22.xml" Id="Rba04c94b7a6f45a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df7535e21e640ab" /><Relationship Type="http://schemas.openxmlformats.org/officeDocument/2006/relationships/image" Target="/ppt/media/image15.png" Id="Ra822f174084f490a" /><Relationship Type="http://schemas.openxmlformats.org/officeDocument/2006/relationships/notesSlide" Target="/ppt/notesSlides/notesSlide23.xml" Id="Rb0286ed34a0f4a6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235cd798a9741b5" /><Relationship Type="http://schemas.openxmlformats.org/officeDocument/2006/relationships/image" Target="/ppt/media/image16.png" Id="R5d13290991d741e7" /><Relationship Type="http://schemas.openxmlformats.org/officeDocument/2006/relationships/notesSlide" Target="/ppt/notesSlides/notesSlide24.xml" Id="R6150b7f7801a4e4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c434e38b80444a2" /><Relationship Type="http://schemas.openxmlformats.org/officeDocument/2006/relationships/image" Target="/ppt/media/image17.png" Id="R7134e1f6f3cb4ec1" /><Relationship Type="http://schemas.openxmlformats.org/officeDocument/2006/relationships/notesSlide" Target="/ppt/notesSlides/notesSlide25.xml" Id="Rfd65e2de22334cd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48b075abdc54c56" /><Relationship Type="http://schemas.openxmlformats.org/officeDocument/2006/relationships/image" Target="/ppt/media/image18.png" Id="R156140d997514c9c" /><Relationship Type="http://schemas.openxmlformats.org/officeDocument/2006/relationships/notesSlide" Target="/ppt/notesSlides/notesSlide26.xml" Id="R326a15230c9c437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8f614affb1340c7" /><Relationship Type="http://schemas.openxmlformats.org/officeDocument/2006/relationships/image" Target="/ppt/media/image19.png" Id="R6171c53853b74c34" /><Relationship Type="http://schemas.openxmlformats.org/officeDocument/2006/relationships/notesSlide" Target="/ppt/notesSlides/notesSlide27.xml" Id="Rcedad7a65bc345c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6ea3fc5752745a3" /><Relationship Type="http://schemas.openxmlformats.org/officeDocument/2006/relationships/image" Target="/ppt/media/image20.png" Id="R0916d694fc244dcd" /><Relationship Type="http://schemas.openxmlformats.org/officeDocument/2006/relationships/notesSlide" Target="/ppt/notesSlides/notesSlide28.xml" Id="R2b8c511ce6fb432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c1a9e7265ac4b94" /><Relationship Type="http://schemas.openxmlformats.org/officeDocument/2006/relationships/image" Target="/ppt/media/image21.png" Id="R457c99d75cf74a6f" /><Relationship Type="http://schemas.openxmlformats.org/officeDocument/2006/relationships/notesSlide" Target="/ppt/notesSlides/notesSlide29.xml" Id="Re362f7c7389b499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56d297c5147425a" /><Relationship Type="http://schemas.openxmlformats.org/officeDocument/2006/relationships/image" Target="/ppt/media/image22.png" Id="R04b15bbb2dc34f77" /><Relationship Type="http://schemas.openxmlformats.org/officeDocument/2006/relationships/notesSlide" Target="/ppt/notesSlides/notesSlide30.xml" Id="R26e924a2e51b4b9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8bdac66a4624e67" /><Relationship Type="http://schemas.openxmlformats.org/officeDocument/2006/relationships/image" Target="/ppt/media/image23.png" Id="Ra249b75ec1d341a8" /><Relationship Type="http://schemas.openxmlformats.org/officeDocument/2006/relationships/notesSlide" Target="/ppt/notesSlides/notesSlide31.xml" Id="Ra3e826eec04b4d9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73b8729fe304a11" /><Relationship Type="http://schemas.openxmlformats.org/officeDocument/2006/relationships/image" Target="/ppt/media/image24.png" Id="R597b986d36a34e04" /><Relationship Type="http://schemas.openxmlformats.org/officeDocument/2006/relationships/notesSlide" Target="/ppt/notesSlides/notesSlide32.xml" Id="R49e5c631146645f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a742eb8281c4559" /><Relationship Type="http://schemas.openxmlformats.org/officeDocument/2006/relationships/image" Target="/ppt/media/image25.png" Id="R51e8270369154f04" /><Relationship Type="http://schemas.openxmlformats.org/officeDocument/2006/relationships/notesSlide" Target="/ppt/notesSlides/notesSlide33.xml" Id="R07eba38d8b5d40b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d4f07ed6b2f4701" /><Relationship Type="http://schemas.openxmlformats.org/officeDocument/2006/relationships/image" Target="/ppt/media/image26.png" Id="R996bb3a1f2894c75" /><Relationship Type="http://schemas.openxmlformats.org/officeDocument/2006/relationships/notesSlide" Target="/ppt/notesSlides/notesSlide34.xml" Id="R8061b51041cb41e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a4e5a29e61e422d" /><Relationship Type="http://schemas.openxmlformats.org/officeDocument/2006/relationships/image" Target="/ppt/media/image27.png" Id="R40595293bb8a433f" /><Relationship Type="http://schemas.openxmlformats.org/officeDocument/2006/relationships/notesSlide" Target="/ppt/notesSlides/notesSlide35.xml" Id="R6ba982fc0392405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afdd482da9647f3" /><Relationship Type="http://schemas.openxmlformats.org/officeDocument/2006/relationships/image" Target="/ppt/media/image28.png" Id="Rf6a4ca1a2e57438a" /><Relationship Type="http://schemas.openxmlformats.org/officeDocument/2006/relationships/notesSlide" Target="/ppt/notesSlides/notesSlide36.xml" Id="R74b939f8f01a4df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01c55112cc54b23" /><Relationship Type="http://schemas.openxmlformats.org/officeDocument/2006/relationships/notesSlide" Target="/ppt/notesSlides/notesSlide37.xml" Id="R7c7f3022048a4b38"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7CCBA2D-4BF9-4331-AB51-CF5FF7A690B5}"/>
              </a:ext>
            </a:extLst>
          </p:cNvPr>
          <p:cNvSpPr>
            <a:spLocks xmlns:a="http://schemas.openxmlformats.org/drawingml/2006/main" noGrp="1"/>
          </p:cNvSpPr>
          <p:nvPr/>
        </p:nvSpPr>
        <p:spPr>
          <a:xfrm xmlns:a="http://schemas.openxmlformats.org/drawingml/2006/main">
            <a:off x="685800" y="1123950"/>
            <a:ext cx="914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150" b="1">
                <a:solidFill>
                  <a:srgbClr val="0F172A"/>
                </a:solidFill>
                <a:latin typeface="Microsoft JhengHei"/>
                <a:ea typeface="Microsoft JhengHei"/>
                <a:cs typeface="Microsoft JhengHei"/>
              </a:defRPr>
            </a:pPr>
            <a:r>
              <a:rPr sz="3150" b="1">
                <a:solidFill>
                  <a:srgbClr val="0F172A"/>
                </a:solidFill>
                <a:latin typeface="Microsoft JhengHei"/>
                <a:ea typeface="Microsoft JhengHei"/>
                <a:cs typeface="Microsoft JhengHei"/>
              </a:rPr>
              <a:t>Two-Image Person Re-Identification</a:t>
            </a:r>
          </a:p>
        </p:txBody>
      </p:sp>
      <p:sp>
        <p:nvSpPr>
          <p:cNvPr id="2" name="">
            <a:extLst xmlns:a="http://schemas.openxmlformats.org/drawingml/2006/main">
              <a:ext uri="{FF2B5EF4-FFF2-40B4-BE49-F238E27FC236}">
                <a16:creationId xmlns:a16="http://schemas.microsoft.com/office/drawing/2014/main" id="{C3E5A13F-37BC-4ACA-B8DB-90BD7DE1635C}"/>
              </a:ext>
            </a:extLst>
          </p:cNvPr>
          <p:cNvSpPr>
            <a:spLocks xmlns:a="http://schemas.openxmlformats.org/drawingml/2006/main" noGrp="1"/>
          </p:cNvSpPr>
          <p:nvPr/>
        </p:nvSpPr>
        <p:spPr>
          <a:xfrm xmlns:a="http://schemas.openxmlformats.org/drawingml/2006/main">
            <a:off x="685800" y="1962150"/>
            <a:ext cx="857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475569"/>
                </a:solidFill>
                <a:latin typeface="Microsoft JhengHei"/>
                <a:ea typeface="Microsoft JhengHei"/>
                <a:cs typeface="Microsoft JhengHei"/>
              </a:defRPr>
            </a:pPr>
            <a:r>
              <a:rPr sz="1875" b="0">
                <a:solidFill>
                  <a:srgbClr val="475569"/>
                </a:solidFill>
                <a:latin typeface="Microsoft JhengHei"/>
                <a:ea typeface="Microsoft JhengHei"/>
                <a:cs typeface="Microsoft JhengHei"/>
              </a:rPr>
              <a:t>Verilog prototype based on visual channel and neighboring pixel color difference</a:t>
            </a:r>
          </a:p>
        </p:txBody>
      </p:sp>
      <p:sp>
        <p:nvSpPr>
          <p:cNvPr id="3" name="">
            <a:extLst xmlns:a="http://schemas.openxmlformats.org/drawingml/2006/main">
              <a:ext uri="{FF2B5EF4-FFF2-40B4-BE49-F238E27FC236}">
                <a16:creationId xmlns:a16="http://schemas.microsoft.com/office/drawing/2014/main" id="{54286012-7810-482B-BEFC-F28A2956453B}"/>
              </a:ext>
            </a:extLst>
          </p:cNvPr>
          <p:cNvSpPr>
            <a:spLocks xmlns:a="http://schemas.openxmlformats.org/drawingml/2006/main" noGrp="1"/>
          </p:cNvSpPr>
          <p:nvPr/>
        </p:nvSpPr>
        <p:spPr>
          <a:xfrm xmlns:a="http://schemas.openxmlformats.org/drawingml/2006/main">
            <a:off x="8001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69E3F5E7-92B2-4788-9B02-8267413F7FDC}"/>
              </a:ext>
            </a:extLst>
          </p:cNvPr>
          <p:cNvSpPr>
            <a:spLocks xmlns:a="http://schemas.openxmlformats.org/drawingml/2006/main" noGrp="1"/>
          </p:cNvSpPr>
          <p:nvPr/>
        </p:nvSpPr>
        <p:spPr>
          <a:xfrm xmlns:a="http://schemas.openxmlformats.org/drawingml/2006/main">
            <a:off x="9715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RGB image</a:t>
            </a:r>
          </a:p>
        </p:txBody>
      </p:sp>
      <p:sp>
        <p:nvSpPr>
          <p:cNvPr id="5" name="">
            <a:extLst xmlns:a="http://schemas.openxmlformats.org/drawingml/2006/main">
              <a:ext uri="{FF2B5EF4-FFF2-40B4-BE49-F238E27FC236}">
                <a16:creationId xmlns:a16="http://schemas.microsoft.com/office/drawing/2014/main" id="{F0FFB199-1FD7-4254-AE95-8529E1D64008}"/>
              </a:ext>
            </a:extLst>
          </p:cNvPr>
          <p:cNvSpPr>
            <a:spLocks xmlns:a="http://schemas.openxmlformats.org/drawingml/2006/main" noGrp="1"/>
          </p:cNvSpPr>
          <p:nvPr/>
        </p:nvSpPr>
        <p:spPr>
          <a:xfrm xmlns:a="http://schemas.openxmlformats.org/drawingml/2006/main">
            <a:off x="26860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6" name="">
            <a:extLst xmlns:a="http://schemas.openxmlformats.org/drawingml/2006/main">
              <a:ext uri="{FF2B5EF4-FFF2-40B4-BE49-F238E27FC236}">
                <a16:creationId xmlns:a16="http://schemas.microsoft.com/office/drawing/2014/main" id="{D645F41F-66CF-44B7-8EA0-411EA284524F}"/>
              </a:ext>
            </a:extLst>
          </p:cNvPr>
          <p:cNvSpPr>
            <a:spLocks xmlns:a="http://schemas.openxmlformats.org/drawingml/2006/main" noGrp="1"/>
          </p:cNvSpPr>
          <p:nvPr/>
        </p:nvSpPr>
        <p:spPr>
          <a:xfrm xmlns:a="http://schemas.openxmlformats.org/drawingml/2006/main">
            <a:off x="29718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7" name="">
            <a:extLst xmlns:a="http://schemas.openxmlformats.org/drawingml/2006/main">
              <a:ext uri="{FF2B5EF4-FFF2-40B4-BE49-F238E27FC236}">
                <a16:creationId xmlns:a16="http://schemas.microsoft.com/office/drawing/2014/main" id="{C0958685-ED5D-4EFB-A99F-B3CA851D2E01}"/>
              </a:ext>
            </a:extLst>
          </p:cNvPr>
          <p:cNvSpPr>
            <a:spLocks xmlns:a="http://schemas.openxmlformats.org/drawingml/2006/main" noGrp="1"/>
          </p:cNvSpPr>
          <p:nvPr/>
        </p:nvSpPr>
        <p:spPr>
          <a:xfrm xmlns:a="http://schemas.openxmlformats.org/drawingml/2006/main">
            <a:off x="31432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Feature extraction</a:t>
            </a:r>
          </a:p>
        </p:txBody>
      </p:sp>
      <p:sp>
        <p:nvSpPr>
          <p:cNvPr id="8" name="">
            <a:extLst xmlns:a="http://schemas.openxmlformats.org/drawingml/2006/main">
              <a:ext uri="{FF2B5EF4-FFF2-40B4-BE49-F238E27FC236}">
                <a16:creationId xmlns:a16="http://schemas.microsoft.com/office/drawing/2014/main" id="{5F4F1E4F-5232-4C10-8373-1A878B6C3277}"/>
              </a:ext>
            </a:extLst>
          </p:cNvPr>
          <p:cNvSpPr>
            <a:spLocks xmlns:a="http://schemas.openxmlformats.org/drawingml/2006/main" noGrp="1"/>
          </p:cNvSpPr>
          <p:nvPr/>
        </p:nvSpPr>
        <p:spPr>
          <a:xfrm xmlns:a="http://schemas.openxmlformats.org/drawingml/2006/main">
            <a:off x="48577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9" name="">
            <a:extLst xmlns:a="http://schemas.openxmlformats.org/drawingml/2006/main">
              <a:ext uri="{FF2B5EF4-FFF2-40B4-BE49-F238E27FC236}">
                <a16:creationId xmlns:a16="http://schemas.microsoft.com/office/drawing/2014/main" id="{7F5CCCCF-2331-4EFE-A105-22B885D66641}"/>
              </a:ext>
            </a:extLst>
          </p:cNvPr>
          <p:cNvSpPr>
            <a:spLocks xmlns:a="http://schemas.openxmlformats.org/drawingml/2006/main" noGrp="1"/>
          </p:cNvSpPr>
          <p:nvPr/>
        </p:nvSpPr>
        <p:spPr>
          <a:xfrm xmlns:a="http://schemas.openxmlformats.org/drawingml/2006/main">
            <a:off x="51435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0" name="">
            <a:extLst xmlns:a="http://schemas.openxmlformats.org/drawingml/2006/main">
              <a:ext uri="{FF2B5EF4-FFF2-40B4-BE49-F238E27FC236}">
                <a16:creationId xmlns:a16="http://schemas.microsoft.com/office/drawing/2014/main" id="{91BF9DD2-71EA-468D-A69E-4B423395BA92}"/>
              </a:ext>
            </a:extLst>
          </p:cNvPr>
          <p:cNvSpPr>
            <a:spLocks xmlns:a="http://schemas.openxmlformats.org/drawingml/2006/main" noGrp="1"/>
          </p:cNvSpPr>
          <p:nvPr/>
        </p:nvSpPr>
        <p:spPr>
          <a:xfrm xmlns:a="http://schemas.openxmlformats.org/drawingml/2006/main">
            <a:off x="53149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Neighbor difference</a:t>
            </a:r>
          </a:p>
        </p:txBody>
      </p:sp>
      <p:sp>
        <p:nvSpPr>
          <p:cNvPr id="11" name="">
            <a:extLst xmlns:a="http://schemas.openxmlformats.org/drawingml/2006/main">
              <a:ext uri="{FF2B5EF4-FFF2-40B4-BE49-F238E27FC236}">
                <a16:creationId xmlns:a16="http://schemas.microsoft.com/office/drawing/2014/main" id="{13A5E91A-C545-42A0-8A7D-7C3D054B306B}"/>
              </a:ext>
            </a:extLst>
          </p:cNvPr>
          <p:cNvSpPr>
            <a:spLocks xmlns:a="http://schemas.openxmlformats.org/drawingml/2006/main" noGrp="1"/>
          </p:cNvSpPr>
          <p:nvPr/>
        </p:nvSpPr>
        <p:spPr>
          <a:xfrm xmlns:a="http://schemas.openxmlformats.org/drawingml/2006/main">
            <a:off x="70294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2" name="">
            <a:extLst xmlns:a="http://schemas.openxmlformats.org/drawingml/2006/main">
              <a:ext uri="{FF2B5EF4-FFF2-40B4-BE49-F238E27FC236}">
                <a16:creationId xmlns:a16="http://schemas.microsoft.com/office/drawing/2014/main" id="{F1D46F7D-CAA8-4ED8-A223-E502DA35BD31}"/>
              </a:ext>
            </a:extLst>
          </p:cNvPr>
          <p:cNvSpPr>
            <a:spLocks xmlns:a="http://schemas.openxmlformats.org/drawingml/2006/main" noGrp="1"/>
          </p:cNvSpPr>
          <p:nvPr/>
        </p:nvSpPr>
        <p:spPr>
          <a:xfrm xmlns:a="http://schemas.openxmlformats.org/drawingml/2006/main">
            <a:off x="73152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3" name="">
            <a:extLst xmlns:a="http://schemas.openxmlformats.org/drawingml/2006/main">
              <a:ext uri="{FF2B5EF4-FFF2-40B4-BE49-F238E27FC236}">
                <a16:creationId xmlns:a16="http://schemas.microsoft.com/office/drawing/2014/main" id="{A78B3CF7-23C4-439D-B037-693B17DEEA29}"/>
              </a:ext>
            </a:extLst>
          </p:cNvPr>
          <p:cNvSpPr>
            <a:spLocks xmlns:a="http://schemas.openxmlformats.org/drawingml/2006/main" noGrp="1"/>
          </p:cNvSpPr>
          <p:nvPr/>
        </p:nvSpPr>
        <p:spPr>
          <a:xfrm xmlns:a="http://schemas.openxmlformats.org/drawingml/2006/main">
            <a:off x="74866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Weighted match</a:t>
            </a:r>
          </a:p>
        </p:txBody>
      </p:sp>
      <p:sp>
        <p:nvSpPr>
          <p:cNvPr id="14" name="">
            <a:extLst xmlns:a="http://schemas.openxmlformats.org/drawingml/2006/main">
              <a:ext uri="{FF2B5EF4-FFF2-40B4-BE49-F238E27FC236}">
                <a16:creationId xmlns:a16="http://schemas.microsoft.com/office/drawing/2014/main" id="{9BBDD28C-D2B0-45B5-BC26-3844A69B27A0}"/>
              </a:ext>
            </a:extLst>
          </p:cNvPr>
          <p:cNvSpPr>
            <a:spLocks xmlns:a="http://schemas.openxmlformats.org/drawingml/2006/main" noGrp="1"/>
          </p:cNvSpPr>
          <p:nvPr/>
        </p:nvSpPr>
        <p:spPr>
          <a:xfrm xmlns:a="http://schemas.openxmlformats.org/drawingml/2006/main">
            <a:off x="92011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5" name="">
            <a:extLst xmlns:a="http://schemas.openxmlformats.org/drawingml/2006/main">
              <a:ext uri="{FF2B5EF4-FFF2-40B4-BE49-F238E27FC236}">
                <a16:creationId xmlns:a16="http://schemas.microsoft.com/office/drawing/2014/main" id="{D04FFAA6-65D7-4E85-A11E-C8753C0A7F9D}"/>
              </a:ext>
            </a:extLst>
          </p:cNvPr>
          <p:cNvSpPr>
            <a:spLocks xmlns:a="http://schemas.openxmlformats.org/drawingml/2006/main" noGrp="1"/>
          </p:cNvSpPr>
          <p:nvPr/>
        </p:nvSpPr>
        <p:spPr>
          <a:xfrm xmlns:a="http://schemas.openxmlformats.org/drawingml/2006/main">
            <a:off x="94869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7F08EB1B-C300-4FEB-8A0E-2ED8AC387F0B}"/>
              </a:ext>
            </a:extLst>
          </p:cNvPr>
          <p:cNvSpPr>
            <a:spLocks xmlns:a="http://schemas.openxmlformats.org/drawingml/2006/main" noGrp="1"/>
          </p:cNvSpPr>
          <p:nvPr/>
        </p:nvSpPr>
        <p:spPr>
          <a:xfrm xmlns:a="http://schemas.openxmlformats.org/drawingml/2006/main">
            <a:off x="96583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same_person</a:t>
            </a:r>
          </a:p>
        </p:txBody>
      </p:sp>
      <p:sp>
        <p:nvSpPr>
          <p:cNvPr id="17" name="">
            <a:extLst xmlns:a="http://schemas.openxmlformats.org/drawingml/2006/main">
              <a:ext uri="{FF2B5EF4-FFF2-40B4-BE49-F238E27FC236}">
                <a16:creationId xmlns:a16="http://schemas.microsoft.com/office/drawing/2014/main" id="{F9D8909D-8F2F-4A97-8CDB-F10B2B45E643}"/>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01</a:t>
            </a:r>
          </a:p>
        </p:txBody>
      </p:sp>
    </p:spTree>
    <p:extLst>
      <p:ext uri="{BB962C8B-B14F-4D97-AF65-F5344CB8AC3E}">
        <p14:creationId xmlns:p14="http://schemas.microsoft.com/office/powerpoint/2010/main" val="126230557"/>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40E197-5776-4085-BE5F-55059D1EBDFF}"/>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Reference Concepts</a:t>
            </a:r>
          </a:p>
        </p:txBody>
      </p:sp>
      <p:sp>
        <p:nvSpPr>
          <p:cNvPr id="2" name="">
            <a:extLst xmlns:a="http://schemas.openxmlformats.org/drawingml/2006/main">
              <a:ext uri="{FF2B5EF4-FFF2-40B4-BE49-F238E27FC236}">
                <a16:creationId xmlns:a16="http://schemas.microsoft.com/office/drawing/2014/main" id="{A6886FF8-5750-4CCF-9D9D-234EDAA7CE02}"/>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Ideas borrowed from the three provided papers</a:t>
            </a:r>
          </a:p>
        </p:txBody>
      </p:sp>
      <p:sp>
        <p:nvSpPr>
          <p:cNvPr id="3" name="">
            <a:extLst xmlns:a="http://schemas.openxmlformats.org/drawingml/2006/main">
              <a:ext uri="{FF2B5EF4-FFF2-40B4-BE49-F238E27FC236}">
                <a16:creationId xmlns:a16="http://schemas.microsoft.com/office/drawing/2014/main" id="{73E0AED5-50A7-4BCE-B3BA-480033B7FEE6}"/>
              </a:ext>
            </a:extLst>
          </p:cNvPr>
          <p:cNvSpPr>
            <a:spLocks xmlns:a="http://schemas.openxmlformats.org/drawingml/2006/main" noGrp="1"/>
          </p:cNvSpPr>
          <p:nvPr/>
        </p:nvSpPr>
        <p:spPr>
          <a:xfrm xmlns:a="http://schemas.openxmlformats.org/drawingml/2006/main">
            <a:off x="762000" y="1657350"/>
            <a:ext cx="106680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CD282EB9-CF74-4818-9834-1156DDB01A7C}"/>
              </a:ext>
            </a:extLst>
          </p:cNvPr>
          <p:cNvSpPr>
            <a:spLocks xmlns:a="http://schemas.openxmlformats.org/drawingml/2006/main" noGrp="1"/>
          </p:cNvSpPr>
          <p:nvPr/>
        </p:nvSpPr>
        <p:spPr>
          <a:xfrm xmlns:a="http://schemas.openxmlformats.org/drawingml/2006/main">
            <a:off x="990600" y="1866900"/>
            <a:ext cx="10210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Visual Channel Model separates color-sensitive pixels from grayscale-sensitive pixels.</a:t>
            </a:r>
          </a:p>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Major color and block features reduce computation compared with full image matching.</a:t>
            </a:r>
          </a:p>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Neighboring pixel differences identify object boundaries and useful tracking features.</a:t>
            </a:r>
          </a:p>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Area and location terms add context when two appearances look similar.</a:t>
            </a:r>
          </a:p>
        </p:txBody>
      </p:sp>
      <p:sp>
        <p:nvSpPr>
          <p:cNvPr id="5" name="">
            <a:extLst xmlns:a="http://schemas.openxmlformats.org/drawingml/2006/main">
              <a:ext uri="{FF2B5EF4-FFF2-40B4-BE49-F238E27FC236}">
                <a16:creationId xmlns:a16="http://schemas.microsoft.com/office/drawing/2014/main" id="{0DEB69C1-548D-42F8-8FDF-926A77C739C7}"/>
              </a:ext>
            </a:extLst>
          </p:cNvPr>
          <p:cNvSpPr>
            <a:spLocks xmlns:a="http://schemas.openxmlformats.org/drawingml/2006/main" noGrp="1"/>
          </p:cNvSpPr>
          <p:nvPr/>
        </p:nvSpPr>
        <p:spPr>
          <a:xfrm xmlns:a="http://schemas.openxmlformats.org/drawingml/2006/main">
            <a:off x="952500" y="521970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0891B2"/>
                </a:solidFill>
                <a:latin typeface="Microsoft JhengHei"/>
                <a:ea typeface="Microsoft JhengHei"/>
                <a:cs typeface="Microsoft JhengHei"/>
              </a:defRPr>
            </a:pPr>
            <a:r>
              <a:rPr sz="1650" b="1">
                <a:solidFill>
                  <a:srgbClr val="0891B2"/>
                </a:solidFill>
                <a:latin typeface="Microsoft JhengHei"/>
                <a:ea typeface="Microsoft JhengHei"/>
                <a:cs typeface="Microsoft JhengHei"/>
              </a:rPr>
              <a:t>Implemented as a small RGB 8x8 prototype, not a full YOLO or OpenVINO system.</a:t>
            </a:r>
          </a:p>
        </p:txBody>
      </p:sp>
      <p:sp>
        <p:nvSpPr>
          <p:cNvPr id="6" name="">
            <a:extLst xmlns:a="http://schemas.openxmlformats.org/drawingml/2006/main">
              <a:ext uri="{FF2B5EF4-FFF2-40B4-BE49-F238E27FC236}">
                <a16:creationId xmlns:a16="http://schemas.microsoft.com/office/drawing/2014/main" id="{308DD4DF-E2C8-4488-AAE0-BD2B06E7475F}"/>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02</a:t>
            </a:r>
          </a:p>
        </p:txBody>
      </p:sp>
    </p:spTree>
    <p:extLst>
      <p:ext uri="{BB962C8B-B14F-4D97-AF65-F5344CB8AC3E}">
        <p14:creationId xmlns:p14="http://schemas.microsoft.com/office/powerpoint/2010/main" val="805100012"/>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603024-28F5-4EFF-93AA-3079E89548C6}"/>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Prototype Scope</a:t>
            </a:r>
          </a:p>
        </p:txBody>
      </p:sp>
      <p:sp>
        <p:nvSpPr>
          <p:cNvPr id="2" name="">
            <a:extLst xmlns:a="http://schemas.openxmlformats.org/drawingml/2006/main">
              <a:ext uri="{FF2B5EF4-FFF2-40B4-BE49-F238E27FC236}">
                <a16:creationId xmlns:a16="http://schemas.microsoft.com/office/drawing/2014/main" id="{B24352DF-FCDA-4519-8FFA-064CD7B9A853}"/>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What the current implementation proves</a:t>
            </a:r>
          </a:p>
        </p:txBody>
      </p:sp>
      <p:sp>
        <p:nvSpPr>
          <p:cNvPr id="3" name="">
            <a:extLst xmlns:a="http://schemas.openxmlformats.org/drawingml/2006/main">
              <a:ext uri="{FF2B5EF4-FFF2-40B4-BE49-F238E27FC236}">
                <a16:creationId xmlns:a16="http://schemas.microsoft.com/office/drawing/2014/main" id="{B13131C6-4BF6-4ADE-8591-9C10ABCFACE5}"/>
              </a:ext>
            </a:extLst>
          </p:cNvPr>
          <p:cNvSpPr>
            <a:spLocks xmlns:a="http://schemas.openxmlformats.org/drawingml/2006/main" noGrp="1"/>
          </p:cNvSpPr>
          <p:nvPr/>
        </p:nvSpPr>
        <p:spPr>
          <a:xfrm xmlns:a="http://schemas.openxmlformats.org/drawingml/2006/main">
            <a:off x="723900" y="1600200"/>
            <a:ext cx="5219700" cy="3695700"/>
          </a:xfrm>
          <a:prstGeom xmlns:a="http://schemas.openxmlformats.org/drawingml/2006/main" prst="roundRect">
            <a:avLst>
              <a:gd name="adj" fmla="val 2062"/>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67FB5CD6-E4C9-4E93-9FAF-1E869E064CFD}"/>
              </a:ext>
            </a:extLst>
          </p:cNvPr>
          <p:cNvSpPr>
            <a:spLocks xmlns:a="http://schemas.openxmlformats.org/drawingml/2006/main" noGrp="1"/>
          </p:cNvSpPr>
          <p:nvPr/>
        </p:nvSpPr>
        <p:spPr>
          <a:xfrm xmlns:a="http://schemas.openxmlformats.org/drawingml/2006/main">
            <a:off x="952500" y="1809750"/>
            <a:ext cx="4762500" cy="327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Input: two cropped 8x8 RGB person/object images converted into .mem files.</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Feature extraction: RGB max/mid/min, cone/rod channel, foreground area, center, and edge count.</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Boundary idea: compare each pixel with its right and lower neighbor using RGB color difference.</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Decision: weighted absolute-difference score compared with a threshold.</a:t>
            </a:r>
          </a:p>
        </p:txBody>
      </p:sp>
      <p:sp>
        <p:nvSpPr>
          <p:cNvPr id="5" name="">
            <a:extLst xmlns:a="http://schemas.openxmlformats.org/drawingml/2006/main">
              <a:ext uri="{FF2B5EF4-FFF2-40B4-BE49-F238E27FC236}">
                <a16:creationId xmlns:a16="http://schemas.microsoft.com/office/drawing/2014/main" id="{8F60E9CF-38D8-4800-B7E0-C5DD89438D2A}"/>
              </a:ext>
            </a:extLst>
          </p:cNvPr>
          <p:cNvSpPr>
            <a:spLocks xmlns:a="http://schemas.openxmlformats.org/drawingml/2006/main" noGrp="1"/>
          </p:cNvSpPr>
          <p:nvPr/>
        </p:nvSpPr>
        <p:spPr>
          <a:xfrm xmlns:a="http://schemas.openxmlformats.org/drawingml/2006/main">
            <a:off x="6438900" y="1600200"/>
            <a:ext cx="5029200" cy="3695700"/>
          </a:xfrm>
          <a:prstGeom xmlns:a="http://schemas.openxmlformats.org/drawingml/2006/main" prst="roundRect">
            <a:avLst>
              <a:gd name="adj" fmla="val 2062"/>
            </a:avLst>
          </a:prstGeom>
          <a:solidFill xmlns:a="http://schemas.openxmlformats.org/drawingml/2006/main">
            <a:srgbClr val="ECFDF5"/>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07E377E7-A775-4ED8-9C27-2802812CC927}"/>
              </a:ext>
            </a:extLst>
          </p:cNvPr>
          <p:cNvSpPr>
            <a:spLocks xmlns:a="http://schemas.openxmlformats.org/drawingml/2006/main" noGrp="1"/>
          </p:cNvSpPr>
          <p:nvPr/>
        </p:nvSpPr>
        <p:spPr>
          <a:xfrm xmlns:a="http://schemas.openxmlformats.org/drawingml/2006/main">
            <a:off x="6667500" y="1809750"/>
            <a:ext cx="4572000" cy="327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0F172A"/>
                </a:solidFill>
                <a:latin typeface="Microsoft JhengHei"/>
                <a:ea typeface="Microsoft JhengHei"/>
                <a:cs typeface="Microsoft JhengHei"/>
              </a:defRPr>
            </a:pPr>
            <a:r>
              <a:rPr sz="1650" b="0">
                <a:solidFill>
                  <a:srgbClr val="0F172A"/>
                </a:solidFill>
                <a:latin typeface="Microsoft JhengHei"/>
                <a:ea typeface="Microsoft JhengHei"/>
                <a:cs typeface="Microsoft JhengHei"/>
              </a:rPr>
              <a:t>- Still simplified: no neural network, no automatic person box detection, no multi-camera networking.</a:t>
            </a:r>
          </a:p>
          <a:p xmlns:a="http://schemas.openxmlformats.org/drawingml/2006/main">
            <a:pPr algn="l">
              <a:defRPr sz="1650" b="0">
                <a:solidFill>
                  <a:srgbClr val="0F172A"/>
                </a:solidFill>
                <a:latin typeface="Microsoft JhengHei"/>
                <a:ea typeface="Microsoft JhengHei"/>
                <a:cs typeface="Microsoft JhengHei"/>
              </a:defRPr>
            </a:pPr>
            <a:r>
              <a:rPr sz="1650" b="0">
                <a:solidFill>
                  <a:srgbClr val="0F172A"/>
                </a:solidFill>
                <a:latin typeface="Microsoft JhengHei"/>
                <a:ea typeface="Microsoft JhengHei"/>
                <a:cs typeface="Microsoft JhengHei"/>
              </a:rPr>
              <a:t>- Useful result: a clear Verilog framework that matches the papers' hardware-oriented feature idea.</a:t>
            </a:r>
          </a:p>
        </p:txBody>
      </p:sp>
      <p:sp>
        <p:nvSpPr>
          <p:cNvPr id="7" name="">
            <a:extLst xmlns:a="http://schemas.openxmlformats.org/drawingml/2006/main">
              <a:ext uri="{FF2B5EF4-FFF2-40B4-BE49-F238E27FC236}">
                <a16:creationId xmlns:a16="http://schemas.microsoft.com/office/drawing/2014/main" id="{06A27BEF-BEC6-489A-8E57-CDAE5F23DBD4}"/>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03</a:t>
            </a:r>
          </a:p>
        </p:txBody>
      </p:sp>
    </p:spTree>
    <p:extLst>
      <p:ext uri="{BB962C8B-B14F-4D97-AF65-F5344CB8AC3E}">
        <p14:creationId xmlns:p14="http://schemas.microsoft.com/office/powerpoint/2010/main" val="1976565178"/>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512A132-6DC6-4E80-86D3-81CCFB5FAC8B}"/>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Algorithm Flow</a:t>
            </a:r>
          </a:p>
        </p:txBody>
      </p:sp>
      <p:sp>
        <p:nvSpPr>
          <p:cNvPr id="2" name="">
            <a:extLst xmlns:a="http://schemas.openxmlformats.org/drawingml/2006/main">
              <a:ext uri="{FF2B5EF4-FFF2-40B4-BE49-F238E27FC236}">
                <a16:creationId xmlns:a16="http://schemas.microsoft.com/office/drawing/2014/main" id="{C43C26DE-C62D-44EB-9995-F4E87DEE79E1}"/>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The Verilog data path</a:t>
            </a:r>
          </a:p>
        </p:txBody>
      </p:sp>
      <p:sp>
        <p:nvSpPr>
          <p:cNvPr id="3" name="">
            <a:extLst xmlns:a="http://schemas.openxmlformats.org/drawingml/2006/main">
              <a:ext uri="{FF2B5EF4-FFF2-40B4-BE49-F238E27FC236}">
                <a16:creationId xmlns:a16="http://schemas.microsoft.com/office/drawing/2014/main" id="{FE3DEAE5-B235-4A7E-AED3-08ED3F1B21E0}"/>
              </a:ext>
            </a:extLst>
          </p:cNvPr>
          <p:cNvSpPr>
            <a:spLocks xmlns:a="http://schemas.openxmlformats.org/drawingml/2006/main" noGrp="1"/>
          </p:cNvSpPr>
          <p:nvPr/>
        </p:nvSpPr>
        <p:spPr>
          <a:xfrm xmlns:a="http://schemas.openxmlformats.org/drawingml/2006/main">
            <a:off x="8001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8540C259-AF00-430F-9256-E82E6D7858DA}"/>
              </a:ext>
            </a:extLst>
          </p:cNvPr>
          <p:cNvSpPr>
            <a:spLocks xmlns:a="http://schemas.openxmlformats.org/drawingml/2006/main" noGrp="1"/>
          </p:cNvSpPr>
          <p:nvPr/>
        </p:nvSpPr>
        <p:spPr>
          <a:xfrm xmlns:a="http://schemas.openxmlformats.org/drawingml/2006/main">
            <a:off x="9715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Read RGB .mem</a:t>
            </a:r>
          </a:p>
        </p:txBody>
      </p:sp>
      <p:sp>
        <p:nvSpPr>
          <p:cNvPr id="5" name="">
            <a:extLst xmlns:a="http://schemas.openxmlformats.org/drawingml/2006/main">
              <a:ext uri="{FF2B5EF4-FFF2-40B4-BE49-F238E27FC236}">
                <a16:creationId xmlns:a16="http://schemas.microsoft.com/office/drawing/2014/main" id="{CC918D36-6296-4605-B511-A4F4BB487C9D}"/>
              </a:ext>
            </a:extLst>
          </p:cNvPr>
          <p:cNvSpPr>
            <a:spLocks xmlns:a="http://schemas.openxmlformats.org/drawingml/2006/main" noGrp="1"/>
          </p:cNvSpPr>
          <p:nvPr/>
        </p:nvSpPr>
        <p:spPr>
          <a:xfrm xmlns:a="http://schemas.openxmlformats.org/drawingml/2006/main">
            <a:off x="26860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6" name="">
            <a:extLst xmlns:a="http://schemas.openxmlformats.org/drawingml/2006/main">
              <a:ext uri="{FF2B5EF4-FFF2-40B4-BE49-F238E27FC236}">
                <a16:creationId xmlns:a16="http://schemas.microsoft.com/office/drawing/2014/main" id="{EBD5ABC2-C534-4C67-9B04-2750108775E8}"/>
              </a:ext>
            </a:extLst>
          </p:cNvPr>
          <p:cNvSpPr>
            <a:spLocks xmlns:a="http://schemas.openxmlformats.org/drawingml/2006/main" noGrp="1"/>
          </p:cNvSpPr>
          <p:nvPr/>
        </p:nvSpPr>
        <p:spPr>
          <a:xfrm xmlns:a="http://schemas.openxmlformats.org/drawingml/2006/main">
            <a:off x="29718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7" name="">
            <a:extLst xmlns:a="http://schemas.openxmlformats.org/drawingml/2006/main">
              <a:ext uri="{FF2B5EF4-FFF2-40B4-BE49-F238E27FC236}">
                <a16:creationId xmlns:a16="http://schemas.microsoft.com/office/drawing/2014/main" id="{BC59908B-DC7B-4B56-A28B-C5E183E4A51A}"/>
              </a:ext>
            </a:extLst>
          </p:cNvPr>
          <p:cNvSpPr>
            <a:spLocks xmlns:a="http://schemas.openxmlformats.org/drawingml/2006/main" noGrp="1"/>
          </p:cNvSpPr>
          <p:nvPr/>
        </p:nvSpPr>
        <p:spPr>
          <a:xfrm xmlns:a="http://schemas.openxmlformats.org/drawingml/2006/main">
            <a:off x="31432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Scan 64 pixels</a:t>
            </a:r>
          </a:p>
        </p:txBody>
      </p:sp>
      <p:sp>
        <p:nvSpPr>
          <p:cNvPr id="8" name="">
            <a:extLst xmlns:a="http://schemas.openxmlformats.org/drawingml/2006/main">
              <a:ext uri="{FF2B5EF4-FFF2-40B4-BE49-F238E27FC236}">
                <a16:creationId xmlns:a16="http://schemas.microsoft.com/office/drawing/2014/main" id="{C3CCE073-B053-485C-887F-4391171A4FB1}"/>
              </a:ext>
            </a:extLst>
          </p:cNvPr>
          <p:cNvSpPr>
            <a:spLocks xmlns:a="http://schemas.openxmlformats.org/drawingml/2006/main" noGrp="1"/>
          </p:cNvSpPr>
          <p:nvPr/>
        </p:nvSpPr>
        <p:spPr>
          <a:xfrm xmlns:a="http://schemas.openxmlformats.org/drawingml/2006/main">
            <a:off x="48577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9" name="">
            <a:extLst xmlns:a="http://schemas.openxmlformats.org/drawingml/2006/main">
              <a:ext uri="{FF2B5EF4-FFF2-40B4-BE49-F238E27FC236}">
                <a16:creationId xmlns:a16="http://schemas.microsoft.com/office/drawing/2014/main" id="{E098B0A1-575C-4DC2-A8BF-EAB2C66E80D2}"/>
              </a:ext>
            </a:extLst>
          </p:cNvPr>
          <p:cNvSpPr>
            <a:spLocks xmlns:a="http://schemas.openxmlformats.org/drawingml/2006/main" noGrp="1"/>
          </p:cNvSpPr>
          <p:nvPr/>
        </p:nvSpPr>
        <p:spPr>
          <a:xfrm xmlns:a="http://schemas.openxmlformats.org/drawingml/2006/main">
            <a:off x="51435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0" name="">
            <a:extLst xmlns:a="http://schemas.openxmlformats.org/drawingml/2006/main">
              <a:ext uri="{FF2B5EF4-FFF2-40B4-BE49-F238E27FC236}">
                <a16:creationId xmlns:a16="http://schemas.microsoft.com/office/drawing/2014/main" id="{41C9AAC0-E647-4572-8789-7AE04A60D148}"/>
              </a:ext>
            </a:extLst>
          </p:cNvPr>
          <p:cNvSpPr>
            <a:spLocks xmlns:a="http://schemas.openxmlformats.org/drawingml/2006/main" noGrp="1"/>
          </p:cNvSpPr>
          <p:nvPr/>
        </p:nvSpPr>
        <p:spPr>
          <a:xfrm xmlns:a="http://schemas.openxmlformats.org/drawingml/2006/main">
            <a:off x="53149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Cone or rod channel</a:t>
            </a:r>
          </a:p>
        </p:txBody>
      </p:sp>
      <p:sp>
        <p:nvSpPr>
          <p:cNvPr id="11" name="">
            <a:extLst xmlns:a="http://schemas.openxmlformats.org/drawingml/2006/main">
              <a:ext uri="{FF2B5EF4-FFF2-40B4-BE49-F238E27FC236}">
                <a16:creationId xmlns:a16="http://schemas.microsoft.com/office/drawing/2014/main" id="{4D2AA839-1ED5-4B41-BE45-E823AF041CD8}"/>
              </a:ext>
            </a:extLst>
          </p:cNvPr>
          <p:cNvSpPr>
            <a:spLocks xmlns:a="http://schemas.openxmlformats.org/drawingml/2006/main" noGrp="1"/>
          </p:cNvSpPr>
          <p:nvPr/>
        </p:nvSpPr>
        <p:spPr>
          <a:xfrm xmlns:a="http://schemas.openxmlformats.org/drawingml/2006/main">
            <a:off x="70294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2" name="">
            <a:extLst xmlns:a="http://schemas.openxmlformats.org/drawingml/2006/main">
              <a:ext uri="{FF2B5EF4-FFF2-40B4-BE49-F238E27FC236}">
                <a16:creationId xmlns:a16="http://schemas.microsoft.com/office/drawing/2014/main" id="{010CC3E9-5F5F-46BB-BCE9-8FB0E82C4B71}"/>
              </a:ext>
            </a:extLst>
          </p:cNvPr>
          <p:cNvSpPr>
            <a:spLocks xmlns:a="http://schemas.openxmlformats.org/drawingml/2006/main" noGrp="1"/>
          </p:cNvSpPr>
          <p:nvPr/>
        </p:nvSpPr>
        <p:spPr>
          <a:xfrm xmlns:a="http://schemas.openxmlformats.org/drawingml/2006/main">
            <a:off x="73152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3" name="">
            <a:extLst xmlns:a="http://schemas.openxmlformats.org/drawingml/2006/main">
              <a:ext uri="{FF2B5EF4-FFF2-40B4-BE49-F238E27FC236}">
                <a16:creationId xmlns:a16="http://schemas.microsoft.com/office/drawing/2014/main" id="{F3486C29-651D-4726-81F9-28C0CF6FFF79}"/>
              </a:ext>
            </a:extLst>
          </p:cNvPr>
          <p:cNvSpPr>
            <a:spLocks xmlns:a="http://schemas.openxmlformats.org/drawingml/2006/main" noGrp="1"/>
          </p:cNvSpPr>
          <p:nvPr/>
        </p:nvSpPr>
        <p:spPr>
          <a:xfrm xmlns:a="http://schemas.openxmlformats.org/drawingml/2006/main">
            <a:off x="74866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Color-edge count</a:t>
            </a:r>
          </a:p>
        </p:txBody>
      </p:sp>
      <p:sp>
        <p:nvSpPr>
          <p:cNvPr id="14" name="">
            <a:extLst xmlns:a="http://schemas.openxmlformats.org/drawingml/2006/main">
              <a:ext uri="{FF2B5EF4-FFF2-40B4-BE49-F238E27FC236}">
                <a16:creationId xmlns:a16="http://schemas.microsoft.com/office/drawing/2014/main" id="{070B0708-6528-4741-B40B-D751F7FF6405}"/>
              </a:ext>
            </a:extLst>
          </p:cNvPr>
          <p:cNvSpPr>
            <a:spLocks xmlns:a="http://schemas.openxmlformats.org/drawingml/2006/main" noGrp="1"/>
          </p:cNvSpPr>
          <p:nvPr/>
        </p:nvSpPr>
        <p:spPr>
          <a:xfrm xmlns:a="http://schemas.openxmlformats.org/drawingml/2006/main">
            <a:off x="92011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5" name="">
            <a:extLst xmlns:a="http://schemas.openxmlformats.org/drawingml/2006/main">
              <a:ext uri="{FF2B5EF4-FFF2-40B4-BE49-F238E27FC236}">
                <a16:creationId xmlns:a16="http://schemas.microsoft.com/office/drawing/2014/main" id="{BF8DE9BD-C39D-4B58-AF07-921ED2AAF3FF}"/>
              </a:ext>
            </a:extLst>
          </p:cNvPr>
          <p:cNvSpPr>
            <a:spLocks xmlns:a="http://schemas.openxmlformats.org/drawingml/2006/main" noGrp="1"/>
          </p:cNvSpPr>
          <p:nvPr/>
        </p:nvSpPr>
        <p:spPr>
          <a:xfrm xmlns:a="http://schemas.openxmlformats.org/drawingml/2006/main">
            <a:off x="94869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98E597D9-7D81-48B2-8766-4E19950BEBD0}"/>
              </a:ext>
            </a:extLst>
          </p:cNvPr>
          <p:cNvSpPr>
            <a:spLocks xmlns:a="http://schemas.openxmlformats.org/drawingml/2006/main" noGrp="1"/>
          </p:cNvSpPr>
          <p:nvPr/>
        </p:nvSpPr>
        <p:spPr>
          <a:xfrm xmlns:a="http://schemas.openxmlformats.org/drawingml/2006/main">
            <a:off x="96583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Feature vector</a:t>
            </a:r>
          </a:p>
        </p:txBody>
      </p:sp>
      <p:sp>
        <p:nvSpPr>
          <p:cNvPr id="17" name="">
            <a:extLst xmlns:a="http://schemas.openxmlformats.org/drawingml/2006/main">
              <a:ext uri="{FF2B5EF4-FFF2-40B4-BE49-F238E27FC236}">
                <a16:creationId xmlns:a16="http://schemas.microsoft.com/office/drawing/2014/main" id="{7704B92F-8416-41C3-907E-BB3B9F922DB6}"/>
              </a:ext>
            </a:extLst>
          </p:cNvPr>
          <p:cNvSpPr>
            <a:spLocks xmlns:a="http://schemas.openxmlformats.org/drawingml/2006/main" noGrp="1"/>
          </p:cNvSpPr>
          <p:nvPr/>
        </p:nvSpPr>
        <p:spPr>
          <a:xfrm xmlns:a="http://schemas.openxmlformats.org/drawingml/2006/main">
            <a:off x="8001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8" name="">
            <a:extLst xmlns:a="http://schemas.openxmlformats.org/drawingml/2006/main">
              <a:ext uri="{FF2B5EF4-FFF2-40B4-BE49-F238E27FC236}">
                <a16:creationId xmlns:a16="http://schemas.microsoft.com/office/drawing/2014/main" id="{3EC1C139-E276-4822-9359-A3C148B824BD}"/>
              </a:ext>
            </a:extLst>
          </p:cNvPr>
          <p:cNvSpPr>
            <a:spLocks xmlns:a="http://schemas.openxmlformats.org/drawingml/2006/main" noGrp="1"/>
          </p:cNvSpPr>
          <p:nvPr/>
        </p:nvSpPr>
        <p:spPr>
          <a:xfrm xmlns:a="http://schemas.openxmlformats.org/drawingml/2006/main">
            <a:off x="9715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Image A features</a:t>
            </a:r>
          </a:p>
        </p:txBody>
      </p:sp>
      <p:sp>
        <p:nvSpPr>
          <p:cNvPr id="19" name="">
            <a:extLst xmlns:a="http://schemas.openxmlformats.org/drawingml/2006/main">
              <a:ext uri="{FF2B5EF4-FFF2-40B4-BE49-F238E27FC236}">
                <a16:creationId xmlns:a16="http://schemas.microsoft.com/office/drawing/2014/main" id="{7E866CE7-A60E-41A4-90BB-F521E7EF871E}"/>
              </a:ext>
            </a:extLst>
          </p:cNvPr>
          <p:cNvSpPr>
            <a:spLocks xmlns:a="http://schemas.openxmlformats.org/drawingml/2006/main" noGrp="1"/>
          </p:cNvSpPr>
          <p:nvPr/>
        </p:nvSpPr>
        <p:spPr>
          <a:xfrm xmlns:a="http://schemas.openxmlformats.org/drawingml/2006/main">
            <a:off x="26860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0" name="">
            <a:extLst xmlns:a="http://schemas.openxmlformats.org/drawingml/2006/main">
              <a:ext uri="{FF2B5EF4-FFF2-40B4-BE49-F238E27FC236}">
                <a16:creationId xmlns:a16="http://schemas.microsoft.com/office/drawing/2014/main" id="{1650EE35-245F-4061-AEB3-C12AD0697064}"/>
              </a:ext>
            </a:extLst>
          </p:cNvPr>
          <p:cNvSpPr>
            <a:spLocks xmlns:a="http://schemas.openxmlformats.org/drawingml/2006/main" noGrp="1"/>
          </p:cNvSpPr>
          <p:nvPr/>
        </p:nvSpPr>
        <p:spPr>
          <a:xfrm xmlns:a="http://schemas.openxmlformats.org/drawingml/2006/main">
            <a:off x="29718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21" name="">
            <a:extLst xmlns:a="http://schemas.openxmlformats.org/drawingml/2006/main">
              <a:ext uri="{FF2B5EF4-FFF2-40B4-BE49-F238E27FC236}">
                <a16:creationId xmlns:a16="http://schemas.microsoft.com/office/drawing/2014/main" id="{4C3903FA-94EB-4764-90FA-019325A43561}"/>
              </a:ext>
            </a:extLst>
          </p:cNvPr>
          <p:cNvSpPr>
            <a:spLocks xmlns:a="http://schemas.openxmlformats.org/drawingml/2006/main" noGrp="1"/>
          </p:cNvSpPr>
          <p:nvPr/>
        </p:nvSpPr>
        <p:spPr>
          <a:xfrm xmlns:a="http://schemas.openxmlformats.org/drawingml/2006/main">
            <a:off x="31432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Image B features</a:t>
            </a:r>
          </a:p>
        </p:txBody>
      </p:sp>
      <p:sp>
        <p:nvSpPr>
          <p:cNvPr id="22" name="">
            <a:extLst xmlns:a="http://schemas.openxmlformats.org/drawingml/2006/main">
              <a:ext uri="{FF2B5EF4-FFF2-40B4-BE49-F238E27FC236}">
                <a16:creationId xmlns:a16="http://schemas.microsoft.com/office/drawing/2014/main" id="{E4915E68-1508-4221-AEDC-787DCBD697F7}"/>
              </a:ext>
            </a:extLst>
          </p:cNvPr>
          <p:cNvSpPr>
            <a:spLocks xmlns:a="http://schemas.openxmlformats.org/drawingml/2006/main" noGrp="1"/>
          </p:cNvSpPr>
          <p:nvPr/>
        </p:nvSpPr>
        <p:spPr>
          <a:xfrm xmlns:a="http://schemas.openxmlformats.org/drawingml/2006/main">
            <a:off x="48577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3" name="">
            <a:extLst xmlns:a="http://schemas.openxmlformats.org/drawingml/2006/main">
              <a:ext uri="{FF2B5EF4-FFF2-40B4-BE49-F238E27FC236}">
                <a16:creationId xmlns:a16="http://schemas.microsoft.com/office/drawing/2014/main" id="{91407552-321D-4415-908C-1215A1AD4241}"/>
              </a:ext>
            </a:extLst>
          </p:cNvPr>
          <p:cNvSpPr>
            <a:spLocks xmlns:a="http://schemas.openxmlformats.org/drawingml/2006/main" noGrp="1"/>
          </p:cNvSpPr>
          <p:nvPr/>
        </p:nvSpPr>
        <p:spPr>
          <a:xfrm xmlns:a="http://schemas.openxmlformats.org/drawingml/2006/main">
            <a:off x="51435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24" name="">
            <a:extLst xmlns:a="http://schemas.openxmlformats.org/drawingml/2006/main">
              <a:ext uri="{FF2B5EF4-FFF2-40B4-BE49-F238E27FC236}">
                <a16:creationId xmlns:a16="http://schemas.microsoft.com/office/drawing/2014/main" id="{CF783959-BCC8-4EE5-8276-32AF3A59EF47}"/>
              </a:ext>
            </a:extLst>
          </p:cNvPr>
          <p:cNvSpPr>
            <a:spLocks xmlns:a="http://schemas.openxmlformats.org/drawingml/2006/main" noGrp="1"/>
          </p:cNvSpPr>
          <p:nvPr/>
        </p:nvSpPr>
        <p:spPr>
          <a:xfrm xmlns:a="http://schemas.openxmlformats.org/drawingml/2006/main">
            <a:off x="53149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Weighted distance</a:t>
            </a:r>
          </a:p>
        </p:txBody>
      </p:sp>
      <p:sp>
        <p:nvSpPr>
          <p:cNvPr id="25" name="">
            <a:extLst xmlns:a="http://schemas.openxmlformats.org/drawingml/2006/main">
              <a:ext uri="{FF2B5EF4-FFF2-40B4-BE49-F238E27FC236}">
                <a16:creationId xmlns:a16="http://schemas.microsoft.com/office/drawing/2014/main" id="{8173EF6A-5644-4C71-BECC-0F4ADC4043A6}"/>
              </a:ext>
            </a:extLst>
          </p:cNvPr>
          <p:cNvSpPr>
            <a:spLocks xmlns:a="http://schemas.openxmlformats.org/drawingml/2006/main" noGrp="1"/>
          </p:cNvSpPr>
          <p:nvPr/>
        </p:nvSpPr>
        <p:spPr>
          <a:xfrm xmlns:a="http://schemas.openxmlformats.org/drawingml/2006/main">
            <a:off x="70294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6" name="">
            <a:extLst xmlns:a="http://schemas.openxmlformats.org/drawingml/2006/main">
              <a:ext uri="{FF2B5EF4-FFF2-40B4-BE49-F238E27FC236}">
                <a16:creationId xmlns:a16="http://schemas.microsoft.com/office/drawing/2014/main" id="{84F3377F-B17D-4700-9951-B7A60965237C}"/>
              </a:ext>
            </a:extLst>
          </p:cNvPr>
          <p:cNvSpPr>
            <a:spLocks xmlns:a="http://schemas.openxmlformats.org/drawingml/2006/main" noGrp="1"/>
          </p:cNvSpPr>
          <p:nvPr/>
        </p:nvSpPr>
        <p:spPr>
          <a:xfrm xmlns:a="http://schemas.openxmlformats.org/drawingml/2006/main">
            <a:off x="73152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27" name="">
            <a:extLst xmlns:a="http://schemas.openxmlformats.org/drawingml/2006/main">
              <a:ext uri="{FF2B5EF4-FFF2-40B4-BE49-F238E27FC236}">
                <a16:creationId xmlns:a16="http://schemas.microsoft.com/office/drawing/2014/main" id="{EC1766B5-996C-4226-85C3-A9D8F204E44C}"/>
              </a:ext>
            </a:extLst>
          </p:cNvPr>
          <p:cNvSpPr>
            <a:spLocks xmlns:a="http://schemas.openxmlformats.org/drawingml/2006/main" noGrp="1"/>
          </p:cNvSpPr>
          <p:nvPr/>
        </p:nvSpPr>
        <p:spPr>
          <a:xfrm xmlns:a="http://schemas.openxmlformats.org/drawingml/2006/main">
            <a:off x="74866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Threshold</a:t>
            </a:r>
          </a:p>
        </p:txBody>
      </p:sp>
      <p:sp>
        <p:nvSpPr>
          <p:cNvPr id="28" name="">
            <a:extLst xmlns:a="http://schemas.openxmlformats.org/drawingml/2006/main">
              <a:ext uri="{FF2B5EF4-FFF2-40B4-BE49-F238E27FC236}">
                <a16:creationId xmlns:a16="http://schemas.microsoft.com/office/drawing/2014/main" id="{7073AD10-BB61-4AB0-B598-21B1F962C1E3}"/>
              </a:ext>
            </a:extLst>
          </p:cNvPr>
          <p:cNvSpPr>
            <a:spLocks xmlns:a="http://schemas.openxmlformats.org/drawingml/2006/main" noGrp="1"/>
          </p:cNvSpPr>
          <p:nvPr/>
        </p:nvSpPr>
        <p:spPr>
          <a:xfrm xmlns:a="http://schemas.openxmlformats.org/drawingml/2006/main">
            <a:off x="92011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9" name="">
            <a:extLst xmlns:a="http://schemas.openxmlformats.org/drawingml/2006/main">
              <a:ext uri="{FF2B5EF4-FFF2-40B4-BE49-F238E27FC236}">
                <a16:creationId xmlns:a16="http://schemas.microsoft.com/office/drawing/2014/main" id="{40DFBA62-436D-4002-872C-88DD7957CCBE}"/>
              </a:ext>
            </a:extLst>
          </p:cNvPr>
          <p:cNvSpPr>
            <a:spLocks xmlns:a="http://schemas.openxmlformats.org/drawingml/2006/main" noGrp="1"/>
          </p:cNvSpPr>
          <p:nvPr/>
        </p:nvSpPr>
        <p:spPr>
          <a:xfrm xmlns:a="http://schemas.openxmlformats.org/drawingml/2006/main">
            <a:off x="94869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30" name="">
            <a:extLst xmlns:a="http://schemas.openxmlformats.org/drawingml/2006/main">
              <a:ext uri="{FF2B5EF4-FFF2-40B4-BE49-F238E27FC236}">
                <a16:creationId xmlns:a16="http://schemas.microsoft.com/office/drawing/2014/main" id="{EBED3B5C-DDB6-419E-9F68-9C4ED226FBFE}"/>
              </a:ext>
            </a:extLst>
          </p:cNvPr>
          <p:cNvSpPr>
            <a:spLocks xmlns:a="http://schemas.openxmlformats.org/drawingml/2006/main" noGrp="1"/>
          </p:cNvSpPr>
          <p:nvPr/>
        </p:nvSpPr>
        <p:spPr>
          <a:xfrm xmlns:a="http://schemas.openxmlformats.org/drawingml/2006/main">
            <a:off x="96583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same_person</a:t>
            </a:r>
          </a:p>
        </p:txBody>
      </p:sp>
      <p:sp>
        <p:nvSpPr>
          <p:cNvPr id="31" name="">
            <a:extLst xmlns:a="http://schemas.openxmlformats.org/drawingml/2006/main">
              <a:ext uri="{FF2B5EF4-FFF2-40B4-BE49-F238E27FC236}">
                <a16:creationId xmlns:a16="http://schemas.microsoft.com/office/drawing/2014/main" id="{80C894AA-22A7-40A0-A95A-FFED4EA22D6D}"/>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04</a:t>
            </a:r>
          </a:p>
        </p:txBody>
      </p:sp>
    </p:spTree>
    <p:extLst>
      <p:ext uri="{BB962C8B-B14F-4D97-AF65-F5344CB8AC3E}">
        <p14:creationId xmlns:p14="http://schemas.microsoft.com/office/powerpoint/2010/main" val="1857647720"/>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A8EF18D-91DD-4EFA-93A6-806068C7F4CA}"/>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Feature Vector</a:t>
            </a:r>
          </a:p>
        </p:txBody>
      </p:sp>
      <p:sp>
        <p:nvSpPr>
          <p:cNvPr id="2" name="">
            <a:extLst xmlns:a="http://schemas.openxmlformats.org/drawingml/2006/main">
              <a:ext uri="{FF2B5EF4-FFF2-40B4-BE49-F238E27FC236}">
                <a16:creationId xmlns:a16="http://schemas.microsoft.com/office/drawing/2014/main" id="{428EB3D4-6BE8-48EF-8723-5E024626EAB0}"/>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The extracted descriptor used for re-identification</a:t>
            </a:r>
          </a:p>
        </p:txBody>
      </p:sp>
      <p:sp>
        <p:nvSpPr>
          <p:cNvPr id="3" name="">
            <a:extLst xmlns:a="http://schemas.openxmlformats.org/drawingml/2006/main">
              <a:ext uri="{FF2B5EF4-FFF2-40B4-BE49-F238E27FC236}">
                <a16:creationId xmlns:a16="http://schemas.microsoft.com/office/drawing/2014/main" id="{176A2558-1230-41B8-95F4-09516C159272}"/>
              </a:ext>
            </a:extLst>
          </p:cNvPr>
          <p:cNvSpPr>
            <a:spLocks xmlns:a="http://schemas.openxmlformats.org/drawingml/2006/main" noGrp="1"/>
          </p:cNvSpPr>
          <p:nvPr/>
        </p:nvSpPr>
        <p:spPr>
          <a:xfrm xmlns:a="http://schemas.openxmlformats.org/drawingml/2006/main">
            <a:off x="933450" y="1524000"/>
            <a:ext cx="10325100" cy="476250"/>
          </a:xfrm>
          <a:prstGeom xmlns:a="http://schemas.openxmlformats.org/drawingml/2006/main" prst="roundRect">
            <a:avLst>
              <a:gd name="adj" fmla="val 16000"/>
            </a:avLst>
          </a:prstGeom>
          <a:solidFill xmlns:a="http://schemas.openxmlformats.org/drawingml/2006/main">
            <a:srgbClr val="F1F5F9"/>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C2D02CFE-DFFE-4C86-9BB1-FCFDCCA782B1}"/>
              </a:ext>
            </a:extLst>
          </p:cNvPr>
          <p:cNvSpPr>
            <a:spLocks xmlns:a="http://schemas.openxmlformats.org/drawingml/2006/main" noGrp="1"/>
          </p:cNvSpPr>
          <p:nvPr/>
        </p:nvSpPr>
        <p:spPr>
          <a:xfrm xmlns:a="http://schemas.openxmlformats.org/drawingml/2006/main">
            <a:off x="1181100" y="16097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upper_max / upper_mid</a:t>
            </a:r>
          </a:p>
        </p:txBody>
      </p:sp>
      <p:sp>
        <p:nvSpPr>
          <p:cNvPr id="5" name="">
            <a:extLst xmlns:a="http://schemas.openxmlformats.org/drawingml/2006/main">
              <a:ext uri="{FF2B5EF4-FFF2-40B4-BE49-F238E27FC236}">
                <a16:creationId xmlns:a16="http://schemas.microsoft.com/office/drawing/2014/main" id="{D85DF90A-EB36-4704-A5FB-D57744EF0165}"/>
              </a:ext>
            </a:extLst>
          </p:cNvPr>
          <p:cNvSpPr>
            <a:spLocks xmlns:a="http://schemas.openxmlformats.org/drawingml/2006/main" noGrp="1"/>
          </p:cNvSpPr>
          <p:nvPr/>
        </p:nvSpPr>
        <p:spPr>
          <a:xfrm xmlns:a="http://schemas.openxmlformats.org/drawingml/2006/main">
            <a:off x="4629150" y="16097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Upper-body cone-channel color</a:t>
            </a:r>
          </a:p>
        </p:txBody>
      </p:sp>
      <p:sp>
        <p:nvSpPr>
          <p:cNvPr id="6" name="">
            <a:extLst xmlns:a="http://schemas.openxmlformats.org/drawingml/2006/main">
              <a:ext uri="{FF2B5EF4-FFF2-40B4-BE49-F238E27FC236}">
                <a16:creationId xmlns:a16="http://schemas.microsoft.com/office/drawing/2014/main" id="{E0AC9C62-1522-4CA1-9BE1-A86526149747}"/>
              </a:ext>
            </a:extLst>
          </p:cNvPr>
          <p:cNvSpPr>
            <a:spLocks xmlns:a="http://schemas.openxmlformats.org/drawingml/2006/main" noGrp="1"/>
          </p:cNvSpPr>
          <p:nvPr/>
        </p:nvSpPr>
        <p:spPr>
          <a:xfrm xmlns:a="http://schemas.openxmlformats.org/drawingml/2006/main">
            <a:off x="933450" y="2171700"/>
            <a:ext cx="103251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5E1"/>
            </a:solidFill>
          </a:ln>
        </p:spPr>
      </p:sp>
      <p:sp>
        <p:nvSpPr>
          <p:cNvPr id="7" name="">
            <a:extLst xmlns:a="http://schemas.openxmlformats.org/drawingml/2006/main">
              <a:ext uri="{FF2B5EF4-FFF2-40B4-BE49-F238E27FC236}">
                <a16:creationId xmlns:a16="http://schemas.microsoft.com/office/drawing/2014/main" id="{BCA41249-F02A-46B3-8FD9-C646A6E12559}"/>
              </a:ext>
            </a:extLst>
          </p:cNvPr>
          <p:cNvSpPr>
            <a:spLocks xmlns:a="http://schemas.openxmlformats.org/drawingml/2006/main" noGrp="1"/>
          </p:cNvSpPr>
          <p:nvPr/>
        </p:nvSpPr>
        <p:spPr>
          <a:xfrm xmlns:a="http://schemas.openxmlformats.org/drawingml/2006/main">
            <a:off x="1181100" y="22574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lower_max / lower_mid</a:t>
            </a:r>
          </a:p>
        </p:txBody>
      </p:sp>
      <p:sp>
        <p:nvSpPr>
          <p:cNvPr id="8" name="">
            <a:extLst xmlns:a="http://schemas.openxmlformats.org/drawingml/2006/main">
              <a:ext uri="{FF2B5EF4-FFF2-40B4-BE49-F238E27FC236}">
                <a16:creationId xmlns:a16="http://schemas.microsoft.com/office/drawing/2014/main" id="{1B9447EE-82FA-4451-BAA3-E9FB5AA8332A}"/>
              </a:ext>
            </a:extLst>
          </p:cNvPr>
          <p:cNvSpPr>
            <a:spLocks xmlns:a="http://schemas.openxmlformats.org/drawingml/2006/main" noGrp="1"/>
          </p:cNvSpPr>
          <p:nvPr/>
        </p:nvSpPr>
        <p:spPr>
          <a:xfrm xmlns:a="http://schemas.openxmlformats.org/drawingml/2006/main">
            <a:off x="4629150" y="22574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Lower-body cone-channel color</a:t>
            </a:r>
          </a:p>
        </p:txBody>
      </p:sp>
      <p:sp>
        <p:nvSpPr>
          <p:cNvPr id="9" name="">
            <a:extLst xmlns:a="http://schemas.openxmlformats.org/drawingml/2006/main">
              <a:ext uri="{FF2B5EF4-FFF2-40B4-BE49-F238E27FC236}">
                <a16:creationId xmlns:a16="http://schemas.microsoft.com/office/drawing/2014/main" id="{D2ADBBDC-D8C0-41CA-8654-BFFAED6EA51A}"/>
              </a:ext>
            </a:extLst>
          </p:cNvPr>
          <p:cNvSpPr>
            <a:spLocks xmlns:a="http://schemas.openxmlformats.org/drawingml/2006/main" noGrp="1"/>
          </p:cNvSpPr>
          <p:nvPr/>
        </p:nvSpPr>
        <p:spPr>
          <a:xfrm xmlns:a="http://schemas.openxmlformats.org/drawingml/2006/main">
            <a:off x="933450" y="2819400"/>
            <a:ext cx="10325100" cy="476250"/>
          </a:xfrm>
          <a:prstGeom xmlns:a="http://schemas.openxmlformats.org/drawingml/2006/main" prst="roundRect">
            <a:avLst>
              <a:gd name="adj" fmla="val 16000"/>
            </a:avLst>
          </a:prstGeom>
          <a:solidFill xmlns:a="http://schemas.openxmlformats.org/drawingml/2006/main">
            <a:srgbClr val="F1F5F9"/>
          </a:solidFill>
          <a:ln xmlns:a="http://schemas.openxmlformats.org/drawingml/2006/main" w="9525">
            <a:solidFill>
              <a:srgbClr val="CBD5E1"/>
            </a:solidFill>
          </a:ln>
        </p:spPr>
      </p:sp>
      <p:sp>
        <p:nvSpPr>
          <p:cNvPr id="10" name="">
            <a:extLst xmlns:a="http://schemas.openxmlformats.org/drawingml/2006/main">
              <a:ext uri="{FF2B5EF4-FFF2-40B4-BE49-F238E27FC236}">
                <a16:creationId xmlns:a16="http://schemas.microsoft.com/office/drawing/2014/main" id="{E806EFF6-F321-478A-9791-07D2E1693F56}"/>
              </a:ext>
            </a:extLst>
          </p:cNvPr>
          <p:cNvSpPr>
            <a:spLocks xmlns:a="http://schemas.openxmlformats.org/drawingml/2006/main" noGrp="1"/>
          </p:cNvSpPr>
          <p:nvPr/>
        </p:nvSpPr>
        <p:spPr>
          <a:xfrm xmlns:a="http://schemas.openxmlformats.org/drawingml/2006/main">
            <a:off x="1181100" y="29051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rod</a:t>
            </a:r>
          </a:p>
        </p:txBody>
      </p:sp>
      <p:sp>
        <p:nvSpPr>
          <p:cNvPr id="11" name="">
            <a:extLst xmlns:a="http://schemas.openxmlformats.org/drawingml/2006/main">
              <a:ext uri="{FF2B5EF4-FFF2-40B4-BE49-F238E27FC236}">
                <a16:creationId xmlns:a16="http://schemas.microsoft.com/office/drawing/2014/main" id="{54BC0A23-29E5-41D5-A35D-212F14D1ED38}"/>
              </a:ext>
            </a:extLst>
          </p:cNvPr>
          <p:cNvSpPr>
            <a:spLocks xmlns:a="http://schemas.openxmlformats.org/drawingml/2006/main" noGrp="1"/>
          </p:cNvSpPr>
          <p:nvPr/>
        </p:nvSpPr>
        <p:spPr>
          <a:xfrm xmlns:a="http://schemas.openxmlformats.org/drawingml/2006/main">
            <a:off x="4629150" y="29051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Low-saturation grayscale appearance</a:t>
            </a:r>
          </a:p>
        </p:txBody>
      </p:sp>
      <p:sp>
        <p:nvSpPr>
          <p:cNvPr id="12" name="">
            <a:extLst xmlns:a="http://schemas.openxmlformats.org/drawingml/2006/main">
              <a:ext uri="{FF2B5EF4-FFF2-40B4-BE49-F238E27FC236}">
                <a16:creationId xmlns:a16="http://schemas.microsoft.com/office/drawing/2014/main" id="{C5415F8B-9D49-4425-AB49-FD81BCF24D08}"/>
              </a:ext>
            </a:extLst>
          </p:cNvPr>
          <p:cNvSpPr>
            <a:spLocks xmlns:a="http://schemas.openxmlformats.org/drawingml/2006/main" noGrp="1"/>
          </p:cNvSpPr>
          <p:nvPr/>
        </p:nvSpPr>
        <p:spPr>
          <a:xfrm xmlns:a="http://schemas.openxmlformats.org/drawingml/2006/main">
            <a:off x="933450" y="3467100"/>
            <a:ext cx="103251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5E1"/>
            </a:solidFill>
          </a:ln>
        </p:spPr>
      </p:sp>
      <p:sp>
        <p:nvSpPr>
          <p:cNvPr id="13" name="">
            <a:extLst xmlns:a="http://schemas.openxmlformats.org/drawingml/2006/main">
              <a:ext uri="{FF2B5EF4-FFF2-40B4-BE49-F238E27FC236}">
                <a16:creationId xmlns:a16="http://schemas.microsoft.com/office/drawing/2014/main" id="{02B50FB2-5099-4DBC-B09F-9FC3186EF6F9}"/>
              </a:ext>
            </a:extLst>
          </p:cNvPr>
          <p:cNvSpPr>
            <a:spLocks xmlns:a="http://schemas.openxmlformats.org/drawingml/2006/main" noGrp="1"/>
          </p:cNvSpPr>
          <p:nvPr/>
        </p:nvSpPr>
        <p:spPr>
          <a:xfrm xmlns:a="http://schemas.openxmlformats.org/drawingml/2006/main">
            <a:off x="1181100" y="35528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area</a:t>
            </a:r>
          </a:p>
        </p:txBody>
      </p:sp>
      <p:sp>
        <p:nvSpPr>
          <p:cNvPr id="14" name="">
            <a:extLst xmlns:a="http://schemas.openxmlformats.org/drawingml/2006/main">
              <a:ext uri="{FF2B5EF4-FFF2-40B4-BE49-F238E27FC236}">
                <a16:creationId xmlns:a16="http://schemas.microsoft.com/office/drawing/2014/main" id="{1D8D286A-3B94-4EC5-A512-C3E2360E0F0E}"/>
              </a:ext>
            </a:extLst>
          </p:cNvPr>
          <p:cNvSpPr>
            <a:spLocks xmlns:a="http://schemas.openxmlformats.org/drawingml/2006/main" noGrp="1"/>
          </p:cNvSpPr>
          <p:nvPr/>
        </p:nvSpPr>
        <p:spPr>
          <a:xfrm xmlns:a="http://schemas.openxmlformats.org/drawingml/2006/main">
            <a:off x="4629150" y="35528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Number of foreground pixels</a:t>
            </a:r>
          </a:p>
        </p:txBody>
      </p:sp>
      <p:sp>
        <p:nvSpPr>
          <p:cNvPr id="15" name="">
            <a:extLst xmlns:a="http://schemas.openxmlformats.org/drawingml/2006/main">
              <a:ext uri="{FF2B5EF4-FFF2-40B4-BE49-F238E27FC236}">
                <a16:creationId xmlns:a16="http://schemas.microsoft.com/office/drawing/2014/main" id="{2E540D28-C490-47EB-82CB-82E6376EDA70}"/>
              </a:ext>
            </a:extLst>
          </p:cNvPr>
          <p:cNvSpPr>
            <a:spLocks xmlns:a="http://schemas.openxmlformats.org/drawingml/2006/main" noGrp="1"/>
          </p:cNvSpPr>
          <p:nvPr/>
        </p:nvSpPr>
        <p:spPr>
          <a:xfrm xmlns:a="http://schemas.openxmlformats.org/drawingml/2006/main">
            <a:off x="933450" y="4114800"/>
            <a:ext cx="10325100" cy="476250"/>
          </a:xfrm>
          <a:prstGeom xmlns:a="http://schemas.openxmlformats.org/drawingml/2006/main" prst="roundRect">
            <a:avLst>
              <a:gd name="adj" fmla="val 16000"/>
            </a:avLst>
          </a:prstGeom>
          <a:solidFill xmlns:a="http://schemas.openxmlformats.org/drawingml/2006/main">
            <a:srgbClr val="F1F5F9"/>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609D1609-56BD-4598-BAF7-1DEA96717DE8}"/>
              </a:ext>
            </a:extLst>
          </p:cNvPr>
          <p:cNvSpPr>
            <a:spLocks xmlns:a="http://schemas.openxmlformats.org/drawingml/2006/main" noGrp="1"/>
          </p:cNvSpPr>
          <p:nvPr/>
        </p:nvSpPr>
        <p:spPr>
          <a:xfrm xmlns:a="http://schemas.openxmlformats.org/drawingml/2006/main">
            <a:off x="1181100" y="42005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center_x / center_y</a:t>
            </a:r>
          </a:p>
        </p:txBody>
      </p:sp>
      <p:sp>
        <p:nvSpPr>
          <p:cNvPr id="17" name="">
            <a:extLst xmlns:a="http://schemas.openxmlformats.org/drawingml/2006/main">
              <a:ext uri="{FF2B5EF4-FFF2-40B4-BE49-F238E27FC236}">
                <a16:creationId xmlns:a16="http://schemas.microsoft.com/office/drawing/2014/main" id="{78E57A1C-0D89-40E1-82BE-FEABC698ECE2}"/>
              </a:ext>
            </a:extLst>
          </p:cNvPr>
          <p:cNvSpPr>
            <a:spLocks xmlns:a="http://schemas.openxmlformats.org/drawingml/2006/main" noGrp="1"/>
          </p:cNvSpPr>
          <p:nvPr/>
        </p:nvSpPr>
        <p:spPr>
          <a:xfrm xmlns:a="http://schemas.openxmlformats.org/drawingml/2006/main">
            <a:off x="4629150" y="42005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Rough object position</a:t>
            </a:r>
          </a:p>
        </p:txBody>
      </p:sp>
      <p:sp>
        <p:nvSpPr>
          <p:cNvPr id="18" name="">
            <a:extLst xmlns:a="http://schemas.openxmlformats.org/drawingml/2006/main">
              <a:ext uri="{FF2B5EF4-FFF2-40B4-BE49-F238E27FC236}">
                <a16:creationId xmlns:a16="http://schemas.microsoft.com/office/drawing/2014/main" id="{D0B9CC44-AFCF-4DB9-846A-2F88C95E6F8D}"/>
              </a:ext>
            </a:extLst>
          </p:cNvPr>
          <p:cNvSpPr>
            <a:spLocks xmlns:a="http://schemas.openxmlformats.org/drawingml/2006/main" noGrp="1"/>
          </p:cNvSpPr>
          <p:nvPr/>
        </p:nvSpPr>
        <p:spPr>
          <a:xfrm xmlns:a="http://schemas.openxmlformats.org/drawingml/2006/main">
            <a:off x="933450" y="4762500"/>
            <a:ext cx="103251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5E1"/>
            </a:solidFill>
          </a:ln>
        </p:spPr>
      </p:sp>
      <p:sp>
        <p:nvSpPr>
          <p:cNvPr id="19" name="">
            <a:extLst xmlns:a="http://schemas.openxmlformats.org/drawingml/2006/main">
              <a:ext uri="{FF2B5EF4-FFF2-40B4-BE49-F238E27FC236}">
                <a16:creationId xmlns:a16="http://schemas.microsoft.com/office/drawing/2014/main" id="{2385B618-A95E-4693-8BFF-391CC12D4121}"/>
              </a:ext>
            </a:extLst>
          </p:cNvPr>
          <p:cNvSpPr>
            <a:spLocks xmlns:a="http://schemas.openxmlformats.org/drawingml/2006/main" noGrp="1"/>
          </p:cNvSpPr>
          <p:nvPr/>
        </p:nvSpPr>
        <p:spPr>
          <a:xfrm xmlns:a="http://schemas.openxmlformats.org/drawingml/2006/main">
            <a:off x="1181100" y="48482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edge_count</a:t>
            </a:r>
          </a:p>
        </p:txBody>
      </p:sp>
      <p:sp>
        <p:nvSpPr>
          <p:cNvPr id="20" name="">
            <a:extLst xmlns:a="http://schemas.openxmlformats.org/drawingml/2006/main">
              <a:ext uri="{FF2B5EF4-FFF2-40B4-BE49-F238E27FC236}">
                <a16:creationId xmlns:a16="http://schemas.microsoft.com/office/drawing/2014/main" id="{9CFF621B-7519-4B54-954F-FD26C7E7FA0B}"/>
              </a:ext>
            </a:extLst>
          </p:cNvPr>
          <p:cNvSpPr>
            <a:spLocks xmlns:a="http://schemas.openxmlformats.org/drawingml/2006/main" noGrp="1"/>
          </p:cNvSpPr>
          <p:nvPr/>
        </p:nvSpPr>
        <p:spPr>
          <a:xfrm xmlns:a="http://schemas.openxmlformats.org/drawingml/2006/main">
            <a:off x="4629150" y="48482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Neighbor RGB difference boundary count</a:t>
            </a:r>
          </a:p>
        </p:txBody>
      </p:sp>
      <p:sp>
        <p:nvSpPr>
          <p:cNvPr id="21" name="">
            <a:extLst xmlns:a="http://schemas.openxmlformats.org/drawingml/2006/main">
              <a:ext uri="{FF2B5EF4-FFF2-40B4-BE49-F238E27FC236}">
                <a16:creationId xmlns:a16="http://schemas.microsoft.com/office/drawing/2014/main" id="{1D23242E-3718-4C3D-8F0A-9C8DB67B3466}"/>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05</a:t>
            </a:r>
          </a:p>
        </p:txBody>
      </p:sp>
    </p:spTree>
    <p:extLst>
      <p:ext uri="{BB962C8B-B14F-4D97-AF65-F5344CB8AC3E}">
        <p14:creationId xmlns:p14="http://schemas.microsoft.com/office/powerpoint/2010/main" val="340753182"/>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ED39E4-530E-4450-B0D8-703FB70F8D0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Neighbor Pixel Difference</a:t>
            </a:r>
          </a:p>
        </p:txBody>
      </p:sp>
      <p:sp>
        <p:nvSpPr>
          <p:cNvPr id="2" name="">
            <a:extLst xmlns:a="http://schemas.openxmlformats.org/drawingml/2006/main">
              <a:ext uri="{FF2B5EF4-FFF2-40B4-BE49-F238E27FC236}">
                <a16:creationId xmlns:a16="http://schemas.microsoft.com/office/drawing/2014/main" id="{80AD0299-1132-4DDB-94BF-3D040682252E}"/>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The object-boundary concept used in the upgrade</a:t>
            </a:r>
          </a:p>
        </p:txBody>
      </p:sp>
      <p:sp>
        <p:nvSpPr>
          <p:cNvPr id="3" name="">
            <a:extLst xmlns:a="http://schemas.openxmlformats.org/drawingml/2006/main">
              <a:ext uri="{FF2B5EF4-FFF2-40B4-BE49-F238E27FC236}">
                <a16:creationId xmlns:a16="http://schemas.microsoft.com/office/drawing/2014/main" id="{5BEA8AD9-1C59-414F-86B6-BD72DE3C5D2E}"/>
              </a:ext>
            </a:extLst>
          </p:cNvPr>
          <p:cNvSpPr>
            <a:spLocks xmlns:a="http://schemas.openxmlformats.org/drawingml/2006/main" noGrp="1"/>
          </p:cNvSpPr>
          <p:nvPr/>
        </p:nvSpPr>
        <p:spPr>
          <a:xfrm xmlns:a="http://schemas.openxmlformats.org/drawingml/2006/main">
            <a:off x="762000" y="1600200"/>
            <a:ext cx="5143500" cy="3733800"/>
          </a:xfrm>
          <a:prstGeom xmlns:a="http://schemas.openxmlformats.org/drawingml/2006/main" prst="roundRect">
            <a:avLst>
              <a:gd name="adj" fmla="val 2041"/>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EBD5E2F8-1D76-426D-9DEB-D431C55EE53F}"/>
              </a:ext>
            </a:extLst>
          </p:cNvPr>
          <p:cNvSpPr>
            <a:spLocks xmlns:a="http://schemas.openxmlformats.org/drawingml/2006/main" noGrp="1"/>
          </p:cNvSpPr>
          <p:nvPr/>
        </p:nvSpPr>
        <p:spPr>
          <a:xfrm xmlns:a="http://schemas.openxmlformats.org/drawingml/2006/main">
            <a:off x="990600" y="1809750"/>
            <a:ext cx="4686300"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For each foreground pixel, compare RGB value with the pixel on the right.</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Also compare RGB value with the pixel below.</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If the color difference exceeds the threshold, count it as an edge point.</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The edge count becomes one feature in the final matching score.</a:t>
            </a:r>
          </a:p>
        </p:txBody>
      </p:sp>
      <p:sp>
        <p:nvSpPr>
          <p:cNvPr id="5" name="">
            <a:extLst xmlns:a="http://schemas.openxmlformats.org/drawingml/2006/main">
              <a:ext uri="{FF2B5EF4-FFF2-40B4-BE49-F238E27FC236}">
                <a16:creationId xmlns:a16="http://schemas.microsoft.com/office/drawing/2014/main" id="{F2C66A10-991D-4ACB-925B-97454B67EDF5}"/>
              </a:ext>
            </a:extLst>
          </p:cNvPr>
          <p:cNvSpPr>
            <a:spLocks xmlns:a="http://schemas.openxmlformats.org/drawingml/2006/main" noGrp="1"/>
          </p:cNvSpPr>
          <p:nvPr/>
        </p:nvSpPr>
        <p:spPr>
          <a:xfrm xmlns:a="http://schemas.openxmlformats.org/drawingml/2006/main">
            <a:off x="6743700" y="2247900"/>
            <a:ext cx="3714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250" b="1">
                <a:solidFill>
                  <a:srgbClr val="DC2626"/>
                </a:solidFill>
                <a:latin typeface="Consolas"/>
                <a:ea typeface="Consolas"/>
                <a:cs typeface="Consolas"/>
              </a:defRPr>
            </a:pPr>
            <a:r>
              <a:rPr sz="2250" b="1">
                <a:solidFill>
                  <a:srgbClr val="DC2626"/>
                </a:solidFill>
                <a:latin typeface="Consolas"/>
                <a:ea typeface="Consolas"/>
                <a:cs typeface="Consolas"/>
              </a:rPr>
              <a:t>edge if</a:t>
            </a:r>
          </a:p>
          <a:p xmlns:a="http://schemas.openxmlformats.org/drawingml/2006/main">
            <a:pPr algn="ctr">
              <a:defRPr sz="2250" b="1">
                <a:solidFill>
                  <a:srgbClr val="DC2626"/>
                </a:solidFill>
                <a:latin typeface="Consolas"/>
                <a:ea typeface="Consolas"/>
                <a:cs typeface="Consolas"/>
              </a:defRPr>
            </a:pPr>
            <a:r>
              <a:rPr sz="2250" b="1">
                <a:solidFill>
                  <a:srgbClr val="DC2626"/>
                </a:solidFill>
                <a:latin typeface="Consolas"/>
                <a:ea typeface="Consolas"/>
                <a:cs typeface="Consolas"/>
              </a:rPr>
              <a:t>|R-Rn| + |G-Gn| + |B-Bn| &gt;= 96</a:t>
            </a:r>
          </a:p>
        </p:txBody>
      </p:sp>
      <p:sp>
        <p:nvSpPr>
          <p:cNvPr id="6" name="">
            <a:extLst xmlns:a="http://schemas.openxmlformats.org/drawingml/2006/main">
              <a:ext uri="{FF2B5EF4-FFF2-40B4-BE49-F238E27FC236}">
                <a16:creationId xmlns:a16="http://schemas.microsoft.com/office/drawing/2014/main" id="{BB0F46A5-9F02-4DFF-9FC1-0AE40305720A}"/>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06</a:t>
            </a:r>
          </a:p>
        </p:txBody>
      </p:sp>
    </p:spTree>
    <p:extLst>
      <p:ext uri="{BB962C8B-B14F-4D97-AF65-F5344CB8AC3E}">
        <p14:creationId xmlns:p14="http://schemas.microsoft.com/office/powerpoint/2010/main" val="1229397350"/>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53B050-D69C-4352-A6BA-76AA93232D26}"/>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Vivado Files</a:t>
            </a:r>
          </a:p>
        </p:txBody>
      </p:sp>
      <p:sp>
        <p:nvSpPr>
          <p:cNvPr id="2" name="">
            <a:extLst xmlns:a="http://schemas.openxmlformats.org/drawingml/2006/main">
              <a:ext uri="{FF2B5EF4-FFF2-40B4-BE49-F238E27FC236}">
                <a16:creationId xmlns:a16="http://schemas.microsoft.com/office/drawing/2014/main" id="{93E51F8F-3943-4A2A-9CF7-795AE31A1B4F}"/>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Files included in the current project</a:t>
            </a:r>
          </a:p>
        </p:txBody>
      </p:sp>
      <p:sp>
        <p:nvSpPr>
          <p:cNvPr id="3" name="">
            <a:extLst xmlns:a="http://schemas.openxmlformats.org/drawingml/2006/main">
              <a:ext uri="{FF2B5EF4-FFF2-40B4-BE49-F238E27FC236}">
                <a16:creationId xmlns:a16="http://schemas.microsoft.com/office/drawing/2014/main" id="{5EDA2088-DDF7-44F1-9997-A52E81AFF2B7}"/>
              </a:ext>
            </a:extLst>
          </p:cNvPr>
          <p:cNvSpPr>
            <a:spLocks xmlns:a="http://schemas.openxmlformats.org/drawingml/2006/main" noGrp="1"/>
          </p:cNvSpPr>
          <p:nvPr/>
        </p:nvSpPr>
        <p:spPr>
          <a:xfrm xmlns:a="http://schemas.openxmlformats.org/drawingml/2006/main">
            <a:off x="762000" y="1504950"/>
            <a:ext cx="106680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A6C9B933-B83C-4B09-8CBC-93023E62C852}"/>
              </a:ext>
            </a:extLst>
          </p:cNvPr>
          <p:cNvSpPr>
            <a:spLocks xmlns:a="http://schemas.openxmlformats.org/drawingml/2006/main" noGrp="1"/>
          </p:cNvSpPr>
          <p:nvPr/>
        </p:nvSpPr>
        <p:spPr>
          <a:xfrm xmlns:a="http://schemas.openxmlformats.org/drawingml/2006/main">
            <a:off x="990600" y="1714500"/>
            <a:ext cx="1021080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two_image_person_identifier_rgb.v: top module</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visual_channel_feature_extractor_rgb.v: RGB feature extractor</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person_reid_matcher.v: weighted feature matcher</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tb_rgb_from_mem.v: simulation entry using image_a_rgb.mem and image_b_rgb.mem</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convert_images_to_rgb_mem.ps1: converts JPG or PNG into 8x8 RGB hex data</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create_vivado_project.tcl: builds the Vivado project</a:t>
            </a:r>
          </a:p>
        </p:txBody>
      </p:sp>
      <p:sp>
        <p:nvSpPr>
          <p:cNvPr id="5" name="">
            <a:extLst xmlns:a="http://schemas.openxmlformats.org/drawingml/2006/main">
              <a:ext uri="{FF2B5EF4-FFF2-40B4-BE49-F238E27FC236}">
                <a16:creationId xmlns:a16="http://schemas.microsoft.com/office/drawing/2014/main" id="{E23B55BE-FA63-4432-ACEB-0E94B10BDFE6}"/>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07</a:t>
            </a:r>
          </a:p>
        </p:txBody>
      </p:sp>
    </p:spTree>
    <p:extLst>
      <p:ext uri="{BB962C8B-B14F-4D97-AF65-F5344CB8AC3E}">
        <p14:creationId xmlns:p14="http://schemas.microsoft.com/office/powerpoint/2010/main" val="288948376"/>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3F13D2-B074-4900-A34F-4A2ACCD41BF5}"/>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Professor Review</a:t>
            </a:r>
          </a:p>
        </p:txBody>
      </p:sp>
      <p:sp>
        <p:nvSpPr>
          <p:cNvPr id="2" name="">
            <a:extLst xmlns:a="http://schemas.openxmlformats.org/drawingml/2006/main">
              <a:ext uri="{FF2B5EF4-FFF2-40B4-BE49-F238E27FC236}">
                <a16:creationId xmlns:a16="http://schemas.microsoft.com/office/drawing/2014/main" id="{FA8445FA-E84F-45DF-9E2A-E47C51663D0E}"/>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Self-check from a stricter viewpoint</a:t>
            </a:r>
          </a:p>
        </p:txBody>
      </p:sp>
      <p:sp>
        <p:nvSpPr>
          <p:cNvPr id="3" name="">
            <a:extLst xmlns:a="http://schemas.openxmlformats.org/drawingml/2006/main">
              <a:ext uri="{FF2B5EF4-FFF2-40B4-BE49-F238E27FC236}">
                <a16:creationId xmlns:a16="http://schemas.microsoft.com/office/drawing/2014/main" id="{056F9F20-0279-4369-A16E-5EFF398B01F8}"/>
              </a:ext>
            </a:extLst>
          </p:cNvPr>
          <p:cNvSpPr>
            <a:spLocks xmlns:a="http://schemas.openxmlformats.org/drawingml/2006/main" noGrp="1"/>
          </p:cNvSpPr>
          <p:nvPr/>
        </p:nvSpPr>
        <p:spPr>
          <a:xfrm xmlns:a="http://schemas.openxmlformats.org/drawingml/2006/main">
            <a:off x="762000" y="1466850"/>
            <a:ext cx="10668000" cy="4095750"/>
          </a:xfrm>
          <a:prstGeom xmlns:a="http://schemas.openxmlformats.org/drawingml/2006/main" prst="roundRect">
            <a:avLst>
              <a:gd name="adj" fmla="val 1860"/>
            </a:avLst>
          </a:prstGeom>
          <a:solidFill xmlns:a="http://schemas.openxmlformats.org/drawingml/2006/main">
            <a:srgbClr val="FFF7ED"/>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49595989-BF51-4A6F-B16B-D0AB333FC9C8}"/>
              </a:ext>
            </a:extLst>
          </p:cNvPr>
          <p:cNvSpPr>
            <a:spLocks xmlns:a="http://schemas.openxmlformats.org/drawingml/2006/main" noGrp="1"/>
          </p:cNvSpPr>
          <p:nvPr/>
        </p:nvSpPr>
        <p:spPr>
          <a:xfrm xmlns:a="http://schemas.openxmlformats.org/drawingml/2006/main">
            <a:off x="990600" y="1676400"/>
            <a:ext cx="10210800" cy="3676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Improvement made: replaced plain brightness with RGB visual-channel and neighbor color-difference edge features.</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Remaining weakness: the image must already be cropped around the person or object.</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Remaining weakness: 8x8 resolution loses detailed clothing patterns.</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Next improvement: add a small background model or ROI selector before feature extraction.</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Next improvement: split the body into more regions, such as head, upper body, pants, and shoes.</a:t>
            </a:r>
          </a:p>
        </p:txBody>
      </p:sp>
      <p:sp>
        <p:nvSpPr>
          <p:cNvPr id="5" name="">
            <a:extLst xmlns:a="http://schemas.openxmlformats.org/drawingml/2006/main">
              <a:ext uri="{FF2B5EF4-FFF2-40B4-BE49-F238E27FC236}">
                <a16:creationId xmlns:a16="http://schemas.microsoft.com/office/drawing/2014/main" id="{4A3FEF4D-55D6-44EF-874D-F49DCA0E04AB}"/>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08</a:t>
            </a:r>
          </a:p>
        </p:txBody>
      </p:sp>
    </p:spTree>
    <p:extLst>
      <p:ext uri="{BB962C8B-B14F-4D97-AF65-F5344CB8AC3E}">
        <p14:creationId xmlns:p14="http://schemas.microsoft.com/office/powerpoint/2010/main" val="899295195"/>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8739F5-C77C-4F48-8501-A2CEBF8F445E}"/>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DB2ECA63-EBCE-4228-84C7-5C579083503D}"/>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567104efc6f4e32"/>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57E220A-337E-4511-8AFC-0EFD59DFD739}"/>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6BEC502D-0239-4579-926D-A9A958B7C6D3}"/>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Define the RGB feature extractor and its image size, pixel width, foreground threshold, color-edge threshold, and minimum object area.</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Declare one flattened RGB image input and the extracted feature outputs: upper/lower color, rod brightness, area, center, edge count, and present flag.</a:t>
            </a:r>
          </a:p>
        </p:txBody>
      </p:sp>
      <p:sp>
        <p:nvSpPr>
          <p:cNvPr id="6" name="">
            <a:extLst xmlns:a="http://schemas.openxmlformats.org/drawingml/2006/main">
              <a:ext uri="{FF2B5EF4-FFF2-40B4-BE49-F238E27FC236}">
                <a16:creationId xmlns:a16="http://schemas.microsoft.com/office/drawing/2014/main" id="{6E7C5933-6CAE-4110-ABCD-FEA6772EBDD5}"/>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F377BBD5-68CB-4E47-B543-C4B5B9E8F816}"/>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09</a:t>
            </a:r>
          </a:p>
        </p:txBody>
      </p:sp>
    </p:spTree>
    <p:extLst>
      <p:ext uri="{BB962C8B-B14F-4D97-AF65-F5344CB8AC3E}">
        <p14:creationId xmlns:p14="http://schemas.microsoft.com/office/powerpoint/2010/main" val="137349209"/>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C0C5FE-5404-4C9B-85BF-0818705854B9}"/>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E96E6F93-963E-4C50-83B8-8D47EF3CB7DF}"/>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11c4b963d8a4b72"/>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610F268-B162-4CDE-BE2B-358C7C7701D8}"/>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1E679015-40C4-4032-9F1E-7BABE9AA3233}"/>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Declare one flattened RGB image input and the extracted feature outputs: upper/lower color, rod brightness, area, center, edge count, and present flag.</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Declare loop indices and temporary pixel values. These registers hold RGB channels, visual-channel values, color differences, and foreground/cone decisions.</a:t>
            </a:r>
          </a:p>
        </p:txBody>
      </p:sp>
      <p:sp>
        <p:nvSpPr>
          <p:cNvPr id="6" name="">
            <a:extLst xmlns:a="http://schemas.openxmlformats.org/drawingml/2006/main">
              <a:ext uri="{FF2B5EF4-FFF2-40B4-BE49-F238E27FC236}">
                <a16:creationId xmlns:a16="http://schemas.microsoft.com/office/drawing/2014/main" id="{90A72C08-A05D-4876-99B5-49409067277F}"/>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C828845D-2CF7-4DDF-92EF-EC11D7C2A6E6}"/>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10</a:t>
            </a:r>
          </a:p>
        </p:txBody>
      </p:sp>
    </p:spTree>
    <p:extLst>
      <p:ext uri="{BB962C8B-B14F-4D97-AF65-F5344CB8AC3E}">
        <p14:creationId xmlns:p14="http://schemas.microsoft.com/office/powerpoint/2010/main" val="2106365311"/>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1D9937-45CE-4916-B416-318045DD2BBF}"/>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DC00979B-848C-4EBF-BFC5-B6F2362FCD25}"/>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708efa2d83849d4"/>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8393C52-AAB2-4901-A9F7-ADE8A4656AC2}"/>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65A7D669-9C14-4728-B2AD-42C448E3A5FB}"/>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Declare loop indices and temporary pixel values. These registers hold RGB channels, visual-channel values, color differences, and foreground/cone decisions.</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Declare accumulators and counters. The circuit scans the image, sums feature values, then divides by the counters to obtain compact descriptors.</a:t>
            </a:r>
          </a:p>
        </p:txBody>
      </p:sp>
      <p:sp>
        <p:nvSpPr>
          <p:cNvPr id="6" name="">
            <a:extLst xmlns:a="http://schemas.openxmlformats.org/drawingml/2006/main">
              <a:ext uri="{FF2B5EF4-FFF2-40B4-BE49-F238E27FC236}">
                <a16:creationId xmlns:a16="http://schemas.microsoft.com/office/drawing/2014/main" id="{B0668B15-7C7A-4E4C-8A4E-83F5D5C62619}"/>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6D641DD8-4B5A-4453-95FE-DC7D150FF8EC}"/>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11</a:t>
            </a:r>
          </a:p>
        </p:txBody>
      </p:sp>
    </p:spTree>
    <p:extLst>
      <p:ext uri="{BB962C8B-B14F-4D97-AF65-F5344CB8AC3E}">
        <p14:creationId xmlns:p14="http://schemas.microsoft.com/office/powerpoint/2010/main" val="520464853"/>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283888-E28E-43C4-8888-08DA041A635D}"/>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CC886809-C8C5-4FBB-ADEA-D09CC06DFD01}"/>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55-72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388b61879d34797"/>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890D1A-03B7-4C9D-B63A-D7AF55849A05}"/>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57B18838-CBE0-4CD0-A5C5-21840C3DCC19}"/>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Declare accumulators and counters. The circuit scans the image, sums feature values, then divides by the counters to obtain compact descriptors.</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Implement max3 and min3. These functions find the largest and smallest RGB channel for the Visual Channel Model.</a:t>
            </a:r>
          </a:p>
        </p:txBody>
      </p:sp>
      <p:sp>
        <p:nvSpPr>
          <p:cNvPr id="6" name="">
            <a:extLst xmlns:a="http://schemas.openxmlformats.org/drawingml/2006/main">
              <a:ext uri="{FF2B5EF4-FFF2-40B4-BE49-F238E27FC236}">
                <a16:creationId xmlns:a16="http://schemas.microsoft.com/office/drawing/2014/main" id="{83D557D6-561C-421A-965F-D9E14F083FD1}"/>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8C304B4D-FAAA-4408-B7C4-06DDDE982B8C}"/>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12</a:t>
            </a:r>
          </a:p>
        </p:txBody>
      </p:sp>
    </p:spTree>
    <p:extLst>
      <p:ext uri="{BB962C8B-B14F-4D97-AF65-F5344CB8AC3E}">
        <p14:creationId xmlns:p14="http://schemas.microsoft.com/office/powerpoint/2010/main" val="933500841"/>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B30791-BABD-4439-A94D-E62652A7654F}"/>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2A0467C0-35DD-415B-A158-C6B2B5057478}"/>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73-90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2e63cf1d7684fec"/>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C675AB7-5151-44F2-85C0-49AFBA17DD76}"/>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A05D193E-ABC7-4ADE-B11A-C5B99A890E91}"/>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Implement max3 and min3. These functions find the largest and smallest RGB channel for the Visual Channel Model.</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Implement mid3. It calculates the middle RGB channel using a widened sum so the arithmetic does not overflow.</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Implement abs_diff. This gives absolute pixel or channel difference without signed arithmetic.</a:t>
            </a:r>
          </a:p>
        </p:txBody>
      </p:sp>
      <p:sp>
        <p:nvSpPr>
          <p:cNvPr id="6" name="">
            <a:extLst xmlns:a="http://schemas.openxmlformats.org/drawingml/2006/main">
              <a:ext uri="{FF2B5EF4-FFF2-40B4-BE49-F238E27FC236}">
                <a16:creationId xmlns:a16="http://schemas.microsoft.com/office/drawing/2014/main" id="{65EB972C-BEB6-42B1-985D-07A96D3FC79F}"/>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F634DA58-43EC-4B39-872B-9487170B6DA1}"/>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13</a:t>
            </a:r>
          </a:p>
        </p:txBody>
      </p:sp>
    </p:spTree>
    <p:extLst>
      <p:ext uri="{BB962C8B-B14F-4D97-AF65-F5344CB8AC3E}">
        <p14:creationId xmlns:p14="http://schemas.microsoft.com/office/powerpoint/2010/main" val="957092898"/>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E72231-33F8-4DA3-AFE3-1C701A176D84}"/>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26D28C5D-7C76-489D-9668-254AB801360C}"/>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91-108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8f51a6319044bcb"/>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9B710A2-3896-4063-B0C1-795577400650}"/>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7DB81584-2FBC-4AC9-8AB5-426B66D06B90}"/>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Implement abs_diff. This gives absolute pixel or channel difference without signed arithmetic.</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Implement get_r/get_g/get_b helper functions. They read a neighbor pixel from the flattened RGB image.</a:t>
            </a:r>
          </a:p>
        </p:txBody>
      </p:sp>
      <p:sp>
        <p:nvSpPr>
          <p:cNvPr id="6" name="">
            <a:extLst xmlns:a="http://schemas.openxmlformats.org/drawingml/2006/main">
              <a:ext uri="{FF2B5EF4-FFF2-40B4-BE49-F238E27FC236}">
                <a16:creationId xmlns:a16="http://schemas.microsoft.com/office/drawing/2014/main" id="{1D3A6C4B-E31C-47A2-9BE0-E8E2FC779061}"/>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8D58546E-D283-488B-90AE-5D5020634FF4}"/>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14</a:t>
            </a:r>
          </a:p>
        </p:txBody>
      </p:sp>
    </p:spTree>
    <p:extLst>
      <p:ext uri="{BB962C8B-B14F-4D97-AF65-F5344CB8AC3E}">
        <p14:creationId xmlns:p14="http://schemas.microsoft.com/office/powerpoint/2010/main" val="328218170"/>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3CE324-1BD7-447E-BE80-AF1523A85DD7}"/>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2B4F0B89-D590-4B45-8792-46C2FE0486A4}"/>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109-126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3d152412cac4fba"/>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B1DDFE3-5A5B-48FB-9F51-D61C826B845A}"/>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92E1EBB9-586A-434C-A499-5ED86C255D74}"/>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Implement get_r/get_g/get_b helper functions. They read a neighbor pixel from the flattened RGB image.</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Start combinational logic and clear all sums and counters before scanning the image.</a:t>
            </a:r>
          </a:p>
        </p:txBody>
      </p:sp>
      <p:sp>
        <p:nvSpPr>
          <p:cNvPr id="6" name="">
            <a:extLst xmlns:a="http://schemas.openxmlformats.org/drawingml/2006/main">
              <a:ext uri="{FF2B5EF4-FFF2-40B4-BE49-F238E27FC236}">
                <a16:creationId xmlns:a16="http://schemas.microsoft.com/office/drawing/2014/main" id="{EDF3BF5E-2A3B-4E33-9F88-4BFE76C8D382}"/>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6689C097-AC5D-4003-8380-4201A8BB7C0F}"/>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15</a:t>
            </a:r>
          </a:p>
        </p:txBody>
      </p:sp>
    </p:spTree>
    <p:extLst>
      <p:ext uri="{BB962C8B-B14F-4D97-AF65-F5344CB8AC3E}">
        <p14:creationId xmlns:p14="http://schemas.microsoft.com/office/powerpoint/2010/main" val="1852213641"/>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3B8176-FD69-4420-907F-C793FBD6BA28}"/>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D6BCE3F3-A676-40C1-8E02-53A45BA247EB}"/>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127-144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bca116a2a8c4674"/>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72BE9D4-9258-47A5-839B-FEBCA3980281}"/>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5F793F7E-6743-4653-B080-C6E6E6EDE5A4}"/>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Start combinational logic and clear all sums and counters before scanning the image.</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Scan all 64 pixels. Each pixel is split into R/G/B, then converted into max, mid, min, grayscale, saturation difference, foreground, and cone/rod state.</a:t>
            </a:r>
          </a:p>
        </p:txBody>
      </p:sp>
      <p:sp>
        <p:nvSpPr>
          <p:cNvPr id="6" name="">
            <a:extLst xmlns:a="http://schemas.openxmlformats.org/drawingml/2006/main">
              <a:ext uri="{FF2B5EF4-FFF2-40B4-BE49-F238E27FC236}">
                <a16:creationId xmlns:a16="http://schemas.microsoft.com/office/drawing/2014/main" id="{B5B166A7-DD72-486A-B21D-5F88F2AA8B98}"/>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DE57E3F2-AE4E-4B88-A28E-5EC7EAEC5780}"/>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16</a:t>
            </a:r>
          </a:p>
        </p:txBody>
      </p:sp>
    </p:spTree>
    <p:extLst>
      <p:ext uri="{BB962C8B-B14F-4D97-AF65-F5344CB8AC3E}">
        <p14:creationId xmlns:p14="http://schemas.microsoft.com/office/powerpoint/2010/main" val="74633540"/>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13A786-A887-40CE-8708-3AA2575778BB}"/>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D65E1E62-7A3A-4488-A6E9-FB3C7C3B40C3}"/>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145-162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e66b00dc92a4442"/>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351ECCD-F070-4484-AC5E-D72E26739811}"/>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5F288188-3A01-40A0-9F5F-39C9F234E746}"/>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Scan all 64 pixels. Each pixel is split into R/G/B, then converted into max, mid, min, grayscale, saturation difference, foreground, and cone/rod state.</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For foreground pixels, update object area and center sums. Cone pixels contribute upper/lower color features. Rod pixels contribute grayscale brightness.</a:t>
            </a:r>
          </a:p>
        </p:txBody>
      </p:sp>
      <p:sp>
        <p:nvSpPr>
          <p:cNvPr id="6" name="">
            <a:extLst xmlns:a="http://schemas.openxmlformats.org/drawingml/2006/main">
              <a:ext uri="{FF2B5EF4-FFF2-40B4-BE49-F238E27FC236}">
                <a16:creationId xmlns:a16="http://schemas.microsoft.com/office/drawing/2014/main" id="{B2E730AD-B9F3-4752-9DAE-772D21BD0AE9}"/>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902F36D2-0885-4A6A-9408-8BB8292C377A}"/>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17</a:t>
            </a:r>
          </a:p>
        </p:txBody>
      </p:sp>
    </p:spTree>
    <p:extLst>
      <p:ext uri="{BB962C8B-B14F-4D97-AF65-F5344CB8AC3E}">
        <p14:creationId xmlns:p14="http://schemas.microsoft.com/office/powerpoint/2010/main" val="1795674879"/>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AAC2F8-8A31-46ED-81FD-EDA18C3C6402}"/>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BEBED4C1-F3CF-42BA-84A1-FB5B1A6CF098}"/>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163-180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e085e70741a4fd9"/>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D9DD254-2DFC-4B69-9265-E8F61728E6D6}"/>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087F1DB5-6D58-458E-8B38-85F8E5D5AFB1}"/>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For foreground pixels, update object area and center sums. Cone pixels contribute upper/lower color features. Rod pixels contribute grayscale brightness.</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Compare the current pixel with the right and lower neighbors. The circuit uses RGB channel differences to find strong local color changes.</a:t>
            </a:r>
          </a:p>
        </p:txBody>
      </p:sp>
      <p:sp>
        <p:nvSpPr>
          <p:cNvPr id="6" name="">
            <a:extLst xmlns:a="http://schemas.openxmlformats.org/drawingml/2006/main">
              <a:ext uri="{FF2B5EF4-FFF2-40B4-BE49-F238E27FC236}">
                <a16:creationId xmlns:a16="http://schemas.microsoft.com/office/drawing/2014/main" id="{845E7F76-2D2B-4279-BFB7-50B18BDCD9DC}"/>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9F7558ED-E053-427E-B18A-A9013C2212D4}"/>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18</a:t>
            </a:r>
          </a:p>
        </p:txBody>
      </p:sp>
    </p:spTree>
    <p:extLst>
      <p:ext uri="{BB962C8B-B14F-4D97-AF65-F5344CB8AC3E}">
        <p14:creationId xmlns:p14="http://schemas.microsoft.com/office/powerpoint/2010/main" val="723031688"/>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C0CA75-BFFD-4B25-87F9-B6AB3357C2E6}"/>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0115D30A-364F-49A7-B047-7CD7EFBB941C}"/>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181-198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a44bc8e7f964e32"/>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B70DCC-053A-4A60-B42F-4A8F8C2A209C}"/>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D59AF420-EFA8-4CE0-9705-5BBDF63B288C}"/>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Compare the current pixel with the right and lower neighbors. The circuit uses RGB channel differences to find strong local color changes.</a:t>
            </a:r>
          </a:p>
        </p:txBody>
      </p:sp>
      <p:sp>
        <p:nvSpPr>
          <p:cNvPr id="6" name="">
            <a:extLst xmlns:a="http://schemas.openxmlformats.org/drawingml/2006/main">
              <a:ext uri="{FF2B5EF4-FFF2-40B4-BE49-F238E27FC236}">
                <a16:creationId xmlns:a16="http://schemas.microsoft.com/office/drawing/2014/main" id="{A1D0DFE3-0E36-423D-ACA7-92EFE8476E1F}"/>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04E575B9-049F-4C42-8AA9-FA296D11BE93}"/>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19</a:t>
            </a:r>
          </a:p>
        </p:txBody>
      </p:sp>
    </p:spTree>
    <p:extLst>
      <p:ext uri="{BB962C8B-B14F-4D97-AF65-F5344CB8AC3E}">
        <p14:creationId xmlns:p14="http://schemas.microsoft.com/office/powerpoint/2010/main" val="1740279118"/>
      </p:ext>
    </p:extLst>
  </p:cSld>
</p:sld>
</file>

<file path=ppt/slides/slide2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70FBC3-6482-40F6-AA86-DAC5CFC04EB8}"/>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7CE1D4D2-A18C-4B42-8847-751FCAA210A6}"/>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199-216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91eae8aca25426d"/>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992F36-073E-4A27-86DD-AE7F3C27E65D}"/>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903F89B5-F120-4CB6-9B34-75459578532C}"/>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If either neighbor difference exceeds the color-edge threshold, count this pixel as an edge or object-boundary point.</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Convert accumulated sums into final compact features and set person_present when enough foreground pixels exist.</a:t>
            </a:r>
          </a:p>
        </p:txBody>
      </p:sp>
      <p:sp>
        <p:nvSpPr>
          <p:cNvPr id="6" name="">
            <a:extLst xmlns:a="http://schemas.openxmlformats.org/drawingml/2006/main">
              <a:ext uri="{FF2B5EF4-FFF2-40B4-BE49-F238E27FC236}">
                <a16:creationId xmlns:a16="http://schemas.microsoft.com/office/drawing/2014/main" id="{8748CE8D-442E-4381-A370-9466C3DF542E}"/>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48C36B51-1A33-46BE-814F-297ED1BEC3F8}"/>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20</a:t>
            </a:r>
          </a:p>
        </p:txBody>
      </p:sp>
    </p:spTree>
    <p:extLst>
      <p:ext uri="{BB962C8B-B14F-4D97-AF65-F5344CB8AC3E}">
        <p14:creationId xmlns:p14="http://schemas.microsoft.com/office/powerpoint/2010/main" val="1691468880"/>
      </p:ext>
    </p:extLst>
  </p:cSld>
</p:sld>
</file>

<file path=ppt/slides/slide2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FE816B-587B-4F61-96EC-A78AAF9B7C57}"/>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D9A8F451-6DD2-43D0-9DF6-DCB05CCFC5FA}"/>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217-219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e9c16acff374654"/>
          <a:stretch xmlns:a="http://schemas.openxmlformats.org/drawingml/2006/main"/>
        </p:blipFill>
        <p:spPr>
          <a:xfrm xmlns:a="http://schemas.openxmlformats.org/drawingml/2006/main">
            <a:off x="457200" y="3184398"/>
            <a:ext cx="6896100" cy="96545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CD870E8-AAE9-4A82-9C85-BBD9EC314CEF}"/>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F32EEEE3-B815-47B9-8253-9F54ECF53A64}"/>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Close the combinational block and module.</a:t>
            </a:r>
          </a:p>
        </p:txBody>
      </p:sp>
      <p:sp>
        <p:nvSpPr>
          <p:cNvPr id="6" name="">
            <a:extLst xmlns:a="http://schemas.openxmlformats.org/drawingml/2006/main">
              <a:ext uri="{FF2B5EF4-FFF2-40B4-BE49-F238E27FC236}">
                <a16:creationId xmlns:a16="http://schemas.microsoft.com/office/drawing/2014/main" id="{CB0B6FA8-E974-471C-93C3-B88FA091F804}"/>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754579C5-9C6A-4F4B-B652-C672A99ECD4C}"/>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21</a:t>
            </a:r>
          </a:p>
        </p:txBody>
      </p:sp>
    </p:spTree>
    <p:extLst>
      <p:ext uri="{BB962C8B-B14F-4D97-AF65-F5344CB8AC3E}">
        <p14:creationId xmlns:p14="http://schemas.microsoft.com/office/powerpoint/2010/main" val="1992306154"/>
      </p:ext>
    </p:extLst>
  </p:cSld>
</p:sld>
</file>

<file path=ppt/slides/slide2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333957-82EF-45E0-B158-28D1E3C5215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2B75305F-3699-4D52-B461-61BDFDD998DD}"/>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e42aa3c7218465b"/>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2417A57-3979-412A-8FAA-8AA8D5DD21D9}"/>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A8FF31AA-4769-45F0-A20A-B2F3E4FD8BAC}"/>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Define the matcher module and the score threshold. A smaller score means two extracted feature vectors are more similar.</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Receive the full feature vector from image A and image B: body color, rod brightness, object area, center position, and edge count.</a:t>
            </a:r>
          </a:p>
        </p:txBody>
      </p:sp>
      <p:sp>
        <p:nvSpPr>
          <p:cNvPr id="6" name="">
            <a:extLst xmlns:a="http://schemas.openxmlformats.org/drawingml/2006/main">
              <a:ext uri="{FF2B5EF4-FFF2-40B4-BE49-F238E27FC236}">
                <a16:creationId xmlns:a16="http://schemas.microsoft.com/office/drawing/2014/main" id="{F62F7E46-3ACB-479B-8164-704308AC7C23}"/>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7CA275AE-2B35-4355-A263-B89388BA9C38}"/>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22</a:t>
            </a:r>
          </a:p>
        </p:txBody>
      </p:sp>
    </p:spTree>
    <p:extLst>
      <p:ext uri="{BB962C8B-B14F-4D97-AF65-F5344CB8AC3E}">
        <p14:creationId xmlns:p14="http://schemas.microsoft.com/office/powerpoint/2010/main" val="101085736"/>
      </p:ext>
    </p:extLst>
  </p:cSld>
</p:sld>
</file>

<file path=ppt/slides/slide2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CDB49F-159D-4B66-A21C-1F4480323E06}"/>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842653FA-9534-4B7B-9C0F-AD7D2E762EB0}"/>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822f174084f490a"/>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8D6EC5B-0428-4162-A662-10F34EDDBABB}"/>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2D8768C1-F22B-422E-9E84-452C81B39BFA}"/>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Receive the full feature vector from image A and image B: body color, rod brightness, object area, center position, and edge count.</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Expose similarity_score and same_person. These are the final comparison outputs from this module.</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Define absolute-difference helpers for 8-bit, 7-bit, and 4-bit features so each feature can be compared safely.</a:t>
            </a:r>
          </a:p>
        </p:txBody>
      </p:sp>
      <p:sp>
        <p:nvSpPr>
          <p:cNvPr id="6" name="">
            <a:extLst xmlns:a="http://schemas.openxmlformats.org/drawingml/2006/main">
              <a:ext uri="{FF2B5EF4-FFF2-40B4-BE49-F238E27FC236}">
                <a16:creationId xmlns:a16="http://schemas.microsoft.com/office/drawing/2014/main" id="{48D398DB-74E3-4734-AFBD-FB2BCC41B58F}"/>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360E05E6-B2CF-4765-BC93-DEABD0EF595A}"/>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23</a:t>
            </a:r>
          </a:p>
        </p:txBody>
      </p:sp>
    </p:spTree>
    <p:extLst>
      <p:ext uri="{BB962C8B-B14F-4D97-AF65-F5344CB8AC3E}">
        <p14:creationId xmlns:p14="http://schemas.microsoft.com/office/powerpoint/2010/main" val="1418688071"/>
      </p:ext>
    </p:extLst>
  </p:cSld>
</p:sld>
</file>

<file path=ppt/slides/slide2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817389-03AE-4070-825A-17B7E4E4F7C9}"/>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E85E5BB1-FF87-4C37-982D-8EB76BDFB569}"/>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d13290991d741e7"/>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6E513FB-2650-4E30-B1E4-2EC3FF084FCE}"/>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7D6697CC-4628-49E3-85EC-409FF6026804}"/>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Define absolute-difference helpers for 8-bit, 7-bit, and 4-bit features so each feature can be compared safely.</a:t>
            </a:r>
          </a:p>
        </p:txBody>
      </p:sp>
      <p:sp>
        <p:nvSpPr>
          <p:cNvPr id="6" name="">
            <a:extLst xmlns:a="http://schemas.openxmlformats.org/drawingml/2006/main">
              <a:ext uri="{FF2B5EF4-FFF2-40B4-BE49-F238E27FC236}">
                <a16:creationId xmlns:a16="http://schemas.microsoft.com/office/drawing/2014/main" id="{7499700E-C08A-4131-B712-C642559115D2}"/>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9937EBFF-9118-464F-A4C8-753AD130A8E8}"/>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24</a:t>
            </a:r>
          </a:p>
        </p:txBody>
      </p:sp>
    </p:spTree>
    <p:extLst>
      <p:ext uri="{BB962C8B-B14F-4D97-AF65-F5344CB8AC3E}">
        <p14:creationId xmlns:p14="http://schemas.microsoft.com/office/powerpoint/2010/main" val="944745685"/>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08A626-585F-4957-ADC9-BA7EE524D205}"/>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31CA1FEA-2C4E-4811-9B24-584DBE851FAD}"/>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55-72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134e1f6f3cb4ec1"/>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06EF51F-1E04-49C2-9278-DA6FD32F8604}"/>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C7C491AC-0403-4CCD-897E-C34971122F5C}"/>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Define absolute-difference helpers for 8-bit, 7-bit, and 4-bit features so each feature can be compared safely.</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Calculate each feature distance separately. This keeps the result explainable and matches the paper idea of combining color, location, and area terms.</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Build the weighted score. Color features receive higher weight, while area, center, rod brightness, and edge count provide extra evidence.</a:t>
            </a:r>
          </a:p>
        </p:txBody>
      </p:sp>
      <p:sp>
        <p:nvSpPr>
          <p:cNvPr id="6" name="">
            <a:extLst xmlns:a="http://schemas.openxmlformats.org/drawingml/2006/main">
              <a:ext uri="{FF2B5EF4-FFF2-40B4-BE49-F238E27FC236}">
                <a16:creationId xmlns:a16="http://schemas.microsoft.com/office/drawing/2014/main" id="{E903B245-8C46-4DE9-BF3A-BBA382ED6331}"/>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5886764B-06F9-4717-BAB4-06FDC0A7B863}"/>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25</a:t>
            </a:r>
          </a:p>
        </p:txBody>
      </p:sp>
    </p:spTree>
    <p:extLst>
      <p:ext uri="{BB962C8B-B14F-4D97-AF65-F5344CB8AC3E}">
        <p14:creationId xmlns:p14="http://schemas.microsoft.com/office/powerpoint/2010/main" val="832394682"/>
      </p:ext>
    </p:extLst>
  </p:cSld>
</p:sld>
</file>

<file path=ppt/slides/slide2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86E9E2-82AD-4FC8-AF1A-09635E5858A6}"/>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C84F6276-6A1F-4D05-B7DF-A7627855D19B}"/>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73-76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56140d997514c9c"/>
          <a:stretch xmlns:a="http://schemas.openxmlformats.org/drawingml/2006/main"/>
        </p:blipFill>
        <p:spPr>
          <a:xfrm xmlns:a="http://schemas.openxmlformats.org/drawingml/2006/main">
            <a:off x="457200" y="3115437"/>
            <a:ext cx="6896100" cy="110337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EAABE4-67FD-4517-BCD8-BAA9F97B9734}"/>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E53AEC20-C969-4BA0-834A-C1F0B0023EC0}"/>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Compare the score with the threshold and close the module.</a:t>
            </a:r>
          </a:p>
        </p:txBody>
      </p:sp>
      <p:sp>
        <p:nvSpPr>
          <p:cNvPr id="6" name="">
            <a:extLst xmlns:a="http://schemas.openxmlformats.org/drawingml/2006/main">
              <a:ext uri="{FF2B5EF4-FFF2-40B4-BE49-F238E27FC236}">
                <a16:creationId xmlns:a16="http://schemas.microsoft.com/office/drawing/2014/main" id="{3187FCC8-7E80-4B1A-95D5-27FA13303E14}"/>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DC101015-A560-4664-85A2-9E56D30D95B1}"/>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26</a:t>
            </a:r>
          </a:p>
        </p:txBody>
      </p:sp>
    </p:spTree>
    <p:extLst>
      <p:ext uri="{BB962C8B-B14F-4D97-AF65-F5344CB8AC3E}">
        <p14:creationId xmlns:p14="http://schemas.microsoft.com/office/powerpoint/2010/main" val="70307099"/>
      </p:ext>
    </p:extLst>
  </p:cSld>
</p:sld>
</file>

<file path=ppt/slides/slide2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7938F5-22F4-467E-9CC4-A8F6C7CE7401}"/>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15CC3F88-4F66-4F00-872B-A00D6C259F81}"/>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171c53853b74c34"/>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BEA030E-A28C-442C-B2A0-9F2FAF7A95C3}"/>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73F93236-8D75-41ED-AE73-C93745D5CA76}"/>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Define the top-level RGB two-image identifier with image size, pixel width, score width, and threshold parameters.</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Receive two flattened RGB images and expose score, person-present flags, and the final same_person output.</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Declare internal wires for all features extracted from image A and image B.</a:t>
            </a:r>
          </a:p>
        </p:txBody>
      </p:sp>
      <p:sp>
        <p:nvSpPr>
          <p:cNvPr id="6" name="">
            <a:extLst xmlns:a="http://schemas.openxmlformats.org/drawingml/2006/main">
              <a:ext uri="{FF2B5EF4-FFF2-40B4-BE49-F238E27FC236}">
                <a16:creationId xmlns:a16="http://schemas.microsoft.com/office/drawing/2014/main" id="{A745EF29-2611-414D-94B0-61A21DB1BBEB}"/>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B3C60F13-065F-4AE1-816C-BBF8B2CC3377}"/>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27</a:t>
            </a:r>
          </a:p>
        </p:txBody>
      </p:sp>
    </p:spTree>
    <p:extLst>
      <p:ext uri="{BB962C8B-B14F-4D97-AF65-F5344CB8AC3E}">
        <p14:creationId xmlns:p14="http://schemas.microsoft.com/office/powerpoint/2010/main" val="1696501664"/>
      </p:ext>
    </p:extLst>
  </p:cSld>
</p:sld>
</file>

<file path=ppt/slides/slide2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1F25C6-EF29-4234-BE9F-26C2EE03996D}"/>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FC1CB6FC-4F76-43AF-8728-2E67A6AEF449}"/>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916d694fc244dcd"/>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10ACDB3-9B75-4DE3-8EF6-4823FCA47939}"/>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851A54DA-64B5-481C-9E4B-AABA2C315EA8}"/>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Declare internal wires for all features extracted from image A and image B.</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Instantiate the first visual-channel feature extractor for image A.</a:t>
            </a:r>
          </a:p>
        </p:txBody>
      </p:sp>
      <p:sp>
        <p:nvSpPr>
          <p:cNvPr id="6" name="">
            <a:extLst xmlns:a="http://schemas.openxmlformats.org/drawingml/2006/main">
              <a:ext uri="{FF2B5EF4-FFF2-40B4-BE49-F238E27FC236}">
                <a16:creationId xmlns:a16="http://schemas.microsoft.com/office/drawing/2014/main" id="{85F7C762-5064-482A-98A4-C778EE0B59A1}"/>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EC74AE56-9C9B-4EE8-BD8F-3C3FCD8B27A6}"/>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28</a:t>
            </a:r>
          </a:p>
        </p:txBody>
      </p:sp>
    </p:spTree>
    <p:extLst>
      <p:ext uri="{BB962C8B-B14F-4D97-AF65-F5344CB8AC3E}">
        <p14:creationId xmlns:p14="http://schemas.microsoft.com/office/powerpoint/2010/main" val="970052529"/>
      </p:ext>
    </p:extLst>
  </p:cSld>
</p:sld>
</file>

<file path=ppt/slides/slide2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7AC143-A0EE-4ACC-95A6-F10061D89DBA}"/>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8341B95F-910D-4A05-A566-16D04CC244D2}"/>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57c99d75cf74a6f"/>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E49B93A-F936-4AC5-9E26-D36B4A82E18B}"/>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4C6A023C-337E-49AB-B346-4C27E50A37D0}"/>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Instantiate the first visual-channel feature extractor for image A.</a:t>
            </a:r>
          </a:p>
        </p:txBody>
      </p:sp>
      <p:sp>
        <p:nvSpPr>
          <p:cNvPr id="6" name="">
            <a:extLst xmlns:a="http://schemas.openxmlformats.org/drawingml/2006/main">
              <a:ext uri="{FF2B5EF4-FFF2-40B4-BE49-F238E27FC236}">
                <a16:creationId xmlns:a16="http://schemas.microsoft.com/office/drawing/2014/main" id="{A8D73309-EF74-4E4B-82D5-06ED9F72BBF5}"/>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29FD831A-D744-490A-960A-CE431754353E}"/>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29</a:t>
            </a:r>
          </a:p>
        </p:txBody>
      </p:sp>
    </p:spTree>
    <p:extLst>
      <p:ext uri="{BB962C8B-B14F-4D97-AF65-F5344CB8AC3E}">
        <p14:creationId xmlns:p14="http://schemas.microsoft.com/office/powerpoint/2010/main" val="1485003271"/>
      </p:ext>
    </p:extLst>
  </p:cSld>
</p:sld>
</file>

<file path=ppt/slides/slide3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17D96C-6CF3-4749-8AB7-0EEE3364A445}"/>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2EAF7149-E286-4CE6-B4EB-DD0BCF768704}"/>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55-72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4b15bbb2dc34f77"/>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FB20C4-E124-4195-B3DB-2C2A730D2905}"/>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E8BFD9F3-2C05-482C-9043-4CCF8897A6E2}"/>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Instantiate the second visual-channel feature extractor for image B.</a:t>
            </a:r>
          </a:p>
        </p:txBody>
      </p:sp>
      <p:sp>
        <p:nvSpPr>
          <p:cNvPr id="6" name="">
            <a:extLst xmlns:a="http://schemas.openxmlformats.org/drawingml/2006/main">
              <a:ext uri="{FF2B5EF4-FFF2-40B4-BE49-F238E27FC236}">
                <a16:creationId xmlns:a16="http://schemas.microsoft.com/office/drawing/2014/main" id="{83D5DAB7-610E-4D6D-9130-E127EB4B0726}"/>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BD22432F-FCA2-4698-8FFF-A3AAE837C470}"/>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30</a:t>
            </a:r>
          </a:p>
        </p:txBody>
      </p:sp>
    </p:spTree>
    <p:extLst>
      <p:ext uri="{BB962C8B-B14F-4D97-AF65-F5344CB8AC3E}">
        <p14:creationId xmlns:p14="http://schemas.microsoft.com/office/powerpoint/2010/main" val="2076817972"/>
      </p:ext>
    </p:extLst>
  </p:cSld>
</p:sld>
</file>

<file path=ppt/slides/slide3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48647F-3162-4816-8C94-FE63C48E9216}"/>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E99C6DDD-2068-4993-89B0-A3930F9E3BA0}"/>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73-90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249b75ec1d341a8"/>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C08B0EC-EA50-4CE1-9096-84FF16B89820}"/>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2448E54D-9468-4C15-8668-9377AE38478F}"/>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Instantiate the re-identification matcher and connect both images' feature vectors into it.</a:t>
            </a:r>
          </a:p>
        </p:txBody>
      </p:sp>
      <p:sp>
        <p:nvSpPr>
          <p:cNvPr id="6" name="">
            <a:extLst xmlns:a="http://schemas.openxmlformats.org/drawingml/2006/main">
              <a:ext uri="{FF2B5EF4-FFF2-40B4-BE49-F238E27FC236}">
                <a16:creationId xmlns:a16="http://schemas.microsoft.com/office/drawing/2014/main" id="{789B62C4-95B8-4A41-BC3A-06DCF0D797B8}"/>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80BEC13A-A138-4822-A8B9-B096CD38ADD3}"/>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31</a:t>
            </a:r>
          </a:p>
        </p:txBody>
      </p:sp>
    </p:spTree>
    <p:extLst>
      <p:ext uri="{BB962C8B-B14F-4D97-AF65-F5344CB8AC3E}">
        <p14:creationId xmlns:p14="http://schemas.microsoft.com/office/powerpoint/2010/main" val="652479499"/>
      </p:ext>
    </p:extLst>
  </p:cSld>
</p:sld>
</file>

<file path=ppt/slides/slide3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569EF3-FD15-4AC0-A2BD-BC1C6768FC82}"/>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DF6EF9B5-1606-4067-8778-B1143ADA0336}"/>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91-101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97b986d36a34e04"/>
          <a:stretch xmlns:a="http://schemas.openxmlformats.org/drawingml/2006/main"/>
        </p:blipFill>
        <p:spPr>
          <a:xfrm xmlns:a="http://schemas.openxmlformats.org/drawingml/2006/main">
            <a:off x="457200" y="2632710"/>
            <a:ext cx="6896100" cy="206883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4260FEE-393C-4BC8-874A-9BFAF0CCC89E}"/>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93A1BA56-9ECA-4EC2-98CB-768760A81FC4}"/>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Instantiate the re-identification matcher and connect both images' feature vectors into it.</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Accept the match only when both images contain an object and the feature score passes the threshold.</a:t>
            </a:r>
          </a:p>
        </p:txBody>
      </p:sp>
      <p:sp>
        <p:nvSpPr>
          <p:cNvPr id="6" name="">
            <a:extLst xmlns:a="http://schemas.openxmlformats.org/drawingml/2006/main">
              <a:ext uri="{FF2B5EF4-FFF2-40B4-BE49-F238E27FC236}">
                <a16:creationId xmlns:a16="http://schemas.microsoft.com/office/drawing/2014/main" id="{B5A2583C-973A-44BF-8106-2FE09DBB385D}"/>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A1D6E1F6-8AE9-405C-A5F4-D89702767B1C}"/>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32</a:t>
            </a:r>
          </a:p>
        </p:txBody>
      </p:sp>
    </p:spTree>
    <p:extLst>
      <p:ext uri="{BB962C8B-B14F-4D97-AF65-F5344CB8AC3E}">
        <p14:creationId xmlns:p14="http://schemas.microsoft.com/office/powerpoint/2010/main" val="837349337"/>
      </p:ext>
    </p:extLst>
  </p:cSld>
</p:sld>
</file>

<file path=ppt/slides/slide3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7AF89C-A91B-46E1-9197-E5FBAECB8A7F}"/>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80839107-91B4-4D50-8E05-D944AA430329}"/>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1e8270369154f04"/>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A9FFDD-DD9E-4B39-B9C3-4C7E9267A8E4}"/>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8050A107-BCCF-4444-8204-94A2AD13FADF}"/>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Define the simulation testbench and the 8x8 RGB image parameters.</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Declare memory arrays, flattened image buses, and wires for the outputs produced by the top module.</a:t>
            </a:r>
          </a:p>
        </p:txBody>
      </p:sp>
      <p:sp>
        <p:nvSpPr>
          <p:cNvPr id="6" name="">
            <a:extLst xmlns:a="http://schemas.openxmlformats.org/drawingml/2006/main">
              <a:ext uri="{FF2B5EF4-FFF2-40B4-BE49-F238E27FC236}">
                <a16:creationId xmlns:a16="http://schemas.microsoft.com/office/drawing/2014/main" id="{E8EF9855-A0A9-433A-A3A4-6252EDB2C704}"/>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4090F08F-E0CF-4296-B689-42E06339CE6F}"/>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33</a:t>
            </a:r>
          </a:p>
        </p:txBody>
      </p:sp>
    </p:spTree>
    <p:extLst>
      <p:ext uri="{BB962C8B-B14F-4D97-AF65-F5344CB8AC3E}">
        <p14:creationId xmlns:p14="http://schemas.microsoft.com/office/powerpoint/2010/main" val="657336671"/>
      </p:ext>
    </p:extLst>
  </p:cSld>
</p:sld>
</file>

<file path=ppt/slides/slide3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5771F7-7729-4311-8A05-A0BEF3EDDC79}"/>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D57851EB-1DA0-4CC7-940C-6349A11840FC}"/>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96bb3a1f2894c75"/>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10FF1A4-5D09-47EB-81E4-AD568358AC3A}"/>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81FC3F2F-132D-4941-819E-7EACF9EE4A29}"/>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Declare memory arrays, flattened image buses, and wires for the outputs produced by the top module.</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Instantiate the RGB top module as the design under test.</a:t>
            </a:r>
          </a:p>
        </p:txBody>
      </p:sp>
      <p:sp>
        <p:nvSpPr>
          <p:cNvPr id="6" name="">
            <a:extLst xmlns:a="http://schemas.openxmlformats.org/drawingml/2006/main">
              <a:ext uri="{FF2B5EF4-FFF2-40B4-BE49-F238E27FC236}">
                <a16:creationId xmlns:a16="http://schemas.microsoft.com/office/drawing/2014/main" id="{D1DA6CB9-342D-476A-BD11-8BA09AC09825}"/>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EE223129-FEDC-4DED-8E1A-D0E16BCDE743}"/>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34</a:t>
            </a:r>
          </a:p>
        </p:txBody>
      </p:sp>
    </p:spTree>
    <p:extLst>
      <p:ext uri="{BB962C8B-B14F-4D97-AF65-F5344CB8AC3E}">
        <p14:creationId xmlns:p14="http://schemas.microsoft.com/office/powerpoint/2010/main" val="624298599"/>
      </p:ext>
    </p:extLst>
  </p:cSld>
</p:sld>
</file>

<file path=ppt/slides/slide3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AB4808-B89C-4D3E-924B-A728014B785F}"/>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E2834EAE-8810-4F8D-980A-4ADF0F5166AA}"/>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0595293bb8a433f"/>
          <a:stretch xmlns:a="http://schemas.openxmlformats.org/drawingml/2006/main"/>
        </p:blipFill>
        <p:spPr>
          <a:xfrm xmlns:a="http://schemas.openxmlformats.org/drawingml/2006/main">
            <a:off x="457200" y="2149983"/>
            <a:ext cx="6896100" cy="30342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F7462E-2E66-4582-9326-7A8750EAC65D}"/>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D5300ECD-C088-41B9-9E9C-832ABA7FAA4C}"/>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Read image_a_rgb.mem and image_b_rgb.mem. Each line in the file is one 24-bit RGB pixel.</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Pack the 64 RGB pixels into the flattened image buses expected by the top module.</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Wait for combinational logic to settle and print score, object-present flags, and same_person.</a:t>
            </a:r>
          </a:p>
        </p:txBody>
      </p:sp>
      <p:sp>
        <p:nvSpPr>
          <p:cNvPr id="6" name="">
            <a:extLst xmlns:a="http://schemas.openxmlformats.org/drawingml/2006/main">
              <a:ext uri="{FF2B5EF4-FFF2-40B4-BE49-F238E27FC236}">
                <a16:creationId xmlns:a16="http://schemas.microsoft.com/office/drawing/2014/main" id="{B3D85416-902D-4858-9E5D-23ACBA3B7DAA}"/>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8418C6B6-74BC-44D1-8BF2-815C09340036}"/>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35</a:t>
            </a:r>
          </a:p>
        </p:txBody>
      </p:sp>
    </p:spTree>
    <p:extLst>
      <p:ext uri="{BB962C8B-B14F-4D97-AF65-F5344CB8AC3E}">
        <p14:creationId xmlns:p14="http://schemas.microsoft.com/office/powerpoint/2010/main" val="1006904699"/>
      </p:ext>
    </p:extLst>
  </p:cSld>
</p:sld>
</file>

<file path=ppt/slides/slide3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538C37-6690-446F-9142-9186DF497C7A}"/>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BD5E4825-96BC-465B-9BB9-5CFCC3A40F9C}"/>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55-69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6a4ca1a2e57438a"/>
          <a:stretch xmlns:a="http://schemas.openxmlformats.org/drawingml/2006/main"/>
        </p:blipFill>
        <p:spPr>
          <a:xfrm xmlns:a="http://schemas.openxmlformats.org/drawingml/2006/main">
            <a:off x="457200" y="2356866"/>
            <a:ext cx="6896100" cy="262051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FF2AD3E-A152-49E2-B9FE-3604323A5D24}"/>
              </a:ext>
            </a:extLst>
          </p:cNvPr>
          <p:cNvSpPr>
            <a:spLocks xmlns:a="http://schemas.openxmlformats.org/drawingml/2006/main" noGrp="1"/>
          </p:cNvSpPr>
          <p:nvPr/>
        </p:nvSpPr>
        <p:spPr>
          <a:xfrm xmlns:a="http://schemas.openxmlformats.org/drawingml/2006/main">
            <a:off x="7658100" y="1352550"/>
            <a:ext cx="3810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BD5E1"/>
            </a:solidFill>
          </a:ln>
        </p:spPr>
      </p:sp>
      <p:sp>
        <p:nvSpPr>
          <p:cNvPr id="5" name="">
            <a:extLst xmlns:a="http://schemas.openxmlformats.org/drawingml/2006/main">
              <a:ext uri="{FF2B5EF4-FFF2-40B4-BE49-F238E27FC236}">
                <a16:creationId xmlns:a16="http://schemas.microsoft.com/office/drawing/2014/main" id="{7ACA9543-4EC4-4B99-9C68-2B6A8DD14D29}"/>
              </a:ext>
            </a:extLst>
          </p:cNvPr>
          <p:cNvSpPr>
            <a:spLocks xmlns:a="http://schemas.openxmlformats.org/drawingml/2006/main" noGrp="1"/>
          </p:cNvSpPr>
          <p:nvPr/>
        </p:nvSpPr>
        <p:spPr>
          <a:xfrm xmlns:a="http://schemas.openxmlformats.org/drawingml/2006/main">
            <a:off x="7886700" y="1562100"/>
            <a:ext cx="33528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Wait for combinational logic to settle and print score, object-present flags, and same_person.</a:t>
            </a:r>
          </a:p>
          <a:p xmlns:a="http://schemas.openxmlformats.org/drawingml/2006/main">
            <a:pPr algn="l">
              <a:defRPr sz="1275" b="0">
                <a:solidFill>
                  <a:srgbClr val="0F172A"/>
                </a:solidFill>
                <a:latin typeface="Microsoft JhengHei"/>
                <a:ea typeface="Microsoft JhengHei"/>
                <a:cs typeface="Microsoft JhengHei"/>
              </a:defRPr>
            </a:pPr>
            <a:r>
              <a:rPr sz="1275" b="0">
                <a:solidFill>
                  <a:srgbClr val="0F172A"/>
                </a:solidFill>
                <a:latin typeface="Microsoft JhengHei"/>
                <a:ea typeface="Microsoft JhengHei"/>
                <a:cs typeface="Microsoft JhengHei"/>
              </a:rPr>
              <a:t>- Print a plain-language result and end the simulation.</a:t>
            </a:r>
          </a:p>
        </p:txBody>
      </p:sp>
      <p:sp>
        <p:nvSpPr>
          <p:cNvPr id="6" name="">
            <a:extLst xmlns:a="http://schemas.openxmlformats.org/drawingml/2006/main">
              <a:ext uri="{FF2B5EF4-FFF2-40B4-BE49-F238E27FC236}">
                <a16:creationId xmlns:a16="http://schemas.microsoft.com/office/drawing/2014/main" id="{485BE1E3-A382-4C30-A441-935184C0B5C7}"/>
              </a:ext>
            </a:extLst>
          </p:cNvPr>
          <p:cNvSpPr>
            <a:spLocks xmlns:a="http://schemas.openxmlformats.org/drawingml/2006/main" noGrp="1"/>
          </p:cNvSpPr>
          <p:nvPr/>
        </p:nvSpPr>
        <p:spPr>
          <a:xfrm xmlns:a="http://schemas.openxmlformats.org/drawingml/2006/main">
            <a:off x="7677150" y="5295900"/>
            <a:ext cx="373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lgn="l">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Speaker notes include the exact code lines for this screenshot.</a:t>
            </a:r>
          </a:p>
        </p:txBody>
      </p:sp>
      <p:sp>
        <p:nvSpPr>
          <p:cNvPr id="7" name="">
            <a:extLst xmlns:a="http://schemas.openxmlformats.org/drawingml/2006/main">
              <a:ext uri="{FF2B5EF4-FFF2-40B4-BE49-F238E27FC236}">
                <a16:creationId xmlns:a16="http://schemas.microsoft.com/office/drawing/2014/main" id="{62ED3D3A-039F-4C3C-B100-A5E8A71BBA69}"/>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36</a:t>
            </a:r>
          </a:p>
        </p:txBody>
      </p:sp>
    </p:spTree>
    <p:extLst>
      <p:ext uri="{BB962C8B-B14F-4D97-AF65-F5344CB8AC3E}">
        <p14:creationId xmlns:p14="http://schemas.microsoft.com/office/powerpoint/2010/main" val="1411204249"/>
      </p:ext>
    </p:extLst>
  </p:cSld>
</p:sld>
</file>

<file path=ppt/slides/slide3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996246-E376-4A4B-8C9E-2ED9675FFC86}"/>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How to Run</a:t>
            </a:r>
          </a:p>
        </p:txBody>
      </p:sp>
      <p:sp>
        <p:nvSpPr>
          <p:cNvPr id="2" name="">
            <a:extLst xmlns:a="http://schemas.openxmlformats.org/drawingml/2006/main">
              <a:ext uri="{FF2B5EF4-FFF2-40B4-BE49-F238E27FC236}">
                <a16:creationId xmlns:a16="http://schemas.microsoft.com/office/drawing/2014/main" id="{4DB76AE2-DAD7-484B-AE8A-691D6C7AD3F9}"/>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Demo steps for Vivado or simulation</a:t>
            </a:r>
          </a:p>
        </p:txBody>
      </p:sp>
      <p:sp>
        <p:nvSpPr>
          <p:cNvPr id="3" name="">
            <a:extLst xmlns:a="http://schemas.openxmlformats.org/drawingml/2006/main">
              <a:ext uri="{FF2B5EF4-FFF2-40B4-BE49-F238E27FC236}">
                <a16:creationId xmlns:a16="http://schemas.microsoft.com/office/drawing/2014/main" id="{DBA032AC-DBA2-4E86-9339-08DBFE71CA6F}"/>
              </a:ext>
            </a:extLst>
          </p:cNvPr>
          <p:cNvSpPr>
            <a:spLocks xmlns:a="http://schemas.openxmlformats.org/drawingml/2006/main" noGrp="1"/>
          </p:cNvSpPr>
          <p:nvPr/>
        </p:nvSpPr>
        <p:spPr>
          <a:xfrm xmlns:a="http://schemas.openxmlformats.org/drawingml/2006/main">
            <a:off x="762000" y="1504950"/>
            <a:ext cx="106680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EC96C601-3CF1-4046-893C-1FDFBC95B8AA}"/>
              </a:ext>
            </a:extLst>
          </p:cNvPr>
          <p:cNvSpPr>
            <a:spLocks xmlns:a="http://schemas.openxmlformats.org/drawingml/2006/main" noGrp="1"/>
          </p:cNvSpPr>
          <p:nvPr/>
        </p:nvSpPr>
        <p:spPr>
          <a:xfrm xmlns:a="http://schemas.openxmlformats.org/drawingml/2006/main">
            <a:off x="990600" y="1714500"/>
            <a:ext cx="10210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Put two cropped person images in verilog_demo, for example person_a.jpg and person_b.jpg.</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Run convert_images_to_rgb_mem.ps1 to create image_a_rgb.mem and image_b_rgb.mem.</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In Vivado or ModelSim, run run_rgb_from_mem.do.</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Read similarity_score and same_person in the simulation console.</a:t>
            </a:r>
          </a:p>
        </p:txBody>
      </p:sp>
      <p:sp>
        <p:nvSpPr>
          <p:cNvPr id="5" name="">
            <a:extLst xmlns:a="http://schemas.openxmlformats.org/drawingml/2006/main">
              <a:ext uri="{FF2B5EF4-FFF2-40B4-BE49-F238E27FC236}">
                <a16:creationId xmlns:a16="http://schemas.microsoft.com/office/drawing/2014/main" id="{CF9D37A7-4D74-46E7-96D8-B2600BE1327F}"/>
              </a:ext>
            </a:extLst>
          </p:cNvPr>
          <p:cNvSpPr>
            <a:spLocks xmlns:a="http://schemas.openxmlformats.org/drawingml/2006/main" noGrp="1"/>
          </p:cNvSpPr>
          <p:nvPr/>
        </p:nvSpPr>
        <p:spPr>
          <a:xfrm xmlns:a="http://schemas.openxmlformats.org/drawingml/2006/main">
            <a:off x="1047750" y="521970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452"/>
          </a:bodyPr>
          <a:lstStyle xmlns:a="http://schemas.openxmlformats.org/drawingml/2006/main"/>
          <a:p xmlns:a="http://schemas.openxmlformats.org/drawingml/2006/main">
            <a:pPr algn="l">
              <a:defRPr sz="1650" b="1">
                <a:solidFill>
                  <a:srgbClr val="16A34A"/>
                </a:solidFill>
                <a:latin typeface="Microsoft JhengHei"/>
                <a:ea typeface="Microsoft JhengHei"/>
                <a:cs typeface="Microsoft JhengHei"/>
              </a:defRPr>
            </a:pPr>
            <a:r>
              <a:rPr sz="1650" b="1">
                <a:solidFill>
                  <a:srgbClr val="16A34A"/>
                </a:solidFill>
                <a:latin typeface="Microsoft JhengHei"/>
                <a:ea typeface="Microsoft JhengHei"/>
                <a:cs typeface="Microsoft JhengHei"/>
              </a:rPr>
              <a:t>same_person = 1 means the two feature vectors are close enough under the selected threshold.</a:t>
            </a:r>
          </a:p>
        </p:txBody>
      </p:sp>
      <p:sp>
        <p:nvSpPr>
          <p:cNvPr id="6" name="">
            <a:extLst xmlns:a="http://schemas.openxmlformats.org/drawingml/2006/main">
              <a:ext uri="{FF2B5EF4-FFF2-40B4-BE49-F238E27FC236}">
                <a16:creationId xmlns:a16="http://schemas.microsoft.com/office/drawing/2014/main" id="{5B1EA548-03CC-41DE-9DC6-3CB4C7B52290}"/>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37</a:t>
            </a:r>
          </a:p>
        </p:txBody>
      </p:sp>
    </p:spTree>
    <p:extLst>
      <p:ext uri="{BB962C8B-B14F-4D97-AF65-F5344CB8AC3E}">
        <p14:creationId xmlns:p14="http://schemas.microsoft.com/office/powerpoint/2010/main" val="3292044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2026-09-08T00:43:58.5450000Z</dcterms:created>
  <dcterms:modified xsi:type="dcterms:W3CDTF">2026-09-08T00:43:58.5450000Z</dcterms:modified>
</coreProperties>
</file>